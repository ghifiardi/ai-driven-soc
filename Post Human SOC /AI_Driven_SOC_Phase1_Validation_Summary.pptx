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00" d="100"/>
          <a:sy n="100" d="100"/>
        </p:scale>
        <p:origin x="1096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3BAF9-3BCD-FF48-8527-4D03B9034CA6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41EE6-7705-9F46-9A92-A4E980FB7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41EE6-7705-9F46-9A92-A4E980FB77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9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500" y="2260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200" b="1" dirty="0">
                <a:solidFill>
                  <a:srgbClr val="DC3545"/>
                </a:solidFill>
              </a:rPr>
              <a:t>AI-Driven SOC Phase 1 Validation &amp; Value Summary</a:t>
            </a:r>
          </a:p>
          <a:p>
            <a:pPr>
              <a:defRPr sz="2200">
                <a:solidFill>
                  <a:srgbClr val="646464"/>
                </a:solidFill>
              </a:defRPr>
            </a:pPr>
            <a:r>
              <a:rPr dirty="0"/>
              <a:t>Cognitive Telemetry &amp; Reinforcement Learning Performance</a:t>
            </a:r>
            <a:br>
              <a:rPr dirty="0"/>
            </a:br>
            <a:r>
              <a:rPr dirty="0"/>
              <a:t>Raditio Ghifiardi | VP – Head of Security Strategy &amp; Architecture (IOH)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Executive Highlights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🎯 Phase 1 Readiness: 83 / 100 (Mostly Ready)</a:t>
            </a:r>
            <a:br/>
            <a:r>
              <a:t>🧠 SOC has demonstrated emergent learning behaviour</a:t>
            </a:r>
            <a:br/>
            <a:r>
              <a:t>🔄 RL feedback loop stable and self-correcting</a:t>
            </a:r>
            <a:br/>
            <a:r>
              <a:t>📉 Entropy validated through chaos-to-order transition (ΔEI = -0.431)</a:t>
            </a:r>
            <a:br/>
            <a:r>
              <a:t>⚙️ Infrastructure reliability = 100 % data quality | 95 % efficiency | 0 %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From Chaos to Cognitive Order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Entropy Learning Curve: EI improved from 0.287 → 0.719 → decreasing trend.</a:t>
            </a:r>
            <a:br/>
            <a:r>
              <a:t>System transitioned from chaotic inputs to organized coherence.</a:t>
            </a:r>
            <a:br/>
            <a:br/>
            <a:r>
              <a:t>[PLACEHOLDER: Insert Entropy Learning Curve Graph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1700" y="990600"/>
            <a:ext cx="9544601" cy="34265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2000"/>
              </a:spcAft>
            </a:pPr>
            <a:r>
              <a:rPr sz="3800" b="1" dirty="0">
                <a:solidFill>
                  <a:srgbClr val="DC3545"/>
                </a:solidFill>
              </a:rPr>
              <a:t>Key Validation Metrics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dirty="0"/>
              <a:t>Metric </a:t>
            </a:r>
            <a:r>
              <a:rPr lang="en-US" dirty="0"/>
              <a:t>                           </a:t>
            </a:r>
            <a:r>
              <a:rPr dirty="0"/>
              <a:t>| Baseline | Current </a:t>
            </a:r>
            <a:r>
              <a:rPr lang="en-US" dirty="0"/>
              <a:t> </a:t>
            </a:r>
            <a:r>
              <a:rPr dirty="0"/>
              <a:t>| </a:t>
            </a:r>
            <a:r>
              <a:rPr dirty="0" err="1"/>
              <a:t>Δ</a:t>
            </a:r>
            <a:r>
              <a:rPr dirty="0"/>
              <a:t> (Change) </a:t>
            </a:r>
            <a:r>
              <a:rPr lang="en-US" dirty="0"/>
              <a:t> </a:t>
            </a:r>
            <a:r>
              <a:rPr dirty="0"/>
              <a:t>| Status</a:t>
            </a:r>
            <a:br>
              <a:rPr dirty="0"/>
            </a:br>
            <a:r>
              <a:rPr dirty="0"/>
              <a:t>Entropy Index </a:t>
            </a:r>
            <a:r>
              <a:rPr lang="en-US" dirty="0"/>
              <a:t>              </a:t>
            </a:r>
            <a:r>
              <a:rPr dirty="0"/>
              <a:t>| 0.287 </a:t>
            </a:r>
            <a:r>
              <a:rPr lang="en-US" dirty="0"/>
              <a:t>     </a:t>
            </a:r>
            <a:r>
              <a:rPr dirty="0"/>
              <a:t>| 0.719 ↓ | -0.431 </a:t>
            </a:r>
            <a:r>
              <a:rPr lang="en-US" dirty="0"/>
              <a:t>        </a:t>
            </a:r>
            <a:r>
              <a:rPr dirty="0"/>
              <a:t>| ✅ Improved</a:t>
            </a:r>
            <a:br>
              <a:rPr dirty="0"/>
            </a:br>
            <a:r>
              <a:rPr dirty="0"/>
              <a:t>RL Reward Avg </a:t>
            </a:r>
            <a:r>
              <a:rPr lang="en-US" dirty="0"/>
              <a:t>            </a:t>
            </a:r>
            <a:r>
              <a:rPr dirty="0"/>
              <a:t>| 0.590 </a:t>
            </a:r>
            <a:r>
              <a:rPr lang="en-US" dirty="0"/>
              <a:t>      </a:t>
            </a:r>
            <a:r>
              <a:rPr dirty="0"/>
              <a:t>| 0.595 </a:t>
            </a:r>
            <a:r>
              <a:rPr lang="en-US" dirty="0"/>
              <a:t>     </a:t>
            </a:r>
            <a:r>
              <a:rPr dirty="0"/>
              <a:t>| +0.005 </a:t>
            </a:r>
            <a:r>
              <a:rPr lang="en-US" dirty="0"/>
              <a:t>       </a:t>
            </a:r>
            <a:r>
              <a:rPr dirty="0"/>
              <a:t>| ✅ Stable</a:t>
            </a:r>
            <a:br>
              <a:rPr dirty="0"/>
            </a:br>
            <a:r>
              <a:rPr dirty="0"/>
              <a:t>Data Quality </a:t>
            </a:r>
            <a:r>
              <a:rPr lang="en-US" dirty="0"/>
              <a:t>                </a:t>
            </a:r>
            <a:r>
              <a:rPr dirty="0"/>
              <a:t>| 100 % </a:t>
            </a:r>
            <a:r>
              <a:rPr lang="en-US" dirty="0"/>
              <a:t>     </a:t>
            </a:r>
            <a:r>
              <a:rPr dirty="0"/>
              <a:t>| 100 % </a:t>
            </a:r>
            <a:r>
              <a:rPr lang="en-US" dirty="0"/>
              <a:t>     </a:t>
            </a:r>
            <a:r>
              <a:rPr dirty="0"/>
              <a:t>| – </a:t>
            </a:r>
            <a:r>
              <a:rPr lang="en-US" dirty="0"/>
              <a:t>                </a:t>
            </a:r>
            <a:r>
              <a:rPr dirty="0"/>
              <a:t>| ✅ Consistent</a:t>
            </a:r>
            <a:br>
              <a:rPr dirty="0"/>
            </a:br>
            <a:r>
              <a:rPr dirty="0"/>
              <a:t>Processing Efficiency </a:t>
            </a:r>
            <a:r>
              <a:rPr lang="en-US" dirty="0"/>
              <a:t> </a:t>
            </a:r>
            <a:r>
              <a:rPr dirty="0"/>
              <a:t>| 95.2 % </a:t>
            </a:r>
            <a:r>
              <a:rPr lang="en-US" dirty="0"/>
              <a:t>    </a:t>
            </a:r>
            <a:r>
              <a:rPr dirty="0"/>
              <a:t>| 95.2 % </a:t>
            </a:r>
            <a:r>
              <a:rPr lang="en-US" dirty="0"/>
              <a:t>    </a:t>
            </a:r>
            <a:r>
              <a:rPr dirty="0"/>
              <a:t>| – </a:t>
            </a:r>
            <a:r>
              <a:rPr lang="en-US" dirty="0"/>
              <a:t>                </a:t>
            </a:r>
            <a:r>
              <a:rPr dirty="0"/>
              <a:t>| ✅ Excellent</a:t>
            </a:r>
            <a:br>
              <a:rPr dirty="0"/>
            </a:br>
            <a:r>
              <a:rPr dirty="0"/>
              <a:t>Error Rate </a:t>
            </a:r>
            <a:r>
              <a:rPr lang="en-US" dirty="0"/>
              <a:t>                    </a:t>
            </a:r>
            <a:r>
              <a:rPr dirty="0"/>
              <a:t>| 0 % </a:t>
            </a:r>
            <a:r>
              <a:rPr lang="en-US" dirty="0"/>
              <a:t>          </a:t>
            </a:r>
            <a:r>
              <a:rPr dirty="0"/>
              <a:t>| 0 % </a:t>
            </a:r>
            <a:r>
              <a:rPr lang="en-US" dirty="0"/>
              <a:t>         </a:t>
            </a:r>
            <a:r>
              <a:rPr dirty="0"/>
              <a:t>| – </a:t>
            </a:r>
            <a:r>
              <a:rPr lang="en-US" dirty="0"/>
              <a:t>                </a:t>
            </a:r>
            <a:r>
              <a:rPr dirty="0"/>
              <a:t>| ✅ Clean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System Health Overview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Dashboard Snapshot:</a:t>
            </a:r>
            <a:br/>
            <a:r>
              <a:t>• Stable reward signals over 7 days (+0.005 trend)</a:t>
            </a:r>
            <a:br/>
            <a:r>
              <a:t>• Entropy convergence validated with controlled baseline chaos</a:t>
            </a:r>
            <a:br/>
            <a:r>
              <a:t>• Near-zero operational errors and full data coverage</a:t>
            </a:r>
            <a:br/>
            <a:br/>
            <a:r>
              <a:t>[PLACEHOLDER: Insert EI-over-time and Reward Trend Dashboard Screenshots]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Phase 1 Value to Enterprise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🔐 SOC can quantify and self-reduce noise (entropy)</a:t>
            </a:r>
            <a:br/>
            <a:r>
              <a:t>🧩 Reinforcement feedback proves AI can learn operational context</a:t>
            </a:r>
            <a:br/>
            <a:r>
              <a:t>📊 Improved analyst focus through alert de-duplication</a:t>
            </a:r>
            <a:br/>
            <a:r>
              <a:t>💰 Operational efficiency ↑ / MTTR ↓ → direct OPEX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Readiness for Phase 2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Target: Predictive Twin Fabric + Autonomous Bots</a:t>
            </a:r>
            <a:br/>
            <a:br/>
            <a:r>
              <a:t>✅ Embeddings stable</a:t>
            </a:r>
            <a:br/>
            <a:r>
              <a:t>✅ RL signals stable</a:t>
            </a:r>
            <a:br/>
            <a:r>
              <a:t>✅ Data quality perfect</a:t>
            </a:r>
            <a:br/>
            <a:r>
              <a:t>⏳ Entropy &lt; 0.7 for 3 days (in progress)</a:t>
            </a:r>
            <a:br/>
            <a:br/>
            <a:r>
              <a:t>[PLACEHOLDER: Insert Phase Bridge Diagram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Recommendations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Immediate: Continue monitoring real SOC data for natural chaos patterns</a:t>
            </a:r>
            <a:br/>
            <a:r>
              <a:t>Short Term: Begin alert forecast model training (Twin Fabric)</a:t>
            </a:r>
            <a:br/>
            <a:r>
              <a:t>Medium Term: Deploy CRA micro-bots on containment-sim topic</a:t>
            </a:r>
            <a:br/>
            <a:r>
              <a:t>Long Term: Align with ISO/IEC 42001 &amp; PDP AI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Executive Summary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“Phase 1 proved that our SOC can understand, learn, and self-organize from chaos.</a:t>
            </a:r>
            <a:br/>
            <a:r>
              <a:t>We’re now ready to teach it to predict and act.”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Next Steps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1. Monitor EI-over-time for convergence (&lt; 0.7)</a:t>
            </a:r>
            <a:br/>
            <a:r>
              <a:t>2. Correlate RL rewards with entropy index for adaptive policy training</a:t>
            </a:r>
            <a:br/>
            <a:r>
              <a:t>3. Lock Phase 1 snapshot (baseline schema + code version)</a:t>
            </a:r>
            <a:br/>
            <a:r>
              <a:t>4. Kick-off Phase 2 planning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3800" b="1">
                <a:solidFill>
                  <a:srgbClr val="DC3545"/>
                </a:solidFill>
              </a:rPr>
              <a:t>Dashboard Access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EI-over-time Dashboard: http://localhost:8529</a:t>
            </a:r>
            <a:br/>
            <a:r>
              <a:t>KPI Dashboard: http://localhost:8528</a:t>
            </a:r>
            <a:br/>
            <a:r>
              <a:t>SOC Dashboard: http://localhost:8527</a:t>
            </a:r>
            <a:br/>
            <a:br/>
            <a:r>
              <a:t>[PLACEHOLDER: Insert Dashboard Thumbnails]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2000"/>
              </a:spcAft>
            </a:pPr>
            <a:r>
              <a:rPr sz="3800" b="1" dirty="0">
                <a:solidFill>
                  <a:srgbClr val="DC3545"/>
                </a:solidFill>
              </a:rPr>
              <a:t>Contact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dirty="0"/>
              <a:t>Raditio Ghifiardi</a:t>
            </a:r>
            <a:br>
              <a:rPr dirty="0"/>
            </a:br>
            <a:r>
              <a:rPr dirty="0"/>
              <a:t>VP – Head of Security Strategy &amp; Architecture</a:t>
            </a:r>
            <a:br>
              <a:rPr dirty="0"/>
            </a:br>
            <a:r>
              <a:rPr dirty="0"/>
              <a:t>IOH Security Innovation | Jakarta,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6143</TotalTime>
  <Words>544</Words>
  <Application>Microsoft Macintosh PowerPoint</Application>
  <PresentationFormat>Custom</PresentationFormat>
  <Paragraphs>37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Raditio Ghifiardi</cp:lastModifiedBy>
  <cp:revision>6</cp:revision>
  <dcterms:created xsi:type="dcterms:W3CDTF">2013-01-27T09:14:16Z</dcterms:created>
  <dcterms:modified xsi:type="dcterms:W3CDTF">2025-10-24T12:54:20Z</dcterms:modified>
  <cp:category/>
</cp:coreProperties>
</file>