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4" r:id="rId3"/>
    <p:sldId id="265" r:id="rId4"/>
    <p:sldId id="266" r:id="rId5"/>
    <p:sldId id="267" r:id="rId6"/>
    <p:sldId id="260" r:id="rId7"/>
    <p:sldId id="269" r:id="rId8"/>
    <p:sldId id="270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7"/>
    <p:restoredTop sz="94670"/>
  </p:normalViewPr>
  <p:slideViewPr>
    <p:cSldViewPr snapToGrid="0" snapToObjects="1">
      <p:cViewPr varScale="1">
        <p:scale>
          <a:sx n="99" d="100"/>
          <a:sy n="99" d="100"/>
        </p:scale>
        <p:origin x="94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08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24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199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82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210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127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31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50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2663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29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2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Indosat Bold Bold" pitchFamily="2" charset="77"/>
              </a:rPr>
              <a:t>AI-Driven SOC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Indosat Bold Bold" pitchFamily="2" charset="77"/>
              </a:rPr>
              <a:t>Commercial Architecture &amp; Value Proposition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Indosat Bold Bold" pitchFamily="2" charset="77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Indosat Regular" pitchFamily="2" charset="77"/>
            </a:endParaRPr>
          </a:p>
          <a:p>
            <a:pPr marL="0" indent="0">
              <a:buNone/>
            </a:pPr>
            <a:r>
              <a:rPr dirty="0">
                <a:latin typeface="Indosat Regular" pitchFamily="2" charset="77"/>
              </a:rPr>
              <a:t>This document outlines the commercial architecture, enabling MSSPs to transform their business model from "hours-based" to "outcome-based" security services.</a:t>
            </a:r>
          </a:p>
          <a:p>
            <a:pPr marL="0" indent="0">
              <a:buNone/>
            </a:pPr>
            <a:endParaRPr dirty="0">
              <a:latin typeface="Indosat Regular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Indosat Bold Bold" pitchFamily="2" charset="77"/>
              </a:rPr>
              <a:t>1. The 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>
              <a:latin typeface="Indosat Regular" pitchFamily="2" charset="77"/>
            </a:endParaRPr>
          </a:p>
          <a:p>
            <a:pPr>
              <a:defRPr b="1"/>
            </a:pPr>
            <a:r>
              <a:rPr dirty="0">
                <a:latin typeface="Indosat Regular" pitchFamily="2" charset="77"/>
              </a:rPr>
              <a:t>🚀 </a:t>
            </a:r>
            <a:r>
              <a:rPr dirty="0">
                <a:latin typeface="Indosat Bold Bold" pitchFamily="2" charset="77"/>
              </a:rPr>
              <a:t>For the MSSP (The Provider)</a:t>
            </a:r>
          </a:p>
          <a:p>
            <a:pPr lvl="1"/>
            <a:r>
              <a:rPr dirty="0">
                <a:latin typeface="Indosat Bold Bold" pitchFamily="2" charset="77"/>
              </a:rPr>
              <a:t>Infinite Scalability</a:t>
            </a:r>
            <a:r>
              <a:rPr dirty="0">
                <a:latin typeface="Indosat Regular" pitchFamily="2" charset="77"/>
              </a:rPr>
              <a:t>: The multi-tenant architecture allows you to onboard hundreds of clients without linearly increasing headcount.</a:t>
            </a:r>
          </a:p>
          <a:p>
            <a:pPr lvl="1"/>
            <a:r>
              <a:rPr dirty="0">
                <a:latin typeface="Indosat Bold Bold" pitchFamily="2" charset="77"/>
              </a:rPr>
              <a:t>Higher Margins</a:t>
            </a:r>
            <a:r>
              <a:rPr dirty="0">
                <a:latin typeface="Indosat Regular" pitchFamily="2" charset="77"/>
              </a:rPr>
              <a:t>: Automate Tier 1 and Tier 2 analysis (90% of workload), reducing operational costs by up to 70%.</a:t>
            </a:r>
          </a:p>
          <a:p>
            <a:pPr lvl="1"/>
            <a:r>
              <a:rPr dirty="0">
                <a:latin typeface="Indosat Bold Bold" pitchFamily="2" charset="77"/>
              </a:rPr>
              <a:t>New Revenue Streams</a:t>
            </a:r>
            <a:r>
              <a:rPr dirty="0">
                <a:latin typeface="Indosat Regular" pitchFamily="2" charset="77"/>
              </a:rPr>
              <a:t>: Sell "AI-Agent-as-a-Service" and premium "Autonomous Response" capabilities.</a:t>
            </a:r>
          </a:p>
          <a:p>
            <a:pPr lvl="1"/>
            <a:r>
              <a:rPr dirty="0">
                <a:latin typeface="Indosat Bold Bold" pitchFamily="2" charset="77"/>
              </a:rPr>
              <a:t>Future-Proofing</a:t>
            </a:r>
            <a:r>
              <a:rPr dirty="0">
                <a:latin typeface="Indosat Regular" pitchFamily="2" charset="77"/>
              </a:rPr>
              <a:t>: Built on MCP (Model Context Protocol), enabling seamless integration with future AI tools and LLMs.</a:t>
            </a:r>
          </a:p>
          <a:p>
            <a:pPr>
              <a:defRPr b="1"/>
            </a:pPr>
            <a:r>
              <a:rPr dirty="0">
                <a:latin typeface="Indosat Regular" pitchFamily="2" charset="77"/>
              </a:rPr>
              <a:t>🛡️ </a:t>
            </a:r>
            <a:r>
              <a:rPr dirty="0">
                <a:latin typeface="Indosat Bold Bold" pitchFamily="2" charset="77"/>
              </a:rPr>
              <a:t>For the Client (The End User)</a:t>
            </a:r>
          </a:p>
          <a:p>
            <a:pPr lvl="1"/>
            <a:r>
              <a:rPr dirty="0">
                <a:latin typeface="Indosat Bold Bold" pitchFamily="2" charset="77"/>
              </a:rPr>
              <a:t>Mean Time to Respond (MTTR) in Seconds</a:t>
            </a:r>
            <a:r>
              <a:rPr dirty="0">
                <a:latin typeface="Indosat Regular" pitchFamily="2" charset="77"/>
              </a:rPr>
              <a:t>: AI agents detect and contain threats instantly, 24/7.</a:t>
            </a:r>
          </a:p>
          <a:p>
            <a:pPr lvl="1"/>
            <a:r>
              <a:rPr dirty="0">
                <a:latin typeface="Indosat Bold Bold" pitchFamily="2" charset="77"/>
              </a:rPr>
              <a:t>Transparency</a:t>
            </a:r>
            <a:r>
              <a:rPr dirty="0">
                <a:latin typeface="Indosat Regular" pitchFamily="2" charset="77"/>
              </a:rPr>
              <a:t>: Real-time dashboards show exactly what the AI is doing, building trust.</a:t>
            </a:r>
          </a:p>
          <a:p>
            <a:pPr lvl="1"/>
            <a:r>
              <a:rPr dirty="0">
                <a:latin typeface="Indosat Bold Bold" pitchFamily="2" charset="77"/>
              </a:rPr>
              <a:t>Cost-Effective</a:t>
            </a:r>
            <a:r>
              <a:rPr dirty="0">
                <a:latin typeface="Indosat Regular" pitchFamily="2" charset="77"/>
              </a:rPr>
              <a:t>: Enterprise-grade security at a fraction of the cost of building an internal SOC.</a:t>
            </a:r>
          </a:p>
          <a:p>
            <a:pPr marL="0" indent="0">
              <a:buNone/>
            </a:pPr>
            <a:endParaRPr dirty="0">
              <a:latin typeface="Indosat Regular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Indosat Bold Bold" pitchFamily="2" charset="77"/>
              </a:rPr>
              <a:t>2. Commercial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8229600" cy="5021262"/>
          </a:xfrm>
        </p:spPr>
        <p:txBody>
          <a:bodyPr>
            <a:noAutofit/>
          </a:bodyPr>
          <a:lstStyle/>
          <a:p>
            <a:endParaRPr sz="1050" dirty="0">
              <a:latin typeface="Indosat Regular" pitchFamily="2" charset="77"/>
            </a:endParaRPr>
          </a:p>
          <a:p>
            <a:pPr marL="0" indent="0">
              <a:buNone/>
            </a:pPr>
            <a:r>
              <a:rPr sz="1800" dirty="0">
                <a:latin typeface="Indosat Bold Bold" pitchFamily="2" charset="77"/>
              </a:rPr>
              <a:t>The platform is architected to support a multi-tiered service model.</a:t>
            </a:r>
            <a:endParaRPr sz="1050" dirty="0">
              <a:latin typeface="Indosat Bold Bold" pitchFamily="2" charset="77"/>
            </a:endParaRPr>
          </a:p>
          <a:p>
            <a:pPr>
              <a:defRPr b="1"/>
            </a:pPr>
            <a:r>
              <a:rPr sz="1050" dirty="0">
                <a:latin typeface="Indosat Bold Bold" pitchFamily="2" charset="77"/>
              </a:rPr>
              <a:t>Tier 1: "Essential" (Automated Detection)</a:t>
            </a:r>
          </a:p>
          <a:p>
            <a:pPr lvl="1"/>
            <a:r>
              <a:rPr sz="1050" dirty="0">
                <a:latin typeface="Indosat Bold Bold" pitchFamily="2" charset="77"/>
              </a:rPr>
              <a:t>Features</a:t>
            </a:r>
            <a:r>
              <a:rPr sz="1050" dirty="0">
                <a:latin typeface="Indosat Regular" pitchFamily="2" charset="77"/>
              </a:rPr>
              <a:t>:</a:t>
            </a:r>
          </a:p>
          <a:p>
            <a:pPr marL="561975" indent="0">
              <a:buNone/>
            </a:pPr>
            <a:r>
              <a:rPr sz="1050" dirty="0">
                <a:latin typeface="Indosat Regular" pitchFamily="2" charset="77"/>
              </a:rPr>
              <a:t> </a:t>
            </a:r>
            <a:r>
              <a:rPr sz="1050" b="1" dirty="0">
                <a:latin typeface="Indosat Regular" pitchFamily="2" charset="77"/>
              </a:rPr>
              <a:t>Event Ingestion via API.</a:t>
            </a:r>
          </a:p>
          <a:p>
            <a:pPr marL="561975" indent="0">
              <a:buNone/>
            </a:pPr>
            <a:r>
              <a:rPr sz="1050" b="1" dirty="0">
                <a:latin typeface="Indosat Regular" pitchFamily="2" charset="77"/>
              </a:rPr>
              <a:t>ADA (Anomaly Detection Agent) scanning.</a:t>
            </a:r>
          </a:p>
          <a:p>
            <a:pPr marL="561975" indent="0">
              <a:buNone/>
            </a:pPr>
            <a:r>
              <a:rPr sz="1050" b="1" dirty="0">
                <a:latin typeface="Indosat Regular" pitchFamily="2" charset="77"/>
              </a:rPr>
              <a:t>Basic Email Alerts.</a:t>
            </a:r>
          </a:p>
          <a:p>
            <a:pPr lvl="1"/>
            <a:r>
              <a:rPr sz="1050" dirty="0">
                <a:latin typeface="Indosat Bold Bold" pitchFamily="2" charset="77"/>
              </a:rPr>
              <a:t>Target</a:t>
            </a:r>
            <a:r>
              <a:rPr sz="1050" dirty="0">
                <a:latin typeface="Indosat Regular" pitchFamily="2" charset="77"/>
              </a:rPr>
              <a:t>: SMEs needing compliance and basic monitoring.</a:t>
            </a:r>
          </a:p>
          <a:p>
            <a:pPr lvl="1"/>
            <a:r>
              <a:rPr sz="1050" dirty="0">
                <a:latin typeface="Indosat Bold Bold" pitchFamily="2" charset="77"/>
              </a:rPr>
              <a:t>Tech Stack</a:t>
            </a:r>
            <a:r>
              <a:rPr sz="1050" dirty="0">
                <a:latin typeface="Indosat Regular" pitchFamily="2" charset="77"/>
              </a:rPr>
              <a:t>: BigQuery + ADA Service.</a:t>
            </a:r>
          </a:p>
          <a:p>
            <a:pPr>
              <a:defRPr b="1"/>
            </a:pPr>
            <a:r>
              <a:rPr sz="1050" dirty="0">
                <a:latin typeface="Indosat Bold Bold" pitchFamily="2" charset="77"/>
              </a:rPr>
              <a:t>Tier 2: "Professional" (AI Analysis)</a:t>
            </a:r>
          </a:p>
          <a:p>
            <a:pPr lvl="1"/>
            <a:r>
              <a:rPr sz="1050" b="1" dirty="0">
                <a:latin typeface="Indosat Bold Bold" pitchFamily="2" charset="77"/>
              </a:rPr>
              <a:t>Features</a:t>
            </a:r>
            <a:r>
              <a:rPr sz="1050" dirty="0">
                <a:latin typeface="Indosat Regular" pitchFamily="2" charset="77"/>
              </a:rPr>
              <a:t>:</a:t>
            </a:r>
          </a:p>
          <a:p>
            <a:r>
              <a:rPr sz="1050" b="1" dirty="0">
                <a:latin typeface="Indosat Regular" pitchFamily="2" charset="77"/>
              </a:rPr>
              <a:t>All Tier 1 features.</a:t>
            </a:r>
          </a:p>
          <a:p>
            <a:pPr marL="0" indent="561975">
              <a:buNone/>
            </a:pPr>
            <a:r>
              <a:rPr sz="1050" b="1" dirty="0">
                <a:latin typeface="Indosat Bold Bold" pitchFamily="2" charset="77"/>
              </a:rPr>
              <a:t>TAA (Triage &amp; Analysis Agent)</a:t>
            </a:r>
            <a:r>
              <a:rPr sz="1050" b="1" dirty="0">
                <a:latin typeface="Indosat Regular" pitchFamily="2" charset="77"/>
              </a:rPr>
              <a:t>: AI investigates alerts, reducing false positives.</a:t>
            </a:r>
          </a:p>
          <a:p>
            <a:pPr marL="0" indent="561975">
              <a:buNone/>
            </a:pPr>
            <a:r>
              <a:rPr sz="1050" b="1" dirty="0">
                <a:latin typeface="Indosat Bold Bold" pitchFamily="2" charset="77"/>
              </a:rPr>
              <a:t>MCP Integration</a:t>
            </a:r>
            <a:r>
              <a:rPr sz="1050" b="1" dirty="0">
                <a:latin typeface="Indosat Regular" pitchFamily="2" charset="77"/>
              </a:rPr>
              <a:t>: AI queries external threat intel (VirusTotal, AbuseIPDB) automatically.</a:t>
            </a:r>
            <a:endParaRPr lang="en-ID" sz="1050" b="1" dirty="0">
              <a:latin typeface="Indosat Regular" pitchFamily="2" charset="77"/>
            </a:endParaRPr>
          </a:p>
          <a:p>
            <a:pPr marL="0" indent="561975">
              <a:buNone/>
            </a:pPr>
            <a:r>
              <a:rPr lang="en-ID" sz="1050" b="1" dirty="0">
                <a:latin typeface="Indosat Regular" pitchFamily="2" charset="77"/>
              </a:rPr>
              <a:t>Interactive Customer Portal.</a:t>
            </a:r>
          </a:p>
          <a:p>
            <a:pPr lvl="1"/>
            <a:r>
              <a:rPr sz="1050" dirty="0">
                <a:latin typeface="Indosat Bold Bold" pitchFamily="2" charset="77"/>
              </a:rPr>
              <a:t>Target</a:t>
            </a:r>
            <a:r>
              <a:rPr sz="1050" dirty="0">
                <a:latin typeface="Indosat Regular" pitchFamily="2" charset="77"/>
              </a:rPr>
              <a:t>: Mid-market companies requiring active defense.</a:t>
            </a:r>
          </a:p>
          <a:p>
            <a:pPr lvl="1"/>
            <a:r>
              <a:rPr sz="1050" dirty="0">
                <a:latin typeface="Indosat Bold Bold" pitchFamily="2" charset="77"/>
              </a:rPr>
              <a:t>Tech Stack</a:t>
            </a:r>
            <a:r>
              <a:rPr sz="1050" dirty="0">
                <a:latin typeface="Indosat Regular" pitchFamily="2" charset="77"/>
              </a:rPr>
              <a:t>: ADA + TAA + MCP Server.</a:t>
            </a:r>
          </a:p>
          <a:p>
            <a:pPr>
              <a:defRPr b="1"/>
            </a:pPr>
            <a:r>
              <a:rPr sz="1050" dirty="0">
                <a:latin typeface="Indosat Bold Bold" pitchFamily="2" charset="77"/>
              </a:rPr>
              <a:t>Tier 3: "Enterprise" (Autonomous Response)</a:t>
            </a:r>
          </a:p>
          <a:p>
            <a:pPr lvl="1"/>
            <a:r>
              <a:rPr sz="1050" dirty="0">
                <a:latin typeface="Indosat Bold Bold" pitchFamily="2" charset="77"/>
              </a:rPr>
              <a:t>Features</a:t>
            </a:r>
            <a:r>
              <a:rPr sz="1050" dirty="0">
                <a:latin typeface="Indosat Regular" pitchFamily="2" charset="77"/>
              </a:rPr>
              <a:t>:</a:t>
            </a:r>
          </a:p>
          <a:p>
            <a:pPr marL="0" indent="561975">
              <a:buNone/>
            </a:pPr>
            <a:r>
              <a:rPr sz="1050" b="1" dirty="0">
                <a:latin typeface="Indosat Regular" pitchFamily="2" charset="77"/>
              </a:rPr>
              <a:t>All Tier 2 features.</a:t>
            </a:r>
          </a:p>
          <a:p>
            <a:pPr marL="0" indent="561975">
              <a:buNone/>
            </a:pPr>
            <a:r>
              <a:rPr sz="1050" b="1" dirty="0">
                <a:latin typeface="Indosat Bold Bold" pitchFamily="2" charset="77"/>
              </a:rPr>
              <a:t>CRA (Containment Response Agent)</a:t>
            </a:r>
            <a:r>
              <a:rPr sz="1050" b="1" dirty="0">
                <a:latin typeface="Indosat Regular" pitchFamily="2" charset="77"/>
              </a:rPr>
              <a:t>: Automated blocking of IPs, isolation of hosts.</a:t>
            </a:r>
          </a:p>
          <a:p>
            <a:pPr marL="0" indent="561975">
              <a:buNone/>
            </a:pPr>
            <a:r>
              <a:rPr sz="1050" b="1" dirty="0">
                <a:latin typeface="Indosat Bold Bold" pitchFamily="2" charset="77"/>
              </a:rPr>
              <a:t>CLA (Continuous Learning Agent)</a:t>
            </a:r>
            <a:r>
              <a:rPr sz="1050" b="1" dirty="0">
                <a:latin typeface="Indosat Regular" pitchFamily="2" charset="77"/>
              </a:rPr>
              <a:t>: Custom model training on client data.</a:t>
            </a:r>
          </a:p>
          <a:p>
            <a:pPr marL="0" indent="561975">
              <a:buNone/>
            </a:pPr>
            <a:r>
              <a:rPr sz="1050" b="1" dirty="0">
                <a:latin typeface="Indosat Regular" pitchFamily="2" charset="77"/>
              </a:rPr>
              <a:t>Dedicated Tenant Resources.</a:t>
            </a:r>
          </a:p>
          <a:p>
            <a:pPr lvl="1"/>
            <a:r>
              <a:rPr sz="1050" dirty="0">
                <a:latin typeface="Indosat Bold Bold" pitchFamily="2" charset="77"/>
              </a:rPr>
              <a:t>Target</a:t>
            </a:r>
            <a:r>
              <a:rPr sz="1050" dirty="0">
                <a:latin typeface="Indosat Regular" pitchFamily="2" charset="77"/>
              </a:rPr>
              <a:t>: Large enterprises with critical infrastructure.</a:t>
            </a:r>
          </a:p>
          <a:p>
            <a:pPr lvl="1"/>
            <a:r>
              <a:rPr sz="1050" dirty="0">
                <a:latin typeface="Indosat Bold Bold" pitchFamily="2" charset="77"/>
              </a:rPr>
              <a:t>Tech Stack</a:t>
            </a:r>
            <a:r>
              <a:rPr sz="1050" dirty="0">
                <a:latin typeface="Indosat Regular" pitchFamily="2" charset="77"/>
              </a:rPr>
              <a:t>: Full Multi-Agent Swarm (ADA, TAA, CRA, CLA).</a:t>
            </a:r>
          </a:p>
          <a:p>
            <a:pPr marL="0" indent="0">
              <a:buNone/>
            </a:pPr>
            <a:endParaRPr sz="1050" dirty="0">
              <a:latin typeface="Indosat Regular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3. Technical Architecture for Sales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576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Monetization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>
              <a:latin typeface="Indosat Regular" pitchFamily="2" charset="77"/>
            </a:endParaRPr>
          </a:p>
          <a:p>
            <a:pPr>
              <a:defRPr b="1"/>
            </a:pPr>
            <a:r>
              <a:rPr dirty="0">
                <a:latin typeface="Indosat Bold Bold" pitchFamily="2" charset="77"/>
              </a:rPr>
              <a:t>API-First Integration</a:t>
            </a:r>
          </a:p>
          <a:p>
            <a:r>
              <a:rPr dirty="0">
                <a:latin typeface="Indosat Regular" pitchFamily="2" charset="77"/>
              </a:rPr>
              <a:t>The </a:t>
            </a:r>
            <a:r>
              <a:rPr dirty="0">
                <a:latin typeface="Indosat Bold Bold" pitchFamily="2" charset="77"/>
              </a:rPr>
              <a:t>MSSP Platform Server</a:t>
            </a:r>
            <a:r>
              <a:rPr dirty="0">
                <a:latin typeface="Indosat Regular" pitchFamily="2" charset="77"/>
              </a:rPr>
              <a:t> exposes a clean REST API (`/api/v1/events`, `/api/v1/tenants`).</a:t>
            </a:r>
          </a:p>
          <a:p>
            <a:pPr lvl="1"/>
            <a:r>
              <a:rPr dirty="0">
                <a:latin typeface="Indosat Bold Bold" pitchFamily="2" charset="77"/>
              </a:rPr>
              <a:t>Sell Integration</a:t>
            </a:r>
            <a:r>
              <a:rPr dirty="0">
                <a:latin typeface="Indosat Regular" pitchFamily="2" charset="77"/>
              </a:rPr>
              <a:t>: Charge setup fees to integrate with client's existing IT stack.</a:t>
            </a:r>
          </a:p>
          <a:p>
            <a:pPr lvl="1"/>
            <a:r>
              <a:rPr dirty="0">
                <a:latin typeface="Indosat Bold Bold" pitchFamily="2" charset="77"/>
              </a:rPr>
              <a:t>Volume Pricing</a:t>
            </a:r>
            <a:r>
              <a:rPr dirty="0">
                <a:latin typeface="Indosat Regular" pitchFamily="2" charset="77"/>
              </a:rPr>
              <a:t>: Charge per GB of ingested logs or per EPS (Events Per Second).</a:t>
            </a:r>
          </a:p>
          <a:p>
            <a:pPr>
              <a:defRPr b="1"/>
            </a:pPr>
            <a:r>
              <a:rPr dirty="0">
                <a:latin typeface="Indosat Bold Bold" pitchFamily="2" charset="77"/>
              </a:rPr>
              <a:t>Agentic Add-Ons</a:t>
            </a:r>
          </a:p>
          <a:p>
            <a:pPr lvl="1"/>
            <a:r>
              <a:rPr dirty="0">
                <a:latin typeface="Indosat Bold Bold" pitchFamily="2" charset="77"/>
              </a:rPr>
              <a:t>"Investigate with AI" Button</a:t>
            </a:r>
            <a:r>
              <a:rPr dirty="0">
                <a:latin typeface="Indosat Regular" pitchFamily="2" charset="77"/>
              </a:rPr>
              <a:t>: Charge per on-demand deep investigation triggered by the client.</a:t>
            </a:r>
          </a:p>
          <a:p>
            <a:pPr lvl="1"/>
            <a:r>
              <a:rPr dirty="0">
                <a:latin typeface="Indosat Bold Bold" pitchFamily="2" charset="77"/>
              </a:rPr>
              <a:t>Custom Compliance Reports</a:t>
            </a:r>
            <a:r>
              <a:rPr dirty="0">
                <a:latin typeface="Indosat Regular" pitchFamily="2" charset="77"/>
              </a:rPr>
              <a:t>: AI-generated reports for GDPR/SOC2, sold as a monthly add-on.</a:t>
            </a:r>
          </a:p>
          <a:p>
            <a:endParaRPr dirty="0">
              <a:latin typeface="Indosat Regular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Indosat Bold Bold" pitchFamily="2" charset="77"/>
              </a:rPr>
              <a:t>5. Advanced Ecosystem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369300" cy="4673598"/>
          </a:xfrm>
        </p:spPr>
        <p:txBody>
          <a:bodyPr>
            <a:normAutofit fontScale="92500" lnSpcReduction="10000"/>
          </a:bodyPr>
          <a:lstStyle/>
          <a:p>
            <a:endParaRPr sz="1400" dirty="0">
              <a:latin typeface="Indosat Regular" pitchFamily="2" charset="77"/>
            </a:endParaRPr>
          </a:p>
          <a:p>
            <a:pPr marL="0" indent="0">
              <a:buNone/>
            </a:pPr>
            <a:r>
              <a:rPr sz="1400" dirty="0">
                <a:latin typeface="Indosat Bold Bold" pitchFamily="2" charset="77"/>
              </a:rPr>
              <a:t>Expand your service portfolio with our cutting-edge ecosystem modules:</a:t>
            </a:r>
          </a:p>
          <a:p>
            <a:pPr>
              <a:defRPr b="1"/>
            </a:pPr>
            <a:r>
              <a:rPr sz="1400" dirty="0">
                <a:latin typeface="Indosat Regular" pitchFamily="2" charset="77"/>
              </a:rPr>
              <a:t>🌐 </a:t>
            </a:r>
            <a:r>
              <a:rPr sz="1400" dirty="0">
                <a:latin typeface="Indosat Bold Bold" pitchFamily="2" charset="77"/>
              </a:rPr>
              <a:t>Digital Twin SOC (Situational Awareness)</a:t>
            </a:r>
          </a:p>
          <a:p>
            <a:pPr lvl="1"/>
            <a:r>
              <a:rPr sz="1100" dirty="0">
                <a:latin typeface="Indosat Bold Bold" pitchFamily="2" charset="77"/>
              </a:rPr>
              <a:t>What it is</a:t>
            </a:r>
            <a:r>
              <a:rPr sz="1100" dirty="0">
                <a:latin typeface="Indosat Regular" pitchFamily="2" charset="77"/>
              </a:rPr>
              <a:t>: A real-time 3D visualization of your client's entire network and security posture.</a:t>
            </a:r>
          </a:p>
          <a:p>
            <a:pPr lvl="1"/>
            <a:r>
              <a:rPr sz="1100" dirty="0">
                <a:latin typeface="Indosat Bold Bold" pitchFamily="2" charset="77"/>
              </a:rPr>
              <a:t>Value</a:t>
            </a:r>
            <a:r>
              <a:rPr sz="1100" dirty="0">
                <a:latin typeface="Indosat Regular" pitchFamily="2" charset="77"/>
              </a:rPr>
              <a:t>: Transforms abstract logs into a visual "War Room" experience. Instantly spot compromised nodes and attack paths in a 3D space.</a:t>
            </a:r>
          </a:p>
          <a:p>
            <a:pPr lvl="1"/>
            <a:r>
              <a:rPr sz="1100" dirty="0">
                <a:latin typeface="Indosat Bold Bold" pitchFamily="2" charset="77"/>
              </a:rPr>
              <a:t>Reference</a:t>
            </a:r>
            <a:r>
              <a:rPr sz="1100" dirty="0">
                <a:latin typeface="Indosat Regular" pitchFamily="2" charset="77"/>
              </a:rPr>
              <a:t>: [Digital Twin Showcase](https://github.com/ghifiardi/digital_twin_SOC_sowcase)</a:t>
            </a:r>
          </a:p>
          <a:p>
            <a:pPr>
              <a:defRPr b="1"/>
            </a:pPr>
            <a:r>
              <a:rPr sz="1400" dirty="0">
                <a:latin typeface="Indosat Regular" pitchFamily="2" charset="77"/>
              </a:rPr>
              <a:t>🛡️ </a:t>
            </a:r>
            <a:r>
              <a:rPr sz="1400" dirty="0">
                <a:latin typeface="Indosat Bold Bold" pitchFamily="2" charset="77"/>
              </a:rPr>
              <a:t>Proactive Security Orchestrator (DevSecOps)</a:t>
            </a:r>
          </a:p>
          <a:p>
            <a:pPr lvl="1"/>
            <a:r>
              <a:rPr sz="1100" dirty="0">
                <a:latin typeface="Indosat Bold Bold" pitchFamily="2" charset="77"/>
              </a:rPr>
              <a:t>What it is</a:t>
            </a:r>
            <a:r>
              <a:rPr sz="1100" dirty="0">
                <a:latin typeface="Indosat Regular" pitchFamily="2" charset="77"/>
              </a:rPr>
              <a:t>: A "Shift-Left" engine that integrates directly into the client's development pipeline (CI/CD).</a:t>
            </a:r>
          </a:p>
          <a:p>
            <a:pPr lvl="1"/>
            <a:r>
              <a:rPr sz="1100" dirty="0">
                <a:latin typeface="Indosat Bold Bold" pitchFamily="2" charset="77"/>
              </a:rPr>
              <a:t>Value</a:t>
            </a:r>
            <a:r>
              <a:rPr sz="1100" dirty="0">
                <a:latin typeface="Indosat Regular" pitchFamily="2" charset="77"/>
              </a:rPr>
              <a:t>: Stops vulnerabilities *before* they reach production. Uses </a:t>
            </a:r>
            <a:r>
              <a:rPr sz="1100" dirty="0">
                <a:latin typeface="Indosat Bold Bold" pitchFamily="2" charset="77"/>
              </a:rPr>
              <a:t>Semgrep</a:t>
            </a:r>
            <a:r>
              <a:rPr sz="1100" dirty="0">
                <a:latin typeface="Indosat Regular" pitchFamily="2" charset="77"/>
              </a:rPr>
              <a:t> and </a:t>
            </a:r>
            <a:r>
              <a:rPr sz="1100" dirty="0">
                <a:latin typeface="Indosat Bold Bold" pitchFamily="2" charset="77"/>
              </a:rPr>
              <a:t>Gitleaks</a:t>
            </a:r>
            <a:r>
              <a:rPr sz="1100" dirty="0">
                <a:latin typeface="Indosat Regular" pitchFamily="2" charset="77"/>
              </a:rPr>
              <a:t> to audit code and secrets automatically.</a:t>
            </a:r>
          </a:p>
          <a:p>
            <a:pPr lvl="1"/>
            <a:r>
              <a:rPr sz="1100" dirty="0">
                <a:latin typeface="Indosat Bold Bold" pitchFamily="2" charset="77"/>
              </a:rPr>
              <a:t>Reference</a:t>
            </a:r>
            <a:r>
              <a:rPr sz="1100" dirty="0">
                <a:latin typeface="Indosat Regular" pitchFamily="2" charset="77"/>
              </a:rPr>
              <a:t>: [Proactive Orchestrator](https://github.com/ghifiardi/proactive-security-orchestrator)</a:t>
            </a:r>
          </a:p>
          <a:p>
            <a:pPr>
              <a:defRPr b="1"/>
            </a:pPr>
            <a:r>
              <a:rPr sz="1400" dirty="0">
                <a:latin typeface="Indosat Regular" pitchFamily="2" charset="77"/>
              </a:rPr>
              <a:t>👁️ </a:t>
            </a:r>
            <a:r>
              <a:rPr sz="1400" dirty="0">
                <a:latin typeface="Indosat Bold Bold" pitchFamily="2" charset="77"/>
              </a:rPr>
              <a:t>Unified Cyber-Physical Defense (YOLO)</a:t>
            </a:r>
          </a:p>
          <a:p>
            <a:pPr lvl="1"/>
            <a:r>
              <a:rPr sz="1100" dirty="0">
                <a:latin typeface="Indosat Bold Bold" pitchFamily="2" charset="77"/>
              </a:rPr>
              <a:t>What it is</a:t>
            </a:r>
            <a:r>
              <a:rPr sz="1100" dirty="0">
                <a:latin typeface="Indosat Regular" pitchFamily="2" charset="77"/>
              </a:rPr>
              <a:t>: AI-powered computer vision integration for physical security feeds (CCTV)</a:t>
            </a:r>
            <a:r>
              <a:rPr lang="en-US" sz="1100" dirty="0">
                <a:latin typeface="Indosat Regular" pitchFamily="2" charset="77"/>
              </a:rPr>
              <a:t> customer touchpoints</a:t>
            </a:r>
          </a:p>
          <a:p>
            <a:pPr lvl="1"/>
            <a:r>
              <a:rPr lang="en-ID" sz="1100" b="1" dirty="0">
                <a:latin typeface="Indosat Regular" pitchFamily="2" charset="77"/>
              </a:rPr>
              <a:t>Key Capabilities</a:t>
            </a:r>
            <a:r>
              <a:rPr lang="en-ID" sz="1100" dirty="0">
                <a:latin typeface="Indosat Regular" pitchFamily="2" charset="77"/>
              </a:rPr>
              <a:t>:</a:t>
            </a:r>
          </a:p>
          <a:p>
            <a:pPr marL="695325" lvl="2" indent="-133350"/>
            <a:r>
              <a:rPr lang="en-ID" sz="1400" dirty="0">
                <a:latin typeface="Indosat Regular" pitchFamily="2" charset="77"/>
              </a:rPr>
              <a:t> </a:t>
            </a:r>
            <a:r>
              <a:rPr lang="en-ID" sz="1400" b="1" dirty="0">
                <a:latin typeface="Indosat Regular" pitchFamily="2" charset="77"/>
              </a:rPr>
              <a:t>Face Spoofing &amp; Liveness Detection</a:t>
            </a:r>
            <a:r>
              <a:rPr lang="en-ID" sz="1400" dirty="0">
                <a:latin typeface="Indosat Regular" pitchFamily="2" charset="77"/>
              </a:rPr>
              <a:t>: Prevents identity fraud using photo/video replay or masks.</a:t>
            </a:r>
          </a:p>
          <a:p>
            <a:pPr marL="695325" lvl="2" indent="-133350"/>
            <a:r>
              <a:rPr lang="en-ID" sz="1400" dirty="0">
                <a:latin typeface="Indosat Regular" pitchFamily="2" charset="77"/>
              </a:rPr>
              <a:t> </a:t>
            </a:r>
            <a:r>
              <a:rPr lang="en-ID" sz="1400" b="1" dirty="0">
                <a:latin typeface="Indosat Regular" pitchFamily="2" charset="77"/>
              </a:rPr>
              <a:t>Device Presence Detection</a:t>
            </a:r>
            <a:r>
              <a:rPr lang="en-ID" sz="1400" dirty="0">
                <a:latin typeface="Indosat Regular" pitchFamily="2" charset="77"/>
              </a:rPr>
              <a:t>: Detects unauthorized recording devices (phones/cameras) pointing at agent screens, a key indicator of **</a:t>
            </a:r>
            <a:r>
              <a:rPr lang="en-ID" sz="1400" b="1" dirty="0">
                <a:latin typeface="Indosat Regular" pitchFamily="2" charset="77"/>
              </a:rPr>
              <a:t>SIM Swap Fraud</a:t>
            </a:r>
            <a:r>
              <a:rPr lang="en-ID" sz="1400" dirty="0">
                <a:latin typeface="Indosat Regular" pitchFamily="2" charset="77"/>
              </a:rPr>
              <a:t>** or coercion.</a:t>
            </a:r>
          </a:p>
          <a:p>
            <a:pPr marL="695325" lvl="2" indent="-133350"/>
            <a:r>
              <a:rPr lang="en-ID" sz="1400" b="1" dirty="0">
                <a:latin typeface="Indosat Regular" pitchFamily="2" charset="77"/>
              </a:rPr>
              <a:t>Contextual Risk Signals</a:t>
            </a:r>
            <a:r>
              <a:rPr lang="en-ID" sz="1400" dirty="0">
                <a:latin typeface="Indosat Regular" pitchFamily="2" charset="77"/>
              </a:rPr>
              <a:t>: Correlates physical behaviors with KYC data to flag high-risk interactions in real-time.</a:t>
            </a:r>
            <a:r>
              <a:rPr sz="1400" dirty="0">
                <a:latin typeface="Indosat Regular" pitchFamily="2" charset="77"/>
              </a:rPr>
              <a:t>.</a:t>
            </a:r>
          </a:p>
          <a:p>
            <a:pPr lvl="1"/>
            <a:r>
              <a:rPr sz="1100" dirty="0">
                <a:latin typeface="Indosat Bold Bold" pitchFamily="2" charset="77"/>
              </a:rPr>
              <a:t>Value</a:t>
            </a:r>
            <a:r>
              <a:rPr sz="1100" dirty="0">
                <a:latin typeface="Indosat Regular" pitchFamily="2" charset="77"/>
              </a:rPr>
              <a:t>: Bridges the gap between cyber and physical worlds. Detects unauthorized physical access or security breaches that could precede a cyber attack.</a:t>
            </a:r>
          </a:p>
          <a:p>
            <a:pPr lvl="1"/>
            <a:r>
              <a:rPr sz="1100" dirty="0">
                <a:latin typeface="Indosat Bold Bold" pitchFamily="2" charset="77"/>
              </a:rPr>
              <a:t>Reference</a:t>
            </a:r>
            <a:r>
              <a:rPr sz="1100" dirty="0">
                <a:latin typeface="Indosat Regular" pitchFamily="2" charset="77"/>
              </a:rPr>
              <a:t>: [YOLO Integration](https://github.com/ghifiardi/YOLO)</a:t>
            </a:r>
          </a:p>
          <a:p>
            <a:pPr marL="0" indent="0">
              <a:buNone/>
            </a:pPr>
            <a:endParaRPr sz="1400" dirty="0">
              <a:latin typeface="Indosat Regular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786</Words>
  <Application>Microsoft Macintosh PowerPoint</Application>
  <PresentationFormat>On-screen Show (4:3)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Indosat Bold Bold</vt:lpstr>
      <vt:lpstr>Indosat Regular</vt:lpstr>
      <vt:lpstr>Office Theme</vt:lpstr>
      <vt:lpstr>1_Office Theme</vt:lpstr>
      <vt:lpstr>AI-Driven SOC Platform</vt:lpstr>
      <vt:lpstr>Executive Summary</vt:lpstr>
      <vt:lpstr>1. The Business Value Proposition</vt:lpstr>
      <vt:lpstr>2. Commercial Architecture</vt:lpstr>
      <vt:lpstr>PowerPoint Presentation</vt:lpstr>
      <vt:lpstr>4. Monetization Strategy</vt:lpstr>
      <vt:lpstr>5. Advanced Ecosystem Integrations</vt:lpstr>
      <vt:lpstr>6.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Raditio Ghifiardi</cp:lastModifiedBy>
  <cp:revision>6</cp:revision>
  <dcterms:created xsi:type="dcterms:W3CDTF">2013-01-27T09:14:16Z</dcterms:created>
  <dcterms:modified xsi:type="dcterms:W3CDTF">2025-11-24T06:35:12Z</dcterms:modified>
  <cp:category/>
</cp:coreProperties>
</file>