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39"/>
  </p:notesMasterIdLst>
  <p:sldIdLst>
    <p:sldId id="256" r:id="rId3"/>
    <p:sldId id="258" r:id="rId4"/>
    <p:sldId id="259" r:id="rId5"/>
    <p:sldId id="261" r:id="rId6"/>
    <p:sldId id="268" r:id="rId7"/>
    <p:sldId id="274" r:id="rId8"/>
    <p:sldId id="263" r:id="rId9"/>
    <p:sldId id="260" r:id="rId10"/>
    <p:sldId id="264" r:id="rId11"/>
    <p:sldId id="269" r:id="rId12"/>
    <p:sldId id="257" r:id="rId13"/>
    <p:sldId id="270" r:id="rId14"/>
    <p:sldId id="278" r:id="rId15"/>
    <p:sldId id="272" r:id="rId16"/>
    <p:sldId id="282" r:id="rId17"/>
    <p:sldId id="273" r:id="rId18"/>
    <p:sldId id="275" r:id="rId19"/>
    <p:sldId id="267" r:id="rId20"/>
    <p:sldId id="279" r:id="rId21"/>
    <p:sldId id="281" r:id="rId22"/>
    <p:sldId id="280" r:id="rId23"/>
    <p:sldId id="262" r:id="rId24"/>
    <p:sldId id="276" r:id="rId25"/>
    <p:sldId id="277" r:id="rId26"/>
    <p:sldId id="271" r:id="rId27"/>
    <p:sldId id="283" r:id="rId28"/>
    <p:sldId id="284" r:id="rId29"/>
    <p:sldId id="265" r:id="rId30"/>
    <p:sldId id="266" r:id="rId31"/>
    <p:sldId id="285" r:id="rId32"/>
    <p:sldId id="286" r:id="rId33"/>
    <p:sldId id="2147483625" r:id="rId34"/>
    <p:sldId id="2147483617" r:id="rId35"/>
    <p:sldId id="2147483618" r:id="rId36"/>
    <p:sldId id="2147483619" r:id="rId37"/>
    <p:sldId id="2147483620" r:id="rId3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00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2517"/>
    <p:restoredTop sz="96260"/>
  </p:normalViewPr>
  <p:slideViewPr>
    <p:cSldViewPr snapToGrid="0" snapToObjects="1">
      <p:cViewPr>
        <p:scale>
          <a:sx n="150" d="100"/>
          <a:sy n="150" d="100"/>
        </p:scale>
        <p:origin x="952" y="3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9088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D" dirty="0"/>
              <a:t>Concept:</a:t>
            </a:r>
            <a:br>
              <a:rPr lang="en-ID" dirty="0"/>
            </a:br>
            <a:r>
              <a:rPr lang="en-ID" dirty="0"/>
              <a:t>- Phases 1–5: adaptive SOC (</a:t>
            </a:r>
            <a:r>
              <a:rPr lang="en-ID" dirty="0" err="1"/>
              <a:t>detect→triage→respond→learn</a:t>
            </a:r>
            <a:r>
              <a:rPr lang="en-ID" dirty="0"/>
              <a:t>, ~65s cycle).</a:t>
            </a:r>
            <a:br>
              <a:rPr lang="en-ID" dirty="0"/>
            </a:br>
            <a:r>
              <a:rPr lang="en-ID" dirty="0"/>
              <a:t>- Phase 6: predictive </a:t>
            </a:r>
            <a:r>
              <a:rPr lang="en-ID" dirty="0" err="1"/>
              <a:t>defense</a:t>
            </a:r>
            <a:r>
              <a:rPr lang="en-ID" dirty="0"/>
              <a:t> via digital-twin simulation + federated learning.</a:t>
            </a:r>
            <a:br>
              <a:rPr lang="en-ID" dirty="0"/>
            </a:br>
            <a:r>
              <a:rPr lang="en-ID" dirty="0"/>
              <a:t>- Outcome: Pre-emptive controls and proactive containment suggestions.</a:t>
            </a:r>
            <a:br>
              <a:rPr lang="en-ID" dirty="0"/>
            </a:br>
            <a:r>
              <a:rPr lang="en-ID" dirty="0"/>
              <a:t>Takeaway: Clear evolution to a sovereignty-aligned predictive security fabric.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D" dirty="0"/>
              <a:t>Primary Source: IDC Asia / Frost &amp; Sullivan (2024)</a:t>
            </a:r>
            <a:br>
              <a:rPr lang="en-ID" dirty="0"/>
            </a:br>
            <a:r>
              <a:rPr lang="en-ID" dirty="0"/>
              <a:t>- Indonesia CAGR: ~23–25% vs Global ~15%.</a:t>
            </a:r>
            <a:br>
              <a:rPr lang="en-ID" dirty="0"/>
            </a:br>
            <a:r>
              <a:rPr lang="en-ID" dirty="0"/>
              <a:t>- Drivers: PDP enforcement; fintech; cloud/AI adoption; compliance.</a:t>
            </a:r>
            <a:br>
              <a:rPr lang="en-ID" dirty="0"/>
            </a:br>
            <a:r>
              <a:rPr lang="en-ID" dirty="0"/>
              <a:t>- Math: (24-15)/15 ≈ 60% faster than global.</a:t>
            </a:r>
            <a:br>
              <a:rPr lang="en-ID" dirty="0"/>
            </a:br>
            <a:r>
              <a:rPr lang="en-ID" dirty="0"/>
              <a:t>Takeaway: Timing is </a:t>
            </a:r>
            <a:r>
              <a:rPr lang="en-ID" dirty="0" err="1"/>
              <a:t>favorable</a:t>
            </a:r>
            <a:r>
              <a:rPr lang="en-ID" dirty="0"/>
              <a:t>; regulatory pull supports growth.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D" dirty="0"/>
              <a:t>Primary Source: Indonesia Ministry of Cooperatives &amp; SMEs (</a:t>
            </a:r>
            <a:r>
              <a:rPr lang="en-ID" dirty="0" err="1"/>
              <a:t>Kemenkop</a:t>
            </a:r>
            <a:r>
              <a:rPr lang="en-ID" dirty="0"/>
              <a:t> UKM, 2024)</a:t>
            </a:r>
            <a:br>
              <a:rPr lang="en-ID" dirty="0"/>
            </a:br>
            <a:r>
              <a:rPr lang="en-ID" dirty="0"/>
              <a:t>- 64M+ SMEs contribute ~60% of GDP; accelerating digital adoption.</a:t>
            </a:r>
            <a:br>
              <a:rPr lang="en-ID" dirty="0"/>
            </a:br>
            <a:r>
              <a:rPr lang="en-ID" dirty="0"/>
              <a:t>- Gap: Most SMEs cannot afford enterprise SOC.</a:t>
            </a:r>
            <a:br>
              <a:rPr lang="en-ID" dirty="0"/>
            </a:br>
            <a:r>
              <a:rPr lang="en-ID" dirty="0"/>
              <a:t>- Penetration math: 0.1% of 64M = 64,000 customers; IDR 1–2M/month → material ARR.</a:t>
            </a:r>
            <a:br>
              <a:rPr lang="en-ID" dirty="0"/>
            </a:br>
            <a:r>
              <a:rPr lang="en-ID" dirty="0"/>
              <a:t>Takeaway: Real, underserved segment; pricing + autonomy make it addressable.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D" dirty="0"/>
          </a:p>
          <a:p>
            <a:r>
              <a:rPr lang="en-US" sz="800" dirty="0">
                <a:solidFill>
                  <a:srgbClr val="95A5A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According to IBM’s 2024 Data Breach Report, 70% of breached organizations </a:t>
            </a:r>
          </a:p>
          <a:p>
            <a:r>
              <a:rPr lang="en-US" sz="800" dirty="0">
                <a:solidFill>
                  <a:srgbClr val="95A5A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experienced major operational disruption — a risk magnified for SMEs lacking SOC coverage.</a:t>
            </a:r>
          </a:p>
          <a:p>
            <a:endParaRPr lang="en-US" sz="800" dirty="0">
              <a:solidFill>
                <a:srgbClr val="95A5A6"/>
              </a:solidFill>
              <a:latin typeface="Indosat Bold Bold" pitchFamily="2" charset="77"/>
              <a:ea typeface="Noto Sans" pitchFamily="34" charset="-122"/>
              <a:cs typeface="Noto Sans" pitchFamily="34" charset="-120"/>
            </a:endParaRPr>
          </a:p>
          <a:p>
            <a:r>
              <a:rPr lang="en-ID" sz="800" b="1" dirty="0"/>
              <a:t>TAM:</a:t>
            </a:r>
            <a:r>
              <a:rPr lang="en-ID" sz="800" dirty="0"/>
              <a:t> 64M SMEs x IDR 12M/year = IDR 768T total potential.</a:t>
            </a:r>
          </a:p>
          <a:p>
            <a:r>
              <a:rPr lang="en-ID" sz="800" b="1" dirty="0"/>
              <a:t>SAM:</a:t>
            </a:r>
            <a:r>
              <a:rPr lang="en-ID" sz="800" dirty="0"/>
              <a:t> 10% SMEs likely to adopt AI SOC = IDR 76T.</a:t>
            </a:r>
          </a:p>
          <a:p>
            <a:r>
              <a:rPr lang="en-ID" sz="800" b="1" dirty="0"/>
              <a:t>SOM:</a:t>
            </a:r>
            <a:r>
              <a:rPr lang="en-ID" sz="800" dirty="0"/>
              <a:t> Initial 0.1–0.5% penetration = IDR 0.7–3.8T reachable.</a:t>
            </a:r>
          </a:p>
          <a:p>
            <a:endParaRPr lang="en-US" sz="800" dirty="0">
              <a:latin typeface="Indosat Bold Bold" pitchFamily="2" charset="7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D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D" dirty="0"/>
              <a:t>Projection Logic:</a:t>
            </a:r>
            <a:br>
              <a:rPr lang="en-ID" dirty="0"/>
            </a:br>
            <a:r>
              <a:rPr lang="en-ID" dirty="0"/>
              <a:t>- ARPU: IDR 25M/year; Customer count: 15 → 761 (5 years) via MSSP/telco channels.</a:t>
            </a:r>
            <a:br>
              <a:rPr lang="en-ID" dirty="0"/>
            </a:br>
            <a:r>
              <a:rPr lang="en-ID" dirty="0"/>
              <a:t>- Gross Margin ~75%; LTV/CAC improves with channel leverage.</a:t>
            </a:r>
            <a:br>
              <a:rPr lang="en-ID" dirty="0"/>
            </a:br>
            <a:r>
              <a:rPr lang="en-ID" dirty="0"/>
              <a:t>Guardrails: Include conservative/base/aggressive cases; show ARPU &amp; conversion sensitivity.</a:t>
            </a:r>
            <a:br>
              <a:rPr lang="en-ID" dirty="0"/>
            </a:br>
            <a:r>
              <a:rPr lang="en-ID" dirty="0"/>
              <a:t>Takeaway: Ambitious but defensible with partner distribution.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0E0050-9CF7-9D4E-B9D3-0AB4F9524B0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713836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D1B98-5D02-21D3-EF32-D6F276FBC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4BF238-A209-3C3A-2E5A-9F570AD2A1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2405E8-5444-D30D-1714-4BC0CE3C99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630498-72D4-D92C-B0C2-DF1A2DD840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89835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27A84-D687-CC1F-2A7A-6AF70604B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A31CC5-CAE2-8E5A-5D5A-33BA18B396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1800DB-9799-7904-6C12-7BC27BF577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0A4D7-E5C0-A241-19F1-08332E03A3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65012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40DCC-E9AB-6935-3A37-B5C2EF5E4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6CC6A4-0B43-2ED9-2885-4F8661F39F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D51CBB-DD90-FB12-921F-7975236151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D95501-0A58-8087-ECD2-EE686B0580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6531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028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004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718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955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198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946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594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508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103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4347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3837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9628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784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slide" Target="slide30.xml"/><Relationship Id="rId4" Type="http://schemas.openxmlformats.org/officeDocument/2006/relationships/slide" Target="slide3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slide" Target="slide3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slide" Target="slide2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slide" Target="slide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slide" Target="slide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slide" Target="slide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slide" Target="slide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9144000" cy="514349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029200" cy="5143499"/>
          </a:xfrm>
          <a:prstGeom prst="rect">
            <a:avLst/>
          </a:prstGeom>
          <a:solidFill>
            <a:srgbClr val="C7158D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4" name="Text 1"/>
          <p:cNvSpPr/>
          <p:nvPr/>
        </p:nvSpPr>
        <p:spPr>
          <a:xfrm>
            <a:off x="428625" y="929495"/>
            <a:ext cx="1861087" cy="6232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4050" b="1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GATRA</a:t>
            </a:r>
            <a:endParaRPr lang="en-US" sz="4050" dirty="0">
              <a:latin typeface="Indosat Bold Bold" pitchFamily="2" charset="77"/>
            </a:endParaRPr>
          </a:p>
        </p:txBody>
      </p:sp>
      <p:sp>
        <p:nvSpPr>
          <p:cNvPr id="5" name="Text 2"/>
          <p:cNvSpPr/>
          <p:nvPr/>
        </p:nvSpPr>
        <p:spPr>
          <a:xfrm>
            <a:off x="428625" y="1804222"/>
            <a:ext cx="4171950" cy="5539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>
                    <a:alpha val="95000"/>
                  </a:srgbClr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Indonesia's AI-Powered Cybersecurity Infrastructure</a:t>
            </a:r>
            <a:endParaRPr lang="en-US" sz="1800" dirty="0">
              <a:latin typeface="Indosat Bold Bold" pitchFamily="2" charset="77"/>
            </a:endParaRPr>
          </a:p>
        </p:txBody>
      </p:sp>
      <p:sp>
        <p:nvSpPr>
          <p:cNvPr id="6" name="Text 3"/>
          <p:cNvSpPr/>
          <p:nvPr/>
        </p:nvSpPr>
        <p:spPr>
          <a:xfrm>
            <a:off x="428625" y="2665119"/>
            <a:ext cx="3422412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FFFFFF">
                    <a:alpha val="90000"/>
                  </a:srgbClr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Guardian Agent for Threat Response &amp; Autonomy 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7" name="Text 4"/>
          <p:cNvSpPr/>
          <p:nvPr/>
        </p:nvSpPr>
        <p:spPr>
          <a:xfrm>
            <a:off x="277793" y="3116484"/>
            <a:ext cx="3191271" cy="415498"/>
          </a:xfrm>
          <a:prstGeom prst="rect">
            <a:avLst/>
          </a:prstGeom>
          <a:noFill/>
          <a:ln/>
        </p:spPr>
        <p:txBody>
          <a:bodyPr wrap="square" lIns="170053" tIns="0" rIns="0" bIns="0" rtlCol="0" anchor="ctr">
            <a:spAutoFit/>
          </a:bodyPr>
          <a:lstStyle/>
          <a:p>
            <a:pPr indent="7938">
              <a:buNone/>
            </a:pPr>
            <a:r>
              <a:rPr lang="en-US" sz="1350" dirty="0">
                <a:solidFill>
                  <a:srgbClr val="FFFFFF">
                    <a:alpha val="90000"/>
                  </a:srgbClr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Detect Faster. Respond Smarter. Evolve Continuously. 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457825" y="6014"/>
            <a:ext cx="3257550" cy="1335881"/>
          </a:xfrm>
          <a:prstGeom prst="rect">
            <a:avLst/>
          </a:prstGeom>
          <a:solidFill>
            <a:srgbClr val="2C2C2C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9" name="Text 6"/>
          <p:cNvSpPr/>
          <p:nvPr/>
        </p:nvSpPr>
        <p:spPr>
          <a:xfrm>
            <a:off x="5672138" y="241643"/>
            <a:ext cx="1310872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kern="0" spc="1" dirty="0">
                <a:solidFill>
                  <a:srgbClr val="24BDA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Investment Opportunity</a:t>
            </a:r>
            <a:endParaRPr lang="en-US" sz="837" dirty="0">
              <a:latin typeface="Indosat Bold Bold" pitchFamily="2" charset="7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672138" y="492142"/>
            <a:ext cx="1090042" cy="3636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363" b="1" dirty="0">
                <a:solidFill>
                  <a:srgbClr val="EC008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IDR 14B</a:t>
            </a:r>
            <a:endParaRPr lang="en-US" sz="2363" dirty="0">
              <a:latin typeface="Indosat Bold Bold" pitchFamily="2" charset="77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672138" y="958654"/>
            <a:ext cx="843180" cy="144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for 15% equity</a:t>
            </a:r>
            <a:endParaRPr lang="en-US" sz="942" dirty="0">
              <a:latin typeface="Indosat Bold Bold" pitchFamily="2" charset="77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457825" y="1484770"/>
            <a:ext cx="3257550" cy="1335881"/>
          </a:xfrm>
          <a:prstGeom prst="rect">
            <a:avLst/>
          </a:prstGeom>
          <a:solidFill>
            <a:srgbClr val="2C2C2C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672138" y="1720399"/>
            <a:ext cx="828817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kern="0" spc="1" dirty="0">
                <a:solidFill>
                  <a:srgbClr val="24BDA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Market Growth</a:t>
            </a:r>
            <a:endParaRPr lang="en-US" sz="837" dirty="0">
              <a:latin typeface="Indosat Bold Bold" pitchFamily="2" charset="77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672138" y="1970898"/>
            <a:ext cx="1636666" cy="3636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363" b="1" dirty="0">
                <a:solidFill>
                  <a:srgbClr val="EC008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24% CAGR</a:t>
            </a:r>
            <a:endParaRPr lang="en-US" sz="2363" dirty="0">
              <a:latin typeface="Indosat Bold Bold" pitchFamily="2" charset="77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672138" y="2437410"/>
            <a:ext cx="1966885" cy="144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Indonesia cybersecurity market</a:t>
            </a:r>
            <a:endParaRPr lang="en-US" sz="942" dirty="0">
              <a:latin typeface="Indosat Bold Bold" pitchFamily="2" charset="77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5457825" y="2963527"/>
            <a:ext cx="3257550" cy="1335881"/>
          </a:xfrm>
          <a:prstGeom prst="rect">
            <a:avLst/>
          </a:prstGeom>
          <a:solidFill>
            <a:srgbClr val="2C2C2C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672138" y="3199155"/>
            <a:ext cx="1071512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kern="0" spc="1" dirty="0">
                <a:solidFill>
                  <a:srgbClr val="24BDA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Market Opportunity</a:t>
            </a:r>
            <a:endParaRPr lang="en-US" sz="837" dirty="0">
              <a:latin typeface="Indosat Bold Bold" pitchFamily="2" charset="77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672138" y="3449654"/>
            <a:ext cx="1715213" cy="3636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363" b="1" dirty="0">
                <a:solidFill>
                  <a:srgbClr val="EC008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64M+ SMEs</a:t>
            </a:r>
            <a:endParaRPr lang="en-US" sz="2363" dirty="0">
              <a:latin typeface="Indosat Bold Bold" pitchFamily="2" charset="77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5672138" y="3916166"/>
            <a:ext cx="2202526" cy="144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Underserved Indonesian businesses</a:t>
            </a:r>
            <a:endParaRPr lang="en-US" sz="942" dirty="0">
              <a:latin typeface="Indosat Bold Bold" pitchFamily="2" charset="77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5457825" y="4464088"/>
            <a:ext cx="3257550" cy="478631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5457825" y="4464088"/>
            <a:ext cx="28575" cy="478631"/>
          </a:xfrm>
          <a:prstGeom prst="rect">
            <a:avLst/>
          </a:prstGeom>
          <a:solidFill>
            <a:srgbClr val="FFCB09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5672138" y="4630916"/>
            <a:ext cx="2253822" cy="144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First-Mover Advantage in Indonesia </a:t>
            </a:r>
            <a:endParaRPr lang="en-US" sz="942" dirty="0">
              <a:latin typeface="Indosat Bold Bold" pitchFamily="2" charset="7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58211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71538"/>
          </a:xfrm>
          <a:prstGeom prst="rect">
            <a:avLst/>
          </a:prstGeom>
          <a:solidFill>
            <a:srgbClr val="EC008C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4" name="Text 1"/>
          <p:cNvSpPr/>
          <p:nvPr/>
        </p:nvSpPr>
        <p:spPr>
          <a:xfrm>
            <a:off x="285750" y="228020"/>
            <a:ext cx="6250109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Strategic Vision &amp; Value Proposition</a:t>
            </a:r>
            <a:endParaRPr lang="en-US" sz="2700" dirty="0">
              <a:latin typeface="Indosat Bold Bold" pitchFamily="2" charset="77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1500" y="1145642"/>
            <a:ext cx="7582204" cy="483337"/>
          </a:xfrm>
          <a:prstGeom prst="rect">
            <a:avLst/>
          </a:prstGeom>
          <a:noFill/>
          <a:ln/>
        </p:spPr>
        <p:txBody>
          <a:bodyPr wrap="none" lIns="0" tIns="0" rIns="0" bIns="170053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From </a:t>
            </a:r>
            <a:r>
              <a:rPr lang="en-US" sz="2025" b="1" dirty="0">
                <a:latin typeface="Indosat Bold Bold" pitchFamily="2" charset="77"/>
                <a:ea typeface="Noto Sans" pitchFamily="34" charset="-122"/>
                <a:cs typeface="Noto Sans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AI-Driven SOC</a:t>
            </a:r>
            <a:r>
              <a:rPr lang="en-US" sz="2025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to National Cognitive Defense Layer </a:t>
            </a:r>
            <a:endParaRPr lang="en-US" sz="2025" dirty="0">
              <a:latin typeface="Indosat Bold Bold" pitchFamily="2" charset="77"/>
            </a:endParaRPr>
          </a:p>
        </p:txBody>
      </p:sp>
      <p:sp>
        <p:nvSpPr>
          <p:cNvPr id="6" name="Text 3"/>
          <p:cNvSpPr/>
          <p:nvPr/>
        </p:nvSpPr>
        <p:spPr>
          <a:xfrm>
            <a:off x="571500" y="1860734"/>
            <a:ext cx="8001000" cy="484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575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GATRA is building the foundational AI layer that protects, learns, and evolves with Indonesia's digital economy. </a:t>
            </a:r>
            <a:endParaRPr lang="en-US" sz="1575" dirty="0">
              <a:latin typeface="Indosat Bold Bold" pitchFamily="2" charset="77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71500" y="2617459"/>
            <a:ext cx="8001000" cy="42863"/>
          </a:xfrm>
          <a:prstGeom prst="rect">
            <a:avLst/>
          </a:prstGeom>
          <a:solidFill>
            <a:srgbClr val="24BDAD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8" name="Text 5"/>
          <p:cNvSpPr/>
          <p:nvPr/>
        </p:nvSpPr>
        <p:spPr>
          <a:xfrm>
            <a:off x="571500" y="2863628"/>
            <a:ext cx="1542089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EC008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Value Proposition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9" name="Text 6"/>
          <p:cNvSpPr/>
          <p:nvPr/>
        </p:nvSpPr>
        <p:spPr>
          <a:xfrm>
            <a:off x="571500" y="3260909"/>
            <a:ext cx="8001000" cy="484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575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Enterprise-grade AI cybersecurity at SME-friendly prices through proprietary multi-agent framework. </a:t>
            </a:r>
            <a:endParaRPr lang="en-US" sz="1575" dirty="0">
              <a:latin typeface="Indosat Bold Bold" pitchFamily="2" charset="7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71500" y="4042347"/>
            <a:ext cx="1301638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C000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Market Impact</a:t>
            </a:r>
            <a:endParaRPr lang="en-US" sz="1350" dirty="0">
              <a:solidFill>
                <a:srgbClr val="FFC000"/>
              </a:solidFill>
              <a:latin typeface="Indosat Bold Bold" pitchFamily="2" charset="77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71500" y="4439628"/>
            <a:ext cx="8001000" cy="484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575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Serving 64M+ underserved Indonesian SMEs with affordable, autonomous protection. </a:t>
            </a:r>
            <a:endParaRPr lang="en-US" sz="1575" dirty="0">
              <a:latin typeface="Indosat Bold Bold" pitchFamily="2" charset="7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741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271588"/>
          </a:xfrm>
          <a:prstGeom prst="rect">
            <a:avLst/>
          </a:prstGeom>
          <a:solidFill>
            <a:srgbClr val="EC008C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4" name="Text 1"/>
          <p:cNvSpPr/>
          <p:nvPr/>
        </p:nvSpPr>
        <p:spPr>
          <a:xfrm>
            <a:off x="285750" y="263739"/>
            <a:ext cx="8321189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The Problem: Traditional Cybersecurity Failures</a:t>
            </a:r>
            <a:endParaRPr lang="en-US" sz="2700" dirty="0">
              <a:latin typeface="Indosat Bold Bold" pitchFamily="2" charset="77"/>
            </a:endParaRPr>
          </a:p>
        </p:txBody>
      </p:sp>
      <p:sp>
        <p:nvSpPr>
          <p:cNvPr id="5" name="Text 2"/>
          <p:cNvSpPr/>
          <p:nvPr/>
        </p:nvSpPr>
        <p:spPr>
          <a:xfrm>
            <a:off x="285750" y="824813"/>
            <a:ext cx="5923096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>
                    <a:alpha val="95000"/>
                  </a:srgbClr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Traditional SOC Solutions Leave Indonesian Businesses Vulnerable 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71500" y="1478303"/>
            <a:ext cx="2476481" cy="3650456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780126"/>
            <a:ext cx="342900" cy="3429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85813" y="2382791"/>
            <a:ext cx="1067600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EC008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Too Slow</a:t>
            </a:r>
            <a:endParaRPr lang="en-US" sz="1800" dirty="0">
              <a:latin typeface="Indosat Bold Bold" pitchFamily="2" charset="77"/>
            </a:endParaRPr>
          </a:p>
        </p:txBody>
      </p:sp>
      <p:sp>
        <p:nvSpPr>
          <p:cNvPr id="9" name="Text 5"/>
          <p:cNvSpPr/>
          <p:nvPr/>
        </p:nvSpPr>
        <p:spPr>
          <a:xfrm>
            <a:off x="785813" y="2793267"/>
            <a:ext cx="1755289" cy="4847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3150" b="1" dirty="0">
                <a:solidFill>
                  <a:srgbClr val="EC008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194 days</a:t>
            </a:r>
            <a:endParaRPr lang="en-US" sz="3150" dirty="0">
              <a:latin typeface="Indosat Bold Bold" pitchFamily="2" charset="77"/>
            </a:endParaRPr>
          </a:p>
        </p:txBody>
      </p:sp>
      <p:sp>
        <p:nvSpPr>
          <p:cNvPr id="10" name="Text 6"/>
          <p:cNvSpPr/>
          <p:nvPr/>
        </p:nvSpPr>
        <p:spPr>
          <a:xfrm>
            <a:off x="785813" y="3396193"/>
            <a:ext cx="2047856" cy="3218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Average time to identify and contain a breach 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11" name="Text 7"/>
          <p:cNvSpPr/>
          <p:nvPr/>
        </p:nvSpPr>
        <p:spPr>
          <a:xfrm>
            <a:off x="785813" y="4131155"/>
            <a:ext cx="482504" cy="144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Impact:</a:t>
            </a:r>
            <a:endParaRPr lang="en-US" sz="942" dirty="0">
              <a:latin typeface="Indosat Bold Bold" pitchFamily="2" charset="77"/>
            </a:endParaRPr>
          </a:p>
        </p:txBody>
      </p:sp>
      <p:sp>
        <p:nvSpPr>
          <p:cNvPr id="12" name="Text 8"/>
          <p:cNvSpPr/>
          <p:nvPr/>
        </p:nvSpPr>
        <p:spPr>
          <a:xfrm>
            <a:off x="785813" y="4359756"/>
            <a:ext cx="1981312" cy="144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Attackers have months to steal </a:t>
            </a:r>
            <a:endParaRPr lang="en-US" sz="942" dirty="0">
              <a:latin typeface="Indosat Bold Bold" pitchFamily="2" charset="77"/>
            </a:endParaRPr>
          </a:p>
        </p:txBody>
      </p:sp>
      <p:sp>
        <p:nvSpPr>
          <p:cNvPr id="13" name="Text 9"/>
          <p:cNvSpPr/>
          <p:nvPr/>
        </p:nvSpPr>
        <p:spPr>
          <a:xfrm>
            <a:off x="785813" y="4552637"/>
            <a:ext cx="1941237" cy="144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data, deploy ransomware, and </a:t>
            </a:r>
            <a:endParaRPr lang="en-US" sz="942" dirty="0">
              <a:latin typeface="Indosat Bold Bold" pitchFamily="2" charset="77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785813" y="4745518"/>
            <a:ext cx="955390" cy="144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cause damage </a:t>
            </a:r>
            <a:endParaRPr lang="en-US" sz="942" dirty="0">
              <a:latin typeface="Indosat Bold Bold" pitchFamily="2" charset="77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3333731" y="1478303"/>
            <a:ext cx="2476509" cy="3650456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8044" y="1780126"/>
            <a:ext cx="214313" cy="342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548044" y="2382791"/>
            <a:ext cx="1699183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4BDA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Too Expensive</a:t>
            </a:r>
            <a:endParaRPr lang="en-US" sz="1800" dirty="0">
              <a:latin typeface="Indosat Bold Bold" pitchFamily="2" charset="77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3548044" y="2793267"/>
            <a:ext cx="1811393" cy="4847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3150" b="1" dirty="0">
                <a:solidFill>
                  <a:srgbClr val="24BDA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IDR 1.5B+</a:t>
            </a:r>
            <a:endParaRPr lang="en-US" sz="3150" dirty="0">
              <a:latin typeface="Indosat Bold Bold" pitchFamily="2" charset="77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3548044" y="3396193"/>
            <a:ext cx="2047884" cy="3218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Annual cost for enterprise SOC solutions 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3548044" y="4131155"/>
            <a:ext cx="482504" cy="144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Impact:</a:t>
            </a:r>
            <a:endParaRPr lang="en-US" sz="942" dirty="0">
              <a:latin typeface="Indosat Bold Bold" pitchFamily="2" charset="77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3548044" y="4359756"/>
            <a:ext cx="1870705" cy="144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99% of Indonesian businesses </a:t>
            </a:r>
            <a:endParaRPr lang="en-US" sz="942" dirty="0">
              <a:latin typeface="Indosat Bold Bold" pitchFamily="2" charset="77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3548044" y="4552637"/>
            <a:ext cx="1513235" cy="144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cannot afford enterprise </a:t>
            </a:r>
            <a:endParaRPr lang="en-US" sz="942" dirty="0">
              <a:latin typeface="Indosat Bold Bold" pitchFamily="2" charset="77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3548044" y="4745518"/>
            <a:ext cx="888064" cy="144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cybersecurity </a:t>
            </a:r>
            <a:endParaRPr lang="en-US" sz="942" dirty="0">
              <a:latin typeface="Indosat Bold Bold" pitchFamily="2" charset="77"/>
            </a:endParaRPr>
          </a:p>
        </p:txBody>
      </p:sp>
      <p:sp>
        <p:nvSpPr>
          <p:cNvPr id="24" name="Shape 19"/>
          <p:cNvSpPr/>
          <p:nvPr/>
        </p:nvSpPr>
        <p:spPr>
          <a:xfrm>
            <a:off x="6095991" y="1478303"/>
            <a:ext cx="2476481" cy="3650456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0303" y="1780126"/>
            <a:ext cx="342900" cy="3429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310303" y="2382791"/>
            <a:ext cx="1524456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C7158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Too Reactive</a:t>
            </a:r>
            <a:endParaRPr lang="en-US" sz="1800" dirty="0">
              <a:latin typeface="Indosat Bold Bold" pitchFamily="2" charset="77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6310303" y="2793267"/>
            <a:ext cx="1104470" cy="4847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3150" b="1" dirty="0">
                <a:solidFill>
                  <a:srgbClr val="C7158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30%+</a:t>
            </a:r>
            <a:endParaRPr lang="en-US" sz="3150" dirty="0">
              <a:latin typeface="Indosat Bold Bold" pitchFamily="2" charset="77"/>
            </a:endParaRPr>
          </a:p>
        </p:txBody>
      </p:sp>
      <p:sp>
        <p:nvSpPr>
          <p:cNvPr id="28" name="Text 22"/>
          <p:cNvSpPr/>
          <p:nvPr/>
        </p:nvSpPr>
        <p:spPr>
          <a:xfrm>
            <a:off x="6310303" y="3396193"/>
            <a:ext cx="2047856" cy="3218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False positive rate overwhelming security teams 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29" name="Text 23"/>
          <p:cNvSpPr/>
          <p:nvPr/>
        </p:nvSpPr>
        <p:spPr>
          <a:xfrm>
            <a:off x="6310303" y="4131155"/>
            <a:ext cx="482504" cy="144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Impact:</a:t>
            </a:r>
            <a:endParaRPr lang="en-US" sz="942" dirty="0">
              <a:latin typeface="Indosat Bold Bold" pitchFamily="2" charset="77"/>
            </a:endParaRPr>
          </a:p>
        </p:txBody>
      </p:sp>
      <p:sp>
        <p:nvSpPr>
          <p:cNvPr id="30" name="Text 24"/>
          <p:cNvSpPr/>
          <p:nvPr/>
        </p:nvSpPr>
        <p:spPr>
          <a:xfrm>
            <a:off x="6310303" y="4359756"/>
            <a:ext cx="1718419" cy="144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70% of organizations report </a:t>
            </a:r>
            <a:endParaRPr lang="en-US" sz="942" dirty="0">
              <a:latin typeface="Indosat Bold Bold" pitchFamily="2" charset="77"/>
            </a:endParaRPr>
          </a:p>
        </p:txBody>
      </p:sp>
      <p:sp>
        <p:nvSpPr>
          <p:cNvPr id="31" name="Text 25"/>
          <p:cNvSpPr/>
          <p:nvPr/>
        </p:nvSpPr>
        <p:spPr>
          <a:xfrm>
            <a:off x="6310303" y="4552637"/>
            <a:ext cx="1880323" cy="144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significant business disruption </a:t>
            </a:r>
            <a:endParaRPr lang="en-US" sz="942" dirty="0">
              <a:latin typeface="Indosat Bold Bold" pitchFamily="2" charset="7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271588"/>
          </a:xfrm>
          <a:prstGeom prst="rect">
            <a:avLst/>
          </a:prstGeom>
          <a:solidFill>
            <a:srgbClr val="EC008C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4" name="Text 1"/>
          <p:cNvSpPr/>
          <p:nvPr/>
        </p:nvSpPr>
        <p:spPr>
          <a:xfrm>
            <a:off x="285750" y="263739"/>
            <a:ext cx="8096768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The Solution: GATRA's Multi-Agent AI Platform</a:t>
            </a:r>
            <a:endParaRPr lang="en-US" sz="2700" dirty="0">
              <a:latin typeface="Indosat Bold Bold" pitchFamily="2" charset="77"/>
            </a:endParaRPr>
          </a:p>
        </p:txBody>
      </p:sp>
      <p:sp>
        <p:nvSpPr>
          <p:cNvPr id="5" name="Text 2"/>
          <p:cNvSpPr/>
          <p:nvPr/>
        </p:nvSpPr>
        <p:spPr>
          <a:xfrm>
            <a:off x="285750" y="824813"/>
            <a:ext cx="5281895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>
                    <a:alpha val="95000"/>
                  </a:srgbClr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Autonomous AI Agents Deliver 65-Second Threat Response 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71500" y="1348988"/>
            <a:ext cx="1485900" cy="2153031"/>
          </a:xfrm>
          <a:prstGeom prst="rect">
            <a:avLst/>
          </a:prstGeom>
          <a:solidFill>
            <a:srgbClr val="F8F8F8"/>
          </a:solidFill>
          <a:ln w="496">
            <a:solidFill>
              <a:srgbClr val="EC008C"/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50756" y="1560531"/>
            <a:ext cx="527388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C008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ADA</a:t>
            </a:r>
            <a:endParaRPr lang="en-US" sz="1800" dirty="0">
              <a:latin typeface="Indosat Bold Bold" pitchFamily="2" charset="77"/>
            </a:endParaRPr>
          </a:p>
        </p:txBody>
      </p:sp>
      <p:sp>
        <p:nvSpPr>
          <p:cNvPr id="8" name="Text 5"/>
          <p:cNvSpPr/>
          <p:nvPr/>
        </p:nvSpPr>
        <p:spPr>
          <a:xfrm>
            <a:off x="678656" y="1947381"/>
            <a:ext cx="1271588" cy="257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Anomaly Detection Agent</a:t>
            </a:r>
            <a:endParaRPr lang="en-US" sz="837" dirty="0">
              <a:latin typeface="Indosat Bold Bold" pitchFamily="2" charset="77"/>
            </a:endParaRPr>
          </a:p>
        </p:txBody>
      </p:sp>
      <p:sp>
        <p:nvSpPr>
          <p:cNvPr id="9" name="Text 6"/>
          <p:cNvSpPr/>
          <p:nvPr/>
        </p:nvSpPr>
        <p:spPr>
          <a:xfrm>
            <a:off x="678656" y="2372935"/>
            <a:ext cx="1271588" cy="33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Monitors network traffic and identifies anomalies in real-time</a:t>
            </a:r>
            <a:endParaRPr lang="en-US" sz="732" dirty="0">
              <a:latin typeface="Indosat Bold Bold" pitchFamily="2" charset="7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162966" y="2887913"/>
            <a:ext cx="302968" cy="24237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575" b="1" dirty="0">
                <a:solidFill>
                  <a:srgbClr val="EC008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15s</a:t>
            </a:r>
            <a:endParaRPr lang="en-US" sz="1575" dirty="0">
              <a:latin typeface="Indosat Bold Bold" pitchFamily="2" charset="7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2200275" y="1348988"/>
            <a:ext cx="1485900" cy="2153031"/>
          </a:xfrm>
          <a:prstGeom prst="rect">
            <a:avLst/>
          </a:prstGeom>
          <a:solidFill>
            <a:srgbClr val="F8F8F8"/>
          </a:solidFill>
          <a:ln w="496">
            <a:solidFill>
              <a:srgbClr val="24BDAD"/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2699568" y="1560531"/>
            <a:ext cx="487313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4BDA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TAA</a:t>
            </a:r>
            <a:endParaRPr lang="en-US" sz="1800" dirty="0">
              <a:latin typeface="Indosat Bold Bold" pitchFamily="2" charset="77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2307431" y="1947381"/>
            <a:ext cx="1271588" cy="257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Triage &amp; Analysis Agent</a:t>
            </a:r>
            <a:endParaRPr lang="en-US" sz="837" dirty="0">
              <a:latin typeface="Indosat Bold Bold" pitchFamily="2" charset="77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2307431" y="2372935"/>
            <a:ext cx="1271588" cy="33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LLM-powered threat intelligence and classification</a:t>
            </a:r>
            <a:endParaRPr lang="en-US" sz="732" dirty="0">
              <a:latin typeface="Indosat Bold Bold" pitchFamily="2" charset="77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2731628" y="2887913"/>
            <a:ext cx="423193" cy="24237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575" b="1" dirty="0">
                <a:solidFill>
                  <a:srgbClr val="24BDA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94%</a:t>
            </a:r>
            <a:endParaRPr lang="en-US" sz="1575" dirty="0">
              <a:latin typeface="Indosat Bold Bold" pitchFamily="2" charset="77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2748460" y="3175098"/>
            <a:ext cx="389529" cy="9663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628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accuracy</a:t>
            </a:r>
            <a:endParaRPr lang="en-US" sz="628" dirty="0">
              <a:latin typeface="Indosat Bold Bold" pitchFamily="2" charset="77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3829050" y="1348988"/>
            <a:ext cx="1485900" cy="2117313"/>
          </a:xfrm>
          <a:prstGeom prst="rect">
            <a:avLst/>
          </a:prstGeom>
          <a:solidFill>
            <a:srgbClr val="F8F8F8"/>
          </a:solidFill>
          <a:ln w="496">
            <a:solidFill>
              <a:srgbClr val="FFCB09"/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313916" y="1560531"/>
            <a:ext cx="516167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B09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CRA</a:t>
            </a:r>
            <a:endParaRPr lang="en-US" sz="1800" dirty="0">
              <a:latin typeface="Indosat Bold Bold" pitchFamily="2" charset="77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3936206" y="1947381"/>
            <a:ext cx="1271588" cy="257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Containment &amp; Response Agent</a:t>
            </a:r>
            <a:endParaRPr lang="en-US" sz="837" dirty="0">
              <a:latin typeface="Indosat Bold Bold" pitchFamily="2" charset="77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3936206" y="2359265"/>
            <a:ext cx="1271588" cy="2253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Autonomous response and remediation actions</a:t>
            </a:r>
            <a:endParaRPr lang="en-US" sz="732" dirty="0">
              <a:latin typeface="Indosat Bold Bold" pitchFamily="2" charset="77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4458187" y="2747913"/>
            <a:ext cx="227626" cy="24237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575" b="1" dirty="0">
                <a:solidFill>
                  <a:srgbClr val="FFCB09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5s</a:t>
            </a:r>
            <a:endParaRPr lang="en-US" sz="1575" dirty="0">
              <a:latin typeface="Indosat Bold Bold" pitchFamily="2" charset="77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5457825" y="1348988"/>
            <a:ext cx="1485900" cy="2117313"/>
          </a:xfrm>
          <a:prstGeom prst="rect">
            <a:avLst/>
          </a:prstGeom>
          <a:solidFill>
            <a:srgbClr val="F8F8F8"/>
          </a:solidFill>
          <a:ln w="496">
            <a:solidFill>
              <a:srgbClr val="C7158D"/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5953912" y="1560531"/>
            <a:ext cx="493725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7158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CLA</a:t>
            </a:r>
            <a:endParaRPr lang="en-US" sz="1800" dirty="0">
              <a:latin typeface="Indosat Bold Bold" pitchFamily="2" charset="77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5564981" y="1947381"/>
            <a:ext cx="1271588" cy="257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Continuous Learning Agent</a:t>
            </a:r>
            <a:endParaRPr lang="en-US" sz="837" dirty="0">
              <a:latin typeface="Indosat Bold Bold" pitchFamily="2" charset="77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5564981" y="2359265"/>
            <a:ext cx="1271588" cy="2253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Reinforcement learning from every incident</a:t>
            </a:r>
            <a:endParaRPr lang="en-US" sz="732" dirty="0">
              <a:latin typeface="Indosat Bold Bold" pitchFamily="2" charset="77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5966736" y="2747913"/>
            <a:ext cx="468077" cy="24237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575" b="1" dirty="0">
                <a:solidFill>
                  <a:srgbClr val="C7158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24/7</a:t>
            </a:r>
            <a:endParaRPr lang="en-US" sz="1575" dirty="0">
              <a:latin typeface="Indosat Bold Bold" pitchFamily="2" charset="77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7086600" y="1348988"/>
            <a:ext cx="1485900" cy="2117313"/>
          </a:xfrm>
          <a:prstGeom prst="rect">
            <a:avLst/>
          </a:prstGeom>
          <a:solidFill>
            <a:srgbClr val="F8F8F8"/>
          </a:solidFill>
          <a:ln w="496">
            <a:solidFill>
              <a:srgbClr val="EE1C24"/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7574672" y="1560531"/>
            <a:ext cx="509755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E1C24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RVA</a:t>
            </a:r>
            <a:endParaRPr lang="en-US" sz="1800" dirty="0">
              <a:latin typeface="Indosat Bold Bold" pitchFamily="2" charset="77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7193756" y="2011789"/>
            <a:ext cx="1271588" cy="1288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Risk &amp; Validation Agent</a:t>
            </a:r>
            <a:endParaRPr lang="en-US" sz="837" dirty="0">
              <a:latin typeface="Indosat Bold Bold" pitchFamily="2" charset="77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7193756" y="2359265"/>
            <a:ext cx="1271588" cy="2253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Validates responses and assesses risk levels</a:t>
            </a:r>
            <a:endParaRPr lang="en-US" sz="732" dirty="0">
              <a:latin typeface="Indosat Bold Bold" pitchFamily="2" charset="77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7657227" y="2747913"/>
            <a:ext cx="344645" cy="24237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575" b="1" dirty="0">
                <a:solidFill>
                  <a:srgbClr val="EE1C24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ISO</a:t>
            </a:r>
            <a:endParaRPr lang="en-US" sz="1575" dirty="0">
              <a:latin typeface="Indosat Bold Bold" pitchFamily="2" charset="77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7712531" y="3035097"/>
            <a:ext cx="234038" cy="9663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628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42001</a:t>
            </a:r>
            <a:endParaRPr lang="en-US" sz="628" dirty="0">
              <a:latin typeface="Indosat Bold Bold" pitchFamily="2" charset="77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3869884" y="3593536"/>
            <a:ext cx="1404231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Total Response Time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3302421" y="3771363"/>
            <a:ext cx="2539157" cy="4847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3150" b="1" dirty="0">
                <a:solidFill>
                  <a:srgbClr val="EC008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≈65 seconds</a:t>
            </a:r>
            <a:endParaRPr lang="en-US" sz="3150" dirty="0">
              <a:latin typeface="Indosat Bold Bold" pitchFamily="2" charset="77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3171776" y="4291090"/>
            <a:ext cx="2800447" cy="1905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38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vs 194 days for traditional solutions</a:t>
            </a:r>
            <a:endParaRPr lang="en-US" sz="1238" dirty="0">
              <a:latin typeface="Indosat Bold Bold" pitchFamily="2" charset="77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1599519" y="4554641"/>
            <a:ext cx="468077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Platform</a:t>
            </a:r>
            <a:endParaRPr lang="en-US" sz="837" dirty="0">
              <a:latin typeface="Indosat Bold Bold" pitchFamily="2" charset="77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1235638" y="4786638"/>
            <a:ext cx="1195840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C008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Google Cloud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4300277" y="4554641"/>
            <a:ext cx="543417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Local LLM</a:t>
            </a:r>
            <a:endParaRPr lang="en-US" sz="837" dirty="0">
              <a:latin typeface="Indosat Bold Bold" pitchFamily="2" charset="77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3785713" y="4786638"/>
            <a:ext cx="1572546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C008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Bahasa Indonesia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6972194" y="4554641"/>
            <a:ext cx="676467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Governance</a:t>
            </a:r>
            <a:endParaRPr lang="en-US" sz="837" dirty="0">
              <a:latin typeface="Indosat Bold Bold" pitchFamily="2" charset="77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6561024" y="4786638"/>
            <a:ext cx="1498807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C008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ISO 42001-Ready</a:t>
            </a:r>
            <a:endParaRPr lang="en-US" sz="1350" dirty="0">
              <a:latin typeface="Indosat Bold Bold" pitchFamily="2" charset="7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457325"/>
          </a:xfrm>
          <a:prstGeom prst="rect">
            <a:avLst/>
          </a:prstGeom>
          <a:solidFill>
            <a:srgbClr val="C7158D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4" name="Text 1"/>
          <p:cNvSpPr/>
          <p:nvPr/>
        </p:nvSpPr>
        <p:spPr>
          <a:xfrm>
            <a:off x="285750" y="313164"/>
            <a:ext cx="8572500" cy="83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Execution Roadmap: 5 Phases to Market Leadership</a:t>
            </a:r>
            <a:endParaRPr lang="en-US" sz="2700" dirty="0">
              <a:latin typeface="Indosat Bold Bold" pitchFamily="2" charset="77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71500" y="1511575"/>
            <a:ext cx="1514475" cy="2168770"/>
          </a:xfrm>
          <a:prstGeom prst="rect">
            <a:avLst/>
          </a:prstGeom>
          <a:solidFill>
            <a:srgbClr val="F8F8F8"/>
          </a:solidFill>
          <a:ln w="496">
            <a:solidFill>
              <a:srgbClr val="24BDAD"/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6" name="Text 3"/>
          <p:cNvSpPr/>
          <p:nvPr/>
        </p:nvSpPr>
        <p:spPr>
          <a:xfrm>
            <a:off x="1159621" y="1687400"/>
            <a:ext cx="338233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4BDA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1-2</a:t>
            </a:r>
            <a:endParaRPr lang="en-US" sz="1800" dirty="0">
              <a:latin typeface="Indosat Bold Bold" pitchFamily="2" charset="77"/>
            </a:endParaRPr>
          </a:p>
        </p:txBody>
      </p:sp>
      <p:sp>
        <p:nvSpPr>
          <p:cNvPr id="7" name="Text 4"/>
          <p:cNvSpPr/>
          <p:nvPr/>
        </p:nvSpPr>
        <p:spPr>
          <a:xfrm>
            <a:off x="929590" y="2067830"/>
            <a:ext cx="798295" cy="1905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38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Prototype</a:t>
            </a:r>
            <a:endParaRPr lang="en-US" sz="1238" dirty="0">
              <a:latin typeface="Indosat Bold Bold" pitchFamily="2" charset="77"/>
            </a:endParaRPr>
          </a:p>
        </p:txBody>
      </p:sp>
      <p:sp>
        <p:nvSpPr>
          <p:cNvPr id="8" name="Text 5"/>
          <p:cNvSpPr/>
          <p:nvPr/>
        </p:nvSpPr>
        <p:spPr>
          <a:xfrm>
            <a:off x="956039" y="2335837"/>
            <a:ext cx="745397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Jun-Oct 2025</a:t>
            </a:r>
            <a:endParaRPr lang="en-US" sz="837" dirty="0">
              <a:latin typeface="Indosat Bold Bold" pitchFamily="2" charset="77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57225" y="2571696"/>
            <a:ext cx="1343025" cy="235744"/>
          </a:xfrm>
          <a:prstGeom prst="rect">
            <a:avLst/>
          </a:prstGeom>
          <a:solidFill>
            <a:srgbClr val="24BDAD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631" y="2639562"/>
            <a:ext cx="103584" cy="10001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65526" y="2633238"/>
            <a:ext cx="629980" cy="1126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b="1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COMPLETED </a:t>
            </a:r>
            <a:endParaRPr lang="en-US" sz="732" dirty="0">
              <a:latin typeface="Indosat Bold Bold" pitchFamily="2" charset="77"/>
            </a:endParaRPr>
          </a:p>
        </p:txBody>
      </p:sp>
      <p:sp>
        <p:nvSpPr>
          <p:cNvPr id="12" name="Text 8"/>
          <p:cNvSpPr/>
          <p:nvPr/>
        </p:nvSpPr>
        <p:spPr>
          <a:xfrm>
            <a:off x="657225" y="2906486"/>
            <a:ext cx="1324080" cy="1126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32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• Multi-agent platform built</a:t>
            </a:r>
            <a:endParaRPr lang="en-US" sz="732" dirty="0">
              <a:latin typeface="Indosat Bold Bold" pitchFamily="2" charset="77"/>
            </a:endParaRPr>
          </a:p>
        </p:txBody>
      </p:sp>
      <p:sp>
        <p:nvSpPr>
          <p:cNvPr id="13" name="Text 9"/>
          <p:cNvSpPr/>
          <p:nvPr/>
        </p:nvSpPr>
        <p:spPr>
          <a:xfrm>
            <a:off x="657225" y="3046487"/>
            <a:ext cx="1221488" cy="1126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32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• GCP deployment ready</a:t>
            </a:r>
            <a:endParaRPr lang="en-US" sz="732" dirty="0">
              <a:latin typeface="Indosat Bold Bold" pitchFamily="2" charset="77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657225" y="3186488"/>
            <a:ext cx="1040349" cy="1126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32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• Core AI capabilities </a:t>
            </a:r>
            <a:endParaRPr lang="en-US" sz="732" dirty="0">
              <a:latin typeface="Indosat Bold Bold" pitchFamily="2" charset="77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657225" y="3326488"/>
            <a:ext cx="477695" cy="1126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32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validated </a:t>
            </a:r>
            <a:endParaRPr lang="en-US" sz="732" dirty="0">
              <a:latin typeface="Indosat Bold Bold" pitchFamily="2" charset="77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2193131" y="1511575"/>
            <a:ext cx="1514475" cy="2168770"/>
          </a:xfrm>
          <a:prstGeom prst="rect">
            <a:avLst/>
          </a:prstGeom>
          <a:solidFill>
            <a:srgbClr val="F8F8F8"/>
          </a:solidFill>
          <a:ln w="496">
            <a:solidFill>
              <a:srgbClr val="EC008C"/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2883042" y="1687400"/>
            <a:ext cx="134652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C008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3</a:t>
            </a:r>
            <a:endParaRPr lang="en-US" sz="1800" dirty="0">
              <a:latin typeface="Indosat Bold Bold" pitchFamily="2" charset="77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2652210" y="2067830"/>
            <a:ext cx="596317" cy="1905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38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Piloting</a:t>
            </a:r>
            <a:endParaRPr lang="en-US" sz="1238" dirty="0">
              <a:latin typeface="Indosat Bold Bold" pitchFamily="2" charset="77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2708315" y="2335837"/>
            <a:ext cx="484107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Oct 2025</a:t>
            </a:r>
            <a:endParaRPr lang="en-US" sz="837" dirty="0">
              <a:latin typeface="Indosat Bold Bold" pitchFamily="2" charset="77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2278856" y="2571696"/>
            <a:ext cx="1343025" cy="235744"/>
          </a:xfrm>
          <a:prstGeom prst="rect">
            <a:avLst/>
          </a:prstGeom>
          <a:solidFill>
            <a:srgbClr val="EC008C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4496" y="2639562"/>
            <a:ext cx="103584" cy="10001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2668736" y="2633238"/>
            <a:ext cx="666849" cy="1126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b="1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IN PROGRESS </a:t>
            </a:r>
            <a:endParaRPr lang="en-US" sz="732" dirty="0">
              <a:latin typeface="Indosat Bold Bold" pitchFamily="2" charset="77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2278856" y="2906486"/>
            <a:ext cx="908903" cy="1126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32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• 3 pilot customers</a:t>
            </a:r>
            <a:endParaRPr lang="en-US" sz="732" dirty="0">
              <a:latin typeface="Indosat Bold Bold" pitchFamily="2" charset="77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2278856" y="3046487"/>
            <a:ext cx="1213474" cy="1126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32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• Performance validation</a:t>
            </a:r>
            <a:endParaRPr lang="en-US" sz="732" dirty="0">
              <a:latin typeface="Indosat Bold Bold" pitchFamily="2" charset="77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2278856" y="3186488"/>
            <a:ext cx="1000274" cy="1126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32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• Product-market fit </a:t>
            </a:r>
            <a:endParaRPr lang="en-US" sz="732" dirty="0">
              <a:latin typeface="Indosat Bold Bold" pitchFamily="2" charset="77"/>
            </a:endParaRPr>
          </a:p>
        </p:txBody>
      </p:sp>
      <p:sp>
        <p:nvSpPr>
          <p:cNvPr id="26" name="Shape 21"/>
          <p:cNvSpPr/>
          <p:nvPr/>
        </p:nvSpPr>
        <p:spPr>
          <a:xfrm>
            <a:off x="3814763" y="1511575"/>
            <a:ext cx="1514475" cy="2168770"/>
          </a:xfrm>
          <a:prstGeom prst="rect">
            <a:avLst/>
          </a:prstGeom>
          <a:solidFill>
            <a:srgbClr val="F8F8F8"/>
          </a:solidFill>
          <a:ln w="496">
            <a:solidFill>
              <a:srgbClr val="FFCB09"/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7" name="Text 22"/>
          <p:cNvSpPr/>
          <p:nvPr/>
        </p:nvSpPr>
        <p:spPr>
          <a:xfrm>
            <a:off x="4500666" y="1687400"/>
            <a:ext cx="142668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B09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4</a:t>
            </a:r>
            <a:endParaRPr lang="en-US" sz="1800" dirty="0">
              <a:latin typeface="Indosat Bold Bold" pitchFamily="2" charset="77"/>
            </a:endParaRPr>
          </a:p>
        </p:txBody>
      </p:sp>
      <p:sp>
        <p:nvSpPr>
          <p:cNvPr id="28" name="Text 23"/>
          <p:cNvSpPr/>
          <p:nvPr/>
        </p:nvSpPr>
        <p:spPr>
          <a:xfrm>
            <a:off x="4292276" y="2067830"/>
            <a:ext cx="559449" cy="1905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38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Rollout</a:t>
            </a:r>
            <a:endParaRPr lang="en-US" sz="1238" dirty="0">
              <a:latin typeface="Indosat Bold Bold" pitchFamily="2" charset="77"/>
            </a:endParaRPr>
          </a:p>
        </p:txBody>
      </p:sp>
      <p:sp>
        <p:nvSpPr>
          <p:cNvPr id="29" name="Text 24"/>
          <p:cNvSpPr/>
          <p:nvPr/>
        </p:nvSpPr>
        <p:spPr>
          <a:xfrm>
            <a:off x="4349984" y="2335837"/>
            <a:ext cx="444032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Q4 2025</a:t>
            </a:r>
            <a:endParaRPr lang="en-US" sz="837" dirty="0">
              <a:latin typeface="Indosat Bold Bold" pitchFamily="2" charset="77"/>
            </a:endParaRPr>
          </a:p>
        </p:txBody>
      </p:sp>
      <p:sp>
        <p:nvSpPr>
          <p:cNvPr id="30" name="Shape 25"/>
          <p:cNvSpPr/>
          <p:nvPr/>
        </p:nvSpPr>
        <p:spPr>
          <a:xfrm>
            <a:off x="3900488" y="2571696"/>
            <a:ext cx="1343025" cy="235744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31" name="Text 26"/>
          <p:cNvSpPr/>
          <p:nvPr/>
        </p:nvSpPr>
        <p:spPr>
          <a:xfrm>
            <a:off x="3900488" y="2581685"/>
            <a:ext cx="1343025" cy="215765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marL="0" indent="0" algn="ctr">
              <a:buNone/>
            </a:pPr>
            <a:r>
              <a:rPr lang="en-US" sz="732" b="1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UPCOMING </a:t>
            </a:r>
            <a:endParaRPr lang="en-US" sz="732" dirty="0">
              <a:latin typeface="Indosat Bold Bold" pitchFamily="2" charset="77"/>
            </a:endParaRPr>
          </a:p>
        </p:txBody>
      </p:sp>
      <p:sp>
        <p:nvSpPr>
          <p:cNvPr id="32" name="Text 27"/>
          <p:cNvSpPr/>
          <p:nvPr/>
        </p:nvSpPr>
        <p:spPr>
          <a:xfrm>
            <a:off x="3900488" y="2906486"/>
            <a:ext cx="1221488" cy="1126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32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• Production deployment</a:t>
            </a:r>
            <a:endParaRPr lang="en-US" sz="732" dirty="0">
              <a:latin typeface="Indosat Bold Bold" pitchFamily="2" charset="77"/>
            </a:endParaRPr>
          </a:p>
        </p:txBody>
      </p:sp>
      <p:sp>
        <p:nvSpPr>
          <p:cNvPr id="33" name="Text 28"/>
          <p:cNvSpPr/>
          <p:nvPr/>
        </p:nvSpPr>
        <p:spPr>
          <a:xfrm>
            <a:off x="3900488" y="3046487"/>
            <a:ext cx="1106072" cy="1126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32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• Infrastructure scaling</a:t>
            </a:r>
            <a:endParaRPr lang="en-US" sz="732" dirty="0">
              <a:latin typeface="Indosat Bold Bold" pitchFamily="2" charset="77"/>
            </a:endParaRPr>
          </a:p>
        </p:txBody>
      </p:sp>
      <p:sp>
        <p:nvSpPr>
          <p:cNvPr id="34" name="Text 29"/>
          <p:cNvSpPr/>
          <p:nvPr/>
        </p:nvSpPr>
        <p:spPr>
          <a:xfrm>
            <a:off x="3900488" y="3186488"/>
            <a:ext cx="1155766" cy="1126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32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• Security certifications </a:t>
            </a:r>
            <a:endParaRPr lang="en-US" sz="732" dirty="0">
              <a:latin typeface="Indosat Bold Bold" pitchFamily="2" charset="77"/>
            </a:endParaRPr>
          </a:p>
        </p:txBody>
      </p:sp>
      <p:sp>
        <p:nvSpPr>
          <p:cNvPr id="35" name="Shape 30"/>
          <p:cNvSpPr/>
          <p:nvPr/>
        </p:nvSpPr>
        <p:spPr>
          <a:xfrm>
            <a:off x="5436394" y="1511575"/>
            <a:ext cx="1514475" cy="2168770"/>
          </a:xfrm>
          <a:prstGeom prst="rect">
            <a:avLst/>
          </a:prstGeom>
          <a:solidFill>
            <a:srgbClr val="F8F8F8"/>
          </a:solidFill>
          <a:ln w="496">
            <a:solidFill>
              <a:srgbClr val="C7158D"/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36" name="Text 31"/>
          <p:cNvSpPr/>
          <p:nvPr/>
        </p:nvSpPr>
        <p:spPr>
          <a:xfrm>
            <a:off x="6125503" y="1687400"/>
            <a:ext cx="136256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7158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5</a:t>
            </a:r>
            <a:endParaRPr lang="en-US" sz="1800" dirty="0">
              <a:latin typeface="Indosat Bold Bold" pitchFamily="2" charset="77"/>
            </a:endParaRPr>
          </a:p>
        </p:txBody>
      </p:sp>
      <p:sp>
        <p:nvSpPr>
          <p:cNvPr id="37" name="Text 32"/>
          <p:cNvSpPr/>
          <p:nvPr/>
        </p:nvSpPr>
        <p:spPr>
          <a:xfrm>
            <a:off x="5634183" y="2067830"/>
            <a:ext cx="1118896" cy="1905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38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Go-to-Market</a:t>
            </a:r>
            <a:endParaRPr lang="en-US" sz="1238" dirty="0">
              <a:latin typeface="Indosat Bold Bold" pitchFamily="2" charset="77"/>
            </a:endParaRPr>
          </a:p>
        </p:txBody>
      </p:sp>
      <p:sp>
        <p:nvSpPr>
          <p:cNvPr id="38" name="Text 33"/>
          <p:cNvSpPr/>
          <p:nvPr/>
        </p:nvSpPr>
        <p:spPr>
          <a:xfrm>
            <a:off x="5986844" y="2335837"/>
            <a:ext cx="413575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Q1 2026</a:t>
            </a:r>
            <a:endParaRPr lang="en-US" sz="837" dirty="0">
              <a:latin typeface="Indosat Bold Bold" pitchFamily="2" charset="77"/>
            </a:endParaRPr>
          </a:p>
        </p:txBody>
      </p:sp>
      <p:sp>
        <p:nvSpPr>
          <p:cNvPr id="39" name="Shape 34"/>
          <p:cNvSpPr/>
          <p:nvPr/>
        </p:nvSpPr>
        <p:spPr>
          <a:xfrm>
            <a:off x="5522119" y="2571696"/>
            <a:ext cx="1343025" cy="235744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40" name="Text 35"/>
          <p:cNvSpPr/>
          <p:nvPr/>
        </p:nvSpPr>
        <p:spPr>
          <a:xfrm>
            <a:off x="5522119" y="2581685"/>
            <a:ext cx="1343025" cy="215765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marL="0" indent="0" algn="ctr">
              <a:buNone/>
            </a:pPr>
            <a:r>
              <a:rPr lang="en-US" sz="732" b="1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UPCOMING </a:t>
            </a:r>
            <a:endParaRPr lang="en-US" sz="732" dirty="0">
              <a:latin typeface="Indosat Bold Bold" pitchFamily="2" charset="77"/>
            </a:endParaRPr>
          </a:p>
        </p:txBody>
      </p:sp>
      <p:sp>
        <p:nvSpPr>
          <p:cNvPr id="41" name="Text 36"/>
          <p:cNvSpPr/>
          <p:nvPr/>
        </p:nvSpPr>
        <p:spPr>
          <a:xfrm>
            <a:off x="5522119" y="2906486"/>
            <a:ext cx="1040349" cy="1126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32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• Commercial launch</a:t>
            </a:r>
            <a:endParaRPr lang="en-US" sz="732" dirty="0">
              <a:latin typeface="Indosat Bold Bold" pitchFamily="2" charset="77"/>
            </a:endParaRPr>
          </a:p>
        </p:txBody>
      </p:sp>
      <p:sp>
        <p:nvSpPr>
          <p:cNvPr id="42" name="Text 37"/>
          <p:cNvSpPr/>
          <p:nvPr/>
        </p:nvSpPr>
        <p:spPr>
          <a:xfrm>
            <a:off x="5522119" y="3046487"/>
            <a:ext cx="1114088" cy="1126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32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• Customer acquisition</a:t>
            </a:r>
            <a:endParaRPr lang="en-US" sz="732" dirty="0">
              <a:latin typeface="Indosat Bold Bold" pitchFamily="2" charset="77"/>
            </a:endParaRPr>
          </a:p>
        </p:txBody>
      </p:sp>
      <p:sp>
        <p:nvSpPr>
          <p:cNvPr id="43" name="Text 38"/>
          <p:cNvSpPr/>
          <p:nvPr/>
        </p:nvSpPr>
        <p:spPr>
          <a:xfrm>
            <a:off x="5522119" y="3186488"/>
            <a:ext cx="977832" cy="1126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32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• Market expansion </a:t>
            </a:r>
            <a:endParaRPr lang="en-US" sz="732" dirty="0">
              <a:latin typeface="Indosat Bold Bold" pitchFamily="2" charset="77"/>
            </a:endParaRPr>
          </a:p>
        </p:txBody>
      </p:sp>
      <p:sp>
        <p:nvSpPr>
          <p:cNvPr id="44" name="Shape 39"/>
          <p:cNvSpPr/>
          <p:nvPr/>
        </p:nvSpPr>
        <p:spPr>
          <a:xfrm>
            <a:off x="7058025" y="1511575"/>
            <a:ext cx="1514475" cy="2168770"/>
          </a:xfrm>
          <a:prstGeom prst="rect">
            <a:avLst/>
          </a:prstGeom>
          <a:solidFill>
            <a:srgbClr val="F8F8F8"/>
          </a:solidFill>
          <a:ln w="496">
            <a:solidFill>
              <a:srgbClr val="EE1C24"/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45" name="Text 40"/>
          <p:cNvSpPr/>
          <p:nvPr/>
        </p:nvSpPr>
        <p:spPr>
          <a:xfrm>
            <a:off x="7749539" y="1687400"/>
            <a:ext cx="131446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E1C24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6</a:t>
            </a:r>
            <a:endParaRPr lang="en-US" sz="1800" dirty="0">
              <a:latin typeface="Indosat Bold Bold" pitchFamily="2" charset="77"/>
            </a:endParaRPr>
          </a:p>
        </p:txBody>
      </p:sp>
      <p:sp>
        <p:nvSpPr>
          <p:cNvPr id="46" name="Text 41"/>
          <p:cNvSpPr/>
          <p:nvPr/>
        </p:nvSpPr>
        <p:spPr>
          <a:xfrm>
            <a:off x="7143750" y="2066871"/>
            <a:ext cx="1343025" cy="3810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38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Predictive Twin Fabric</a:t>
            </a:r>
            <a:endParaRPr lang="en-US" sz="1238" dirty="0">
              <a:latin typeface="Indosat Bold Bold" pitchFamily="2" charset="77"/>
            </a:endParaRPr>
          </a:p>
        </p:txBody>
      </p:sp>
      <p:sp>
        <p:nvSpPr>
          <p:cNvPr id="47" name="Text 42"/>
          <p:cNvSpPr/>
          <p:nvPr/>
        </p:nvSpPr>
        <p:spPr>
          <a:xfrm>
            <a:off x="7653359" y="2524421"/>
            <a:ext cx="323807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2026+</a:t>
            </a:r>
            <a:endParaRPr lang="en-US" sz="837" dirty="0">
              <a:latin typeface="Indosat Bold Bold" pitchFamily="2" charset="77"/>
            </a:endParaRPr>
          </a:p>
        </p:txBody>
      </p:sp>
      <p:sp>
        <p:nvSpPr>
          <p:cNvPr id="48" name="Shape 43"/>
          <p:cNvSpPr/>
          <p:nvPr/>
        </p:nvSpPr>
        <p:spPr>
          <a:xfrm>
            <a:off x="7143750" y="2760280"/>
            <a:ext cx="1343025" cy="235744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49" name="Text 44"/>
          <p:cNvSpPr/>
          <p:nvPr/>
        </p:nvSpPr>
        <p:spPr>
          <a:xfrm>
            <a:off x="7143750" y="2770269"/>
            <a:ext cx="1343025" cy="215765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marL="0" indent="0" algn="ctr">
              <a:buNone/>
            </a:pPr>
            <a:r>
              <a:rPr lang="en-US" sz="732" b="1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UPCOMING </a:t>
            </a:r>
            <a:endParaRPr lang="en-US" sz="732" dirty="0">
              <a:latin typeface="Indosat Bold Bold" pitchFamily="2" charset="77"/>
            </a:endParaRPr>
          </a:p>
        </p:txBody>
      </p:sp>
      <p:sp>
        <p:nvSpPr>
          <p:cNvPr id="50" name="Text 45"/>
          <p:cNvSpPr/>
          <p:nvPr/>
        </p:nvSpPr>
        <p:spPr>
          <a:xfrm>
            <a:off x="7143750" y="3095070"/>
            <a:ext cx="1357744" cy="1126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32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• Predictive threat modeling</a:t>
            </a:r>
            <a:endParaRPr lang="en-US" sz="732" dirty="0">
              <a:latin typeface="Indosat Bold Bold" pitchFamily="2" charset="77"/>
            </a:endParaRPr>
          </a:p>
        </p:txBody>
      </p:sp>
      <p:sp>
        <p:nvSpPr>
          <p:cNvPr id="51" name="Text 46"/>
          <p:cNvSpPr/>
          <p:nvPr/>
        </p:nvSpPr>
        <p:spPr>
          <a:xfrm>
            <a:off x="7143750" y="3235071"/>
            <a:ext cx="1162178" cy="1126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32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• Digital twin simulation</a:t>
            </a:r>
            <a:endParaRPr lang="en-US" sz="732" dirty="0">
              <a:latin typeface="Indosat Bold Bold" pitchFamily="2" charset="77"/>
            </a:endParaRPr>
          </a:p>
        </p:txBody>
      </p:sp>
      <p:sp>
        <p:nvSpPr>
          <p:cNvPr id="52" name="Text 47"/>
          <p:cNvSpPr/>
          <p:nvPr/>
        </p:nvSpPr>
        <p:spPr>
          <a:xfrm>
            <a:off x="7143750" y="3375071"/>
            <a:ext cx="1138132" cy="1126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32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• Platform extensibility </a:t>
            </a:r>
            <a:endParaRPr lang="en-US" sz="732" dirty="0">
              <a:latin typeface="Indosat Bold Bold" pitchFamily="2" charset="77"/>
            </a:endParaRPr>
          </a:p>
        </p:txBody>
      </p:sp>
      <p:sp>
        <p:nvSpPr>
          <p:cNvPr id="53" name="Shape 48"/>
          <p:cNvSpPr/>
          <p:nvPr/>
        </p:nvSpPr>
        <p:spPr>
          <a:xfrm>
            <a:off x="571500" y="3872501"/>
            <a:ext cx="8001000" cy="1250156"/>
          </a:xfrm>
          <a:prstGeom prst="rect">
            <a:avLst/>
          </a:prstGeom>
          <a:solidFill>
            <a:srgbClr val="2C2C2C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54" name="Text 49"/>
          <p:cNvSpPr/>
          <p:nvPr/>
        </p:nvSpPr>
        <p:spPr>
          <a:xfrm>
            <a:off x="857250" y="4111527"/>
            <a:ext cx="1966885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CB09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Immediate Next Steps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55" name="Text 50"/>
          <p:cNvSpPr/>
          <p:nvPr/>
        </p:nvSpPr>
        <p:spPr>
          <a:xfrm>
            <a:off x="857250" y="4518803"/>
            <a:ext cx="7429500" cy="3218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Complete pilot validation → Deploy to production environment → Launch commercial operations with initial customer base → Scale to target market segments </a:t>
            </a:r>
            <a:endParaRPr lang="en-US" sz="1046" dirty="0">
              <a:latin typeface="Indosat Bold Bold" pitchFamily="2" charset="7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0193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785938"/>
          </a:xfrm>
          <a:prstGeom prst="rect">
            <a:avLst/>
          </a:prstGeom>
          <a:solidFill>
            <a:srgbClr val="C7158D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4" name="Text 1"/>
          <p:cNvSpPr/>
          <p:nvPr/>
        </p:nvSpPr>
        <p:spPr>
          <a:xfrm>
            <a:off x="285750" y="313164"/>
            <a:ext cx="8572500" cy="83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GATRA's Evolution: Product to Platform to Infrastructure</a:t>
            </a:r>
            <a:endParaRPr lang="en-US" sz="2700" dirty="0">
              <a:latin typeface="Indosat Bold Bold" pitchFamily="2" charset="77"/>
            </a:endParaRPr>
          </a:p>
        </p:txBody>
      </p:sp>
      <p:sp>
        <p:nvSpPr>
          <p:cNvPr id="5" name="Text 2"/>
          <p:cNvSpPr/>
          <p:nvPr/>
        </p:nvSpPr>
        <p:spPr>
          <a:xfrm>
            <a:off x="285750" y="1339163"/>
            <a:ext cx="4599016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>
                    <a:alpha val="95000"/>
                  </a:srgbClr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From Product to Platform to National Defense Layer 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71500" y="2143125"/>
            <a:ext cx="2476481" cy="2630184"/>
          </a:xfrm>
          <a:prstGeom prst="rect">
            <a:avLst/>
          </a:prstGeom>
          <a:solidFill>
            <a:srgbClr val="F8F8F8"/>
          </a:solidFill>
          <a:ln w="595">
            <a:solidFill>
              <a:srgbClr val="24BDAD"/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7" name="Text 4"/>
          <p:cNvSpPr/>
          <p:nvPr/>
        </p:nvSpPr>
        <p:spPr>
          <a:xfrm>
            <a:off x="1465095" y="2382151"/>
            <a:ext cx="689291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4BDAD">
                    <a:alpha val="70000"/>
                  </a:srgbClr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STAGE 1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8" name="Text 5"/>
          <p:cNvSpPr/>
          <p:nvPr/>
        </p:nvSpPr>
        <p:spPr>
          <a:xfrm>
            <a:off x="1352884" y="2720424"/>
            <a:ext cx="913712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4BDA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Product</a:t>
            </a:r>
            <a:endParaRPr lang="en-US" sz="1800" dirty="0">
              <a:latin typeface="Indosat Bold Bold" pitchFamily="2" charset="77"/>
            </a:endParaRPr>
          </a:p>
        </p:txBody>
      </p:sp>
      <p:sp>
        <p:nvSpPr>
          <p:cNvPr id="9" name="Text 6"/>
          <p:cNvSpPr/>
          <p:nvPr/>
        </p:nvSpPr>
        <p:spPr>
          <a:xfrm>
            <a:off x="714375" y="3199695"/>
            <a:ext cx="2190731" cy="2899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42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AI-powered SOC solution for enterprise customers </a:t>
            </a:r>
            <a:endParaRPr lang="en-US" sz="942" dirty="0">
              <a:latin typeface="Indosat Bold Bold" pitchFamily="2" charset="7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14375" y="3731545"/>
            <a:ext cx="1383392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• Multi-agent AI platform</a:t>
            </a:r>
            <a:endParaRPr lang="en-US" sz="837" dirty="0">
              <a:latin typeface="Indosat Bold Bold" pitchFamily="2" charset="77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14375" y="3937263"/>
            <a:ext cx="1493999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• 65-second response time</a:t>
            </a:r>
            <a:endParaRPr lang="en-US" sz="837" dirty="0">
              <a:latin typeface="Indosat Bold Bold" pitchFamily="2" charset="7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14375" y="4142980"/>
            <a:ext cx="1529265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• Cloud-native deployment</a:t>
            </a:r>
            <a:endParaRPr lang="en-US" sz="837" dirty="0">
              <a:latin typeface="Indosat Bold Bold" pitchFamily="2" charset="77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14375" y="4348698"/>
            <a:ext cx="1529265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• Enterprise-grade security </a:t>
            </a:r>
            <a:endParaRPr lang="en-US" sz="837" dirty="0">
              <a:latin typeface="Indosat Bold Bold" pitchFamily="2" charset="77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333731" y="2143125"/>
            <a:ext cx="2476509" cy="2630184"/>
          </a:xfrm>
          <a:prstGeom prst="rect">
            <a:avLst/>
          </a:prstGeom>
          <a:solidFill>
            <a:srgbClr val="F8F8F8"/>
          </a:solidFill>
          <a:ln w="595">
            <a:solidFill>
              <a:srgbClr val="EC008C"/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208104" y="2382151"/>
            <a:ext cx="727763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C008C">
                    <a:alpha val="70000"/>
                  </a:srgbClr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STAGE 2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067841" y="2720424"/>
            <a:ext cx="1008288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C008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Platform</a:t>
            </a:r>
            <a:endParaRPr lang="en-US" sz="1800" dirty="0">
              <a:latin typeface="Indosat Bold Bold" pitchFamily="2" charset="77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3476606" y="3199695"/>
            <a:ext cx="2190759" cy="2899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42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Extensible security platform for ecosystem partners </a:t>
            </a:r>
            <a:endParaRPr lang="en-US" sz="942" dirty="0">
              <a:latin typeface="Indosat Bold Bold" pitchFamily="2" charset="77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3476606" y="3731545"/>
            <a:ext cx="1325684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• Bahasa Indonesia LLM</a:t>
            </a:r>
            <a:endParaRPr lang="en-US" sz="837" dirty="0">
              <a:latin typeface="Indosat Bold Bold" pitchFamily="2" charset="77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3476606" y="3937263"/>
            <a:ext cx="1245534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• API-first architecture</a:t>
            </a:r>
            <a:endParaRPr lang="en-US" sz="837" dirty="0">
              <a:latin typeface="Indosat Bold Bold" pitchFamily="2" charset="77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3476606" y="4142980"/>
            <a:ext cx="1184620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• Partner integrations</a:t>
            </a:r>
            <a:endParaRPr lang="en-US" sz="837" dirty="0">
              <a:latin typeface="Indosat Bold Bold" pitchFamily="2" charset="77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3476606" y="4348698"/>
            <a:ext cx="1444306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• White-label capabilities </a:t>
            </a:r>
            <a:endParaRPr lang="en-US" sz="837" dirty="0">
              <a:latin typeface="Indosat Bold Bold" pitchFamily="2" charset="77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6095991" y="2143125"/>
            <a:ext cx="2476481" cy="2630184"/>
          </a:xfrm>
          <a:prstGeom prst="rect">
            <a:avLst/>
          </a:prstGeom>
          <a:solidFill>
            <a:srgbClr val="F8F8F8"/>
          </a:solidFill>
          <a:ln w="595">
            <a:solidFill>
              <a:srgbClr val="FFCB09"/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971151" y="2382151"/>
            <a:ext cx="726160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CB09">
                    <a:alpha val="70000"/>
                  </a:srgbClr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STAGE 3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6535936" y="2720424"/>
            <a:ext cx="1596591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B09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Infrastructure</a:t>
            </a:r>
            <a:endParaRPr lang="en-US" sz="1800" dirty="0">
              <a:latin typeface="Indosat Bold Bold" pitchFamily="2" charset="77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6238866" y="3199695"/>
            <a:ext cx="2190731" cy="2899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42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Indonesia's secure AI layer and national defense fabric </a:t>
            </a:r>
            <a:endParaRPr lang="en-US" sz="942" dirty="0">
              <a:latin typeface="Indosat Bold Bold" pitchFamily="2" charset="77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238866" y="3731545"/>
            <a:ext cx="1463542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• Default security for SMEs</a:t>
            </a:r>
            <a:endParaRPr lang="en-US" sz="837" dirty="0">
              <a:latin typeface="Indosat Bold Bold" pitchFamily="2" charset="77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6238866" y="3937263"/>
            <a:ext cx="1583767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• National threat intelligence</a:t>
            </a:r>
            <a:endParaRPr lang="en-US" sz="837" dirty="0">
              <a:latin typeface="Indosat Bold Bold" pitchFamily="2" charset="77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6238866" y="4142980"/>
            <a:ext cx="1388201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• Regulatory compliance</a:t>
            </a:r>
            <a:endParaRPr lang="en-US" sz="837" dirty="0">
              <a:latin typeface="Indosat Bold Bold" pitchFamily="2" charset="77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6238866" y="4348698"/>
            <a:ext cx="1158972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• Digital sovereignty </a:t>
            </a:r>
            <a:endParaRPr lang="en-US" sz="837" dirty="0">
              <a:latin typeface="Indosat Bold Bold" pitchFamily="2" charset="7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385888"/>
          </a:xfrm>
          <a:prstGeom prst="rect">
            <a:avLst/>
          </a:prstGeom>
          <a:solidFill>
            <a:srgbClr val="24BDAD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4" name="Text 1"/>
          <p:cNvSpPr/>
          <p:nvPr/>
        </p:nvSpPr>
        <p:spPr>
          <a:xfrm>
            <a:off x="285750" y="277445"/>
            <a:ext cx="8572500" cy="83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Market Opportunity: $272B Global Market, 24% CAGR Indonesia</a:t>
            </a:r>
            <a:endParaRPr lang="en-US" sz="2700" dirty="0">
              <a:latin typeface="Indosat Bold Bold" pitchFamily="2" charset="77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1500" y="1500555"/>
            <a:ext cx="1973297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Global Cybersecurity Market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6" name="Text 3"/>
          <p:cNvSpPr/>
          <p:nvPr/>
        </p:nvSpPr>
        <p:spPr>
          <a:xfrm>
            <a:off x="571500" y="1702982"/>
            <a:ext cx="1205458" cy="4847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3150" b="1" dirty="0">
                <a:solidFill>
                  <a:srgbClr val="EC008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$272B</a:t>
            </a:r>
            <a:endParaRPr lang="en-US" sz="3150" dirty="0">
              <a:latin typeface="Indosat Bold Bold" pitchFamily="2" charset="77"/>
            </a:endParaRPr>
          </a:p>
        </p:txBody>
      </p:sp>
      <p:sp>
        <p:nvSpPr>
          <p:cNvPr id="7" name="Text 4"/>
          <p:cNvSpPr/>
          <p:nvPr/>
        </p:nvSpPr>
        <p:spPr>
          <a:xfrm>
            <a:off x="571500" y="2214930"/>
            <a:ext cx="1958870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15.1% annual growth globally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8" name="Text 5"/>
          <p:cNvSpPr/>
          <p:nvPr/>
        </p:nvSpPr>
        <p:spPr>
          <a:xfrm>
            <a:off x="571500" y="2572117"/>
            <a:ext cx="1731243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Indonesia Market Growth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9" name="Text 6"/>
          <p:cNvSpPr/>
          <p:nvPr/>
        </p:nvSpPr>
        <p:spPr>
          <a:xfrm>
            <a:off x="571500" y="2774545"/>
            <a:ext cx="2178481" cy="4847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3150" b="1" dirty="0">
                <a:solidFill>
                  <a:srgbClr val="24BDA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24% CAGR</a:t>
            </a:r>
            <a:endParaRPr lang="en-US" sz="3150" dirty="0">
              <a:latin typeface="Indosat Bold Bold" pitchFamily="2" charset="7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71500" y="3286492"/>
            <a:ext cx="2117567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60% faster than global average</a:t>
            </a:r>
            <a:endParaRPr lang="en-US" sz="1046" dirty="0">
              <a:latin typeface="Indosat Bold Bold" pitchFamily="2" charset="77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560113"/>
            <a:ext cx="4168378" cy="15716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98014" y="1498582"/>
            <a:ext cx="2309928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EC008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Competitive Advantages 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13" name="Text 9"/>
          <p:cNvSpPr/>
          <p:nvPr/>
        </p:nvSpPr>
        <p:spPr>
          <a:xfrm>
            <a:off x="5098014" y="1934351"/>
            <a:ext cx="1752083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64M+ Target Market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5098014" y="2244716"/>
            <a:ext cx="3474458" cy="2899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Underserved Indonesian SMEs need affordable cybersecurity</a:t>
            </a:r>
            <a:endParaRPr lang="en-US" sz="942" dirty="0">
              <a:latin typeface="Indosat Bold Bold" pitchFamily="2" charset="77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5098014" y="2865884"/>
            <a:ext cx="2043829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First-Mover Advantage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5098014" y="3158729"/>
            <a:ext cx="3587521" cy="144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2–3-year head start in Indonesian AI cybersecurity market</a:t>
            </a:r>
            <a:endParaRPr lang="en-US" sz="942" dirty="0">
              <a:latin typeface="Indosat Bold Bold" pitchFamily="2" charset="77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5098014" y="3617401"/>
            <a:ext cx="876843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Local LLM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5098014" y="3927767"/>
            <a:ext cx="3474458" cy="2899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Bahasa Indonesia language support for regulatory compliance</a:t>
            </a:r>
            <a:endParaRPr lang="en-US" sz="942" dirty="0">
              <a:latin typeface="Indosat Bold Bold" pitchFamily="2" charset="77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5098014" y="4548935"/>
            <a:ext cx="1824217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Strategic Ecosystem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5098014" y="4841780"/>
            <a:ext cx="2968761" cy="144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Telco/Banking partnerships for rapid distribution</a:t>
            </a:r>
            <a:endParaRPr lang="en-US" sz="942" dirty="0">
              <a:latin typeface="Indosat Bold Bold" pitchFamily="2" charset="7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8012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200150"/>
          </a:xfrm>
          <a:prstGeom prst="rect">
            <a:avLst/>
          </a:prstGeom>
          <a:solidFill>
            <a:srgbClr val="EC008C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4" name="Text 1"/>
          <p:cNvSpPr/>
          <p:nvPr/>
        </p:nvSpPr>
        <p:spPr>
          <a:xfrm>
            <a:off x="285750" y="228020"/>
            <a:ext cx="7067640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The Market Gap: 64M Underserved SMEs</a:t>
            </a:r>
            <a:endParaRPr lang="en-US" sz="2700" dirty="0">
              <a:latin typeface="Indosat Bold Bold" pitchFamily="2" charset="77"/>
            </a:endParaRPr>
          </a:p>
        </p:txBody>
      </p:sp>
      <p:sp>
        <p:nvSpPr>
          <p:cNvPr id="5" name="Text 2"/>
          <p:cNvSpPr/>
          <p:nvPr/>
        </p:nvSpPr>
        <p:spPr>
          <a:xfrm>
            <a:off x="285750" y="789094"/>
            <a:ext cx="4837863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>
                    <a:alpha val="95000"/>
                  </a:srgbClr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The Consequence of Broken Traditional Cybersecurity 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48349" y="1252414"/>
            <a:ext cx="8001000" cy="1483026"/>
          </a:xfrm>
          <a:prstGeom prst="rect">
            <a:avLst/>
          </a:prstGeom>
          <a:solidFill>
            <a:srgbClr val="2C2C2C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7" name="Text 4"/>
          <p:cNvSpPr/>
          <p:nvPr/>
        </p:nvSpPr>
        <p:spPr>
          <a:xfrm>
            <a:off x="1871033" y="1486740"/>
            <a:ext cx="5355632" cy="58862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3825" b="1" dirty="0">
                <a:solidFill>
                  <a:srgbClr val="FFC000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64M Indonesian SMEs</a:t>
            </a:r>
            <a:endParaRPr lang="en-US" sz="3825" dirty="0">
              <a:solidFill>
                <a:srgbClr val="FFC000"/>
              </a:solidFill>
              <a:latin typeface="Indosat Bold Bold" pitchFamily="2" charset="77"/>
            </a:endParaRPr>
          </a:p>
        </p:txBody>
      </p:sp>
      <p:sp>
        <p:nvSpPr>
          <p:cNvPr id="8" name="Text 5"/>
          <p:cNvSpPr/>
          <p:nvPr/>
        </p:nvSpPr>
        <p:spPr>
          <a:xfrm>
            <a:off x="1709931" y="2162608"/>
            <a:ext cx="5677836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are underserved and vulnerable to cyber threats</a:t>
            </a:r>
            <a:endParaRPr lang="en-US" sz="1800" dirty="0">
              <a:latin typeface="Indosat Bold Bold" pitchFamily="2" charset="77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48349" y="2834996"/>
            <a:ext cx="3857625" cy="2286000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5712" y="3136819"/>
            <a:ext cx="342900" cy="3429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61182" y="3664184"/>
            <a:ext cx="831959" cy="4847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3150" b="1" dirty="0">
                <a:solidFill>
                  <a:srgbClr val="EE1C24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70%</a:t>
            </a:r>
            <a:endParaRPr lang="en-US" sz="3150" dirty="0">
              <a:latin typeface="Indosat Bold Bold" pitchFamily="2" charset="77"/>
            </a:endParaRPr>
          </a:p>
        </p:txBody>
      </p:sp>
      <p:sp>
        <p:nvSpPr>
          <p:cNvPr id="12" name="Text 8"/>
          <p:cNvSpPr/>
          <p:nvPr/>
        </p:nvSpPr>
        <p:spPr>
          <a:xfrm>
            <a:off x="1621959" y="4217021"/>
            <a:ext cx="1710405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Business Disruption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13" name="Text 9"/>
          <p:cNvSpPr/>
          <p:nvPr/>
        </p:nvSpPr>
        <p:spPr>
          <a:xfrm>
            <a:off x="762662" y="4545716"/>
            <a:ext cx="3429000" cy="3218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of organizations report significant operational disruption from cyber threats 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4691724" y="2834996"/>
            <a:ext cx="3857625" cy="2286000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9087" y="3136819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883957" y="3664184"/>
            <a:ext cx="1473160" cy="4847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3150" b="1" dirty="0">
                <a:solidFill>
                  <a:srgbClr val="C7158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$4.88M</a:t>
            </a:r>
            <a:endParaRPr lang="en-US" sz="3150" dirty="0">
              <a:latin typeface="Indosat Bold Bold" pitchFamily="2" charset="77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5682780" y="4217021"/>
            <a:ext cx="1875513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Average Breach Cost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4906037" y="4545716"/>
            <a:ext cx="3429000" cy="3218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Global average cost of a data breach, devastating for SMEs 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19" name="Text 25">
            <a:extLst>
              <a:ext uri="{FF2B5EF4-FFF2-40B4-BE49-F238E27FC236}">
                <a16:creationId xmlns:a16="http://schemas.microsoft.com/office/drawing/2014/main" id="{54EE74AB-FB5E-05E1-11DF-6EA828B0AB95}"/>
              </a:ext>
            </a:extLst>
          </p:cNvPr>
          <p:cNvSpPr/>
          <p:nvPr/>
        </p:nvSpPr>
        <p:spPr>
          <a:xfrm>
            <a:off x="4455094" y="2749818"/>
            <a:ext cx="4140557" cy="23609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767" dirty="0">
                <a:solidFill>
                  <a:srgbClr val="95A5A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Primary Source: Indonesia Ministry of Cooperatives &amp; SMEs (Kemenkop UKM, 2024)</a:t>
            </a:r>
            <a:br>
              <a:rPr lang="en-US" sz="767" dirty="0">
                <a:solidFill>
                  <a:srgbClr val="95A5A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</a:br>
            <a:endParaRPr lang="en-US" sz="767" dirty="0">
              <a:latin typeface="Indosat Bold Bold" pitchFamily="2" charset="77"/>
            </a:endParaRPr>
          </a:p>
        </p:txBody>
      </p:sp>
      <p:sp>
        <p:nvSpPr>
          <p:cNvPr id="20" name="Text 25">
            <a:extLst>
              <a:ext uri="{FF2B5EF4-FFF2-40B4-BE49-F238E27FC236}">
                <a16:creationId xmlns:a16="http://schemas.microsoft.com/office/drawing/2014/main" id="{5B859F32-19E8-7D3D-63A1-6B09DFBC0F80}"/>
              </a:ext>
            </a:extLst>
          </p:cNvPr>
          <p:cNvSpPr/>
          <p:nvPr/>
        </p:nvSpPr>
        <p:spPr>
          <a:xfrm>
            <a:off x="534133" y="5002950"/>
            <a:ext cx="2252220" cy="11804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767" dirty="0">
                <a:solidFill>
                  <a:srgbClr val="95A5A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According to IBM’s 2024 Data Breach Report, </a:t>
            </a:r>
            <a:endParaRPr lang="en-US" sz="767" dirty="0">
              <a:latin typeface="Indosat Bold Bold" pitchFamily="2" charset="7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42975"/>
          </a:xfrm>
          <a:prstGeom prst="rect">
            <a:avLst/>
          </a:prstGeom>
          <a:solidFill>
            <a:srgbClr val="FFCB09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4" name="Text 1"/>
          <p:cNvSpPr/>
          <p:nvPr/>
        </p:nvSpPr>
        <p:spPr>
          <a:xfrm>
            <a:off x="285750" y="263739"/>
            <a:ext cx="8537594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b="1" dirty="0">
                <a:latin typeface="Indosat Bold Bold" pitchFamily="2" charset="77"/>
                <a:ea typeface="Noto Sans" pitchFamily="34" charset="-122"/>
                <a:cs typeface="Noto Sans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Revenue Growth Trajectory: IDR 4.5B to IDR 228B</a:t>
            </a:r>
            <a:endParaRPr lang="en-US" sz="2700" dirty="0">
              <a:latin typeface="Indosat Bold Bold" pitchFamily="2" charset="77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997230"/>
            <a:ext cx="7773847" cy="263755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14375" y="3742961"/>
            <a:ext cx="3857625" cy="1400540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7" name="Text 3"/>
          <p:cNvSpPr/>
          <p:nvPr/>
        </p:nvSpPr>
        <p:spPr>
          <a:xfrm>
            <a:off x="785813" y="3868209"/>
            <a:ext cx="2117567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50x Revenue Growth in 5 Years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8" name="Text 4"/>
          <p:cNvSpPr/>
          <p:nvPr/>
        </p:nvSpPr>
        <p:spPr>
          <a:xfrm>
            <a:off x="1420481" y="4186943"/>
            <a:ext cx="355867" cy="144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42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Year 1</a:t>
            </a:r>
            <a:endParaRPr lang="en-US" sz="942" dirty="0">
              <a:latin typeface="Indosat Bold Bold" pitchFamily="2" charset="77"/>
            </a:endParaRPr>
          </a:p>
        </p:txBody>
      </p:sp>
      <p:sp>
        <p:nvSpPr>
          <p:cNvPr id="9" name="Text 5"/>
          <p:cNvSpPr/>
          <p:nvPr/>
        </p:nvSpPr>
        <p:spPr>
          <a:xfrm>
            <a:off x="1060607" y="4385799"/>
            <a:ext cx="1075615" cy="31162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24BDA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IDR 4.5B</a:t>
            </a:r>
            <a:endParaRPr lang="en-US" sz="2025" dirty="0">
              <a:latin typeface="Indosat Bold Bold" pitchFamily="2" charset="77"/>
            </a:endParaRPr>
          </a:p>
        </p:txBody>
      </p:sp>
      <p:sp>
        <p:nvSpPr>
          <p:cNvPr id="10" name="Text 6"/>
          <p:cNvSpPr/>
          <p:nvPr/>
        </p:nvSpPr>
        <p:spPr>
          <a:xfrm>
            <a:off x="1241746" y="4727232"/>
            <a:ext cx="713336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15 customers</a:t>
            </a:r>
            <a:endParaRPr lang="en-US" sz="837" dirty="0">
              <a:latin typeface="Indosat Bold Bold" pitchFamily="2" charset="77"/>
            </a:endParaRPr>
          </a:p>
        </p:txBody>
      </p:sp>
      <p:sp>
        <p:nvSpPr>
          <p:cNvPr id="11" name="Text 7"/>
          <p:cNvSpPr/>
          <p:nvPr/>
        </p:nvSpPr>
        <p:spPr>
          <a:xfrm>
            <a:off x="3211453" y="4186943"/>
            <a:ext cx="381515" cy="144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42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Year 5</a:t>
            </a:r>
            <a:endParaRPr lang="en-US" sz="942" dirty="0">
              <a:latin typeface="Indosat Bold Bold" pitchFamily="2" charset="77"/>
            </a:endParaRPr>
          </a:p>
        </p:txBody>
      </p:sp>
      <p:sp>
        <p:nvSpPr>
          <p:cNvPr id="12" name="Text 8"/>
          <p:cNvSpPr/>
          <p:nvPr/>
        </p:nvSpPr>
        <p:spPr>
          <a:xfrm>
            <a:off x="2833144" y="4385799"/>
            <a:ext cx="1138132" cy="31162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EC008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IDR 228B</a:t>
            </a:r>
            <a:endParaRPr lang="en-US" sz="2025" dirty="0">
              <a:latin typeface="Indosat Bold Bold" pitchFamily="2" charset="77"/>
            </a:endParaRPr>
          </a:p>
        </p:txBody>
      </p:sp>
      <p:sp>
        <p:nvSpPr>
          <p:cNvPr id="13" name="Text 9"/>
          <p:cNvSpPr/>
          <p:nvPr/>
        </p:nvSpPr>
        <p:spPr>
          <a:xfrm>
            <a:off x="3019894" y="4727232"/>
            <a:ext cx="764632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761 customers</a:t>
            </a:r>
            <a:endParaRPr lang="en-US" sz="837" dirty="0">
              <a:latin typeface="Indosat Bold Bold" pitchFamily="2" charset="77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4714875" y="3742961"/>
            <a:ext cx="3857625" cy="1400540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4929188" y="3868209"/>
            <a:ext cx="1583767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Customer Base Scaling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5924741" y="4186943"/>
            <a:ext cx="1437893" cy="144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42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Total Customer Growth</a:t>
            </a:r>
            <a:endParaRPr lang="en-US" sz="942" dirty="0">
              <a:latin typeface="Indosat Bold Bold" pitchFamily="2" charset="77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5968824" y="4391011"/>
            <a:ext cx="1349728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EC008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15 → 761</a:t>
            </a:r>
            <a:endParaRPr lang="en-US" sz="2700" dirty="0">
              <a:latin typeface="Indosat Bold Bold" pitchFamily="2" charset="77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5617766" y="4868334"/>
            <a:ext cx="2051844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50x customer base expansion</a:t>
            </a:r>
            <a:endParaRPr lang="en-US" sz="1046" dirty="0">
              <a:latin typeface="Indosat Bold Bold" pitchFamily="2" charset="7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42975"/>
          </a:xfrm>
          <a:prstGeom prst="rect">
            <a:avLst/>
          </a:prstGeom>
          <a:solidFill>
            <a:srgbClr val="C7158D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4" name="Text 1"/>
          <p:cNvSpPr/>
          <p:nvPr/>
        </p:nvSpPr>
        <p:spPr>
          <a:xfrm>
            <a:off x="285750" y="263739"/>
            <a:ext cx="6633226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Sales Pipeline &amp; Commercial Strategy</a:t>
            </a:r>
            <a:endParaRPr lang="en-US" sz="2700" dirty="0">
              <a:latin typeface="Indosat Bold Bold" pitchFamily="2" charset="77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71500" y="985650"/>
            <a:ext cx="8001000" cy="1243013"/>
          </a:xfrm>
          <a:prstGeom prst="rect">
            <a:avLst/>
          </a:prstGeom>
          <a:solidFill>
            <a:srgbClr val="2C2C2C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6" name="Text 3"/>
          <p:cNvSpPr/>
          <p:nvPr/>
        </p:nvSpPr>
        <p:spPr>
          <a:xfrm>
            <a:off x="3535659" y="1190930"/>
            <a:ext cx="2072682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ARR Target by December 2026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7" name="Text 4"/>
          <p:cNvSpPr/>
          <p:nvPr/>
        </p:nvSpPr>
        <p:spPr>
          <a:xfrm>
            <a:off x="3158953" y="1507657"/>
            <a:ext cx="2826095" cy="4847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3150" b="1" dirty="0">
                <a:solidFill>
                  <a:srgbClr val="FFCB09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USD 150-200K</a:t>
            </a:r>
            <a:endParaRPr lang="en-US" sz="3150" dirty="0">
              <a:latin typeface="Indosat Bold Bold" pitchFamily="2" charset="77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71500" y="2410238"/>
            <a:ext cx="2524116" cy="2714625"/>
          </a:xfrm>
          <a:prstGeom prst="rect">
            <a:avLst/>
          </a:prstGeom>
          <a:solidFill>
            <a:srgbClr val="F8F8F8"/>
          </a:solidFill>
          <a:ln w="595">
            <a:solidFill>
              <a:srgbClr val="24BDAD"/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9" name="Text 6"/>
          <p:cNvSpPr/>
          <p:nvPr/>
        </p:nvSpPr>
        <p:spPr>
          <a:xfrm>
            <a:off x="714375" y="2653382"/>
            <a:ext cx="1875513" cy="24237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575" b="1" dirty="0">
                <a:solidFill>
                  <a:srgbClr val="24BDA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Tier 1: Active Pilots</a:t>
            </a:r>
            <a:endParaRPr lang="en-US" sz="1575" dirty="0">
              <a:latin typeface="Indosat Bold Bold" pitchFamily="2" charset="7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14375" y="3005690"/>
            <a:ext cx="1348126" cy="144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In-progress validation</a:t>
            </a:r>
            <a:endParaRPr lang="en-US" sz="942" dirty="0">
              <a:latin typeface="Indosat Bold Bold" pitchFamily="2" charset="77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14375" y="3401330"/>
            <a:ext cx="1987724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• BNC (Bank Neo Commerce)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14375" y="3715655"/>
            <a:ext cx="2109552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• BTN (Bank Tabungan Negara)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14375" y="4029980"/>
            <a:ext cx="1319272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• Jago (Bank Jago)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14375" y="4344305"/>
            <a:ext cx="1226298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• Blu (BCA Digital)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3309928" y="2410238"/>
            <a:ext cx="2524116" cy="2714625"/>
          </a:xfrm>
          <a:prstGeom prst="rect">
            <a:avLst/>
          </a:prstGeom>
          <a:solidFill>
            <a:srgbClr val="F8F8F8"/>
          </a:solidFill>
          <a:ln w="595">
            <a:solidFill>
              <a:srgbClr val="EC008C"/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3452803" y="2653382"/>
            <a:ext cx="2002151" cy="24237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575" b="1" dirty="0">
                <a:solidFill>
                  <a:srgbClr val="EC008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Tier 2: MOUs Signed</a:t>
            </a:r>
            <a:endParaRPr lang="en-US" sz="1575" dirty="0">
              <a:latin typeface="Indosat Bold Bold" pitchFamily="2" charset="77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3452803" y="3005690"/>
            <a:ext cx="1359346" cy="144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Strategic partnerships</a:t>
            </a:r>
            <a:endParaRPr lang="en-US" sz="942" dirty="0">
              <a:latin typeface="Indosat Bold Bold" pitchFamily="2" charset="77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3452803" y="3449446"/>
            <a:ext cx="2238366" cy="3218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• KomDigi (Ministry of Digital Affairs)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3452803" y="3972830"/>
            <a:ext cx="2191306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• BSSN (National Cyber Agency)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3452803" y="4287155"/>
            <a:ext cx="1643079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• Mandiri (Bank Mandiri)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3452803" y="4601480"/>
            <a:ext cx="1308050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• Telkom Indonesia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6048356" y="2410238"/>
            <a:ext cx="2524144" cy="2671763"/>
          </a:xfrm>
          <a:prstGeom prst="rect">
            <a:avLst/>
          </a:prstGeom>
          <a:solidFill>
            <a:srgbClr val="F8F8F8"/>
          </a:solidFill>
          <a:ln w="595">
            <a:solidFill>
              <a:srgbClr val="FFCB09"/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191231" y="2653382"/>
            <a:ext cx="1663917" cy="24237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575" b="1" dirty="0">
                <a:solidFill>
                  <a:srgbClr val="FFCB09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Tier 3: Prospects</a:t>
            </a:r>
            <a:endParaRPr lang="en-US" sz="1575" dirty="0">
              <a:latin typeface="Indosat Bold Bold" pitchFamily="2" charset="77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6191231" y="3005690"/>
            <a:ext cx="920124" cy="144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Active pipeline</a:t>
            </a:r>
            <a:endParaRPr lang="en-US" sz="942" dirty="0">
              <a:latin typeface="Indosat Bold Bold" pitchFamily="2" charset="77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6191231" y="3401330"/>
            <a:ext cx="711733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• SeaBank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191231" y="3715655"/>
            <a:ext cx="625171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• Kredivo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6191231" y="4029980"/>
            <a:ext cx="671659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• Akulaku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6191231" y="4344305"/>
            <a:ext cx="1311256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• Regional Fintechs</a:t>
            </a:r>
            <a:endParaRPr lang="en-US" sz="1046" dirty="0">
              <a:latin typeface="Indosat Bold Bold" pitchFamily="2" charset="7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4351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42975"/>
          </a:xfrm>
          <a:prstGeom prst="rect">
            <a:avLst/>
          </a:prstGeom>
          <a:solidFill>
            <a:srgbClr val="EC008C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4" name="Text 1"/>
          <p:cNvSpPr/>
          <p:nvPr/>
        </p:nvSpPr>
        <p:spPr>
          <a:xfrm>
            <a:off x="285750" y="263739"/>
            <a:ext cx="6642844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Investment Terms &amp; Financial Returns</a:t>
            </a:r>
            <a:endParaRPr lang="en-US" sz="2700" dirty="0">
              <a:latin typeface="Indosat Bold Bold" pitchFamily="2" charset="77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1500" y="1537096"/>
            <a:ext cx="1620636" cy="1905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Investment Amount</a:t>
            </a:r>
            <a:endParaRPr lang="en-US" sz="1238" dirty="0">
              <a:latin typeface="Indosat Bold Bold" pitchFamily="2" charset="77"/>
            </a:endParaRPr>
          </a:p>
        </p:txBody>
      </p:sp>
      <p:sp>
        <p:nvSpPr>
          <p:cNvPr id="6" name="Text 3"/>
          <p:cNvSpPr/>
          <p:nvPr/>
        </p:nvSpPr>
        <p:spPr>
          <a:xfrm>
            <a:off x="571500" y="1808976"/>
            <a:ext cx="1657505" cy="5539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EC008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IDR 14B</a:t>
            </a:r>
            <a:endParaRPr lang="en-US" sz="3600" dirty="0">
              <a:solidFill>
                <a:srgbClr val="EC008C"/>
              </a:solidFill>
              <a:latin typeface="Indosat Bold Bold" pitchFamily="2" charset="77"/>
            </a:endParaRPr>
          </a:p>
        </p:txBody>
      </p:sp>
      <p:sp>
        <p:nvSpPr>
          <p:cNvPr id="7" name="Text 4"/>
          <p:cNvSpPr/>
          <p:nvPr/>
        </p:nvSpPr>
        <p:spPr>
          <a:xfrm>
            <a:off x="571500" y="2410726"/>
            <a:ext cx="1744067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for 15% equity stake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8" name="Text 5"/>
          <p:cNvSpPr/>
          <p:nvPr/>
        </p:nvSpPr>
        <p:spPr>
          <a:xfrm>
            <a:off x="4750594" y="1537096"/>
            <a:ext cx="857607" cy="1905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5-Year ROI</a:t>
            </a:r>
            <a:endParaRPr lang="en-US" sz="1238" dirty="0">
              <a:latin typeface="Indosat Bold Bold" pitchFamily="2" charset="77"/>
            </a:endParaRPr>
          </a:p>
        </p:txBody>
      </p:sp>
      <p:sp>
        <p:nvSpPr>
          <p:cNvPr id="9" name="Text 6"/>
          <p:cNvSpPr/>
          <p:nvPr/>
        </p:nvSpPr>
        <p:spPr>
          <a:xfrm>
            <a:off x="4750594" y="1808976"/>
            <a:ext cx="1240724" cy="5539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24BDA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225%</a:t>
            </a:r>
            <a:endParaRPr lang="en-US" sz="3600" dirty="0">
              <a:latin typeface="Indosat Bold Bold" pitchFamily="2" charset="7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750594" y="2410726"/>
            <a:ext cx="2603277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Validated financial projection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71500" y="3473052"/>
            <a:ext cx="1221488" cy="1905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Terminal Value</a:t>
            </a:r>
            <a:endParaRPr lang="en-US" sz="1238" dirty="0">
              <a:latin typeface="Indosat Bold Bold" pitchFamily="2" charset="7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71500" y="3744932"/>
            <a:ext cx="1736053" cy="5539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CB09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IDR 1.8T</a:t>
            </a:r>
            <a:endParaRPr lang="en-US" sz="3600" dirty="0">
              <a:latin typeface="Indosat Bold Bold" pitchFamily="2" charset="77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71500" y="4346682"/>
            <a:ext cx="1981312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at 4x revenue multiple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750594" y="3473052"/>
            <a:ext cx="1264770" cy="1905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Payback Period</a:t>
            </a:r>
            <a:endParaRPr lang="en-US" sz="1238" dirty="0">
              <a:latin typeface="Indosat Bold Bold" pitchFamily="2" charset="77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750594" y="3744932"/>
            <a:ext cx="3031279" cy="5539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C7158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12-15 months</a:t>
            </a:r>
            <a:endParaRPr lang="en-US" sz="3600" dirty="0">
              <a:latin typeface="Indosat Bold Bold" pitchFamily="2" charset="77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750594" y="4346682"/>
            <a:ext cx="2082301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Rapid capital efficiency</a:t>
            </a:r>
            <a:endParaRPr lang="en-US" sz="1350" dirty="0">
              <a:latin typeface="Indosat Bold Bold" pitchFamily="2" charset="77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9144000" cy="5165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200150"/>
          </a:xfrm>
          <a:prstGeom prst="rect">
            <a:avLst/>
          </a:prstGeom>
          <a:solidFill>
            <a:srgbClr val="C7158D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4" name="Text 1"/>
          <p:cNvSpPr/>
          <p:nvPr/>
        </p:nvSpPr>
        <p:spPr>
          <a:xfrm>
            <a:off x="285750" y="228020"/>
            <a:ext cx="5174493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Leadership Team: CEO &amp; CTO</a:t>
            </a:r>
            <a:endParaRPr lang="en-US" sz="2700" dirty="0">
              <a:latin typeface="Indosat Bold Bold" pitchFamily="2" charset="77"/>
            </a:endParaRPr>
          </a:p>
        </p:txBody>
      </p:sp>
      <p:sp>
        <p:nvSpPr>
          <p:cNvPr id="5" name="Text 2"/>
          <p:cNvSpPr/>
          <p:nvPr/>
        </p:nvSpPr>
        <p:spPr>
          <a:xfrm>
            <a:off x="285750" y="789094"/>
            <a:ext cx="5222584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>
                    <a:alpha val="95000"/>
                  </a:srgbClr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Enterprise-Grade Experience Building AI Security Solutions 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6" name="Shape 3"/>
          <p:cNvSpPr/>
          <p:nvPr/>
        </p:nvSpPr>
        <p:spPr>
          <a:xfrm>
            <a:off x="1000125" y="1263988"/>
            <a:ext cx="7143750" cy="971550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7" name="Text 4"/>
          <p:cNvSpPr/>
          <p:nvPr/>
        </p:nvSpPr>
        <p:spPr>
          <a:xfrm>
            <a:off x="3645464" y="1367539"/>
            <a:ext cx="1853071" cy="45012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925" b="1" dirty="0">
                <a:solidFill>
                  <a:srgbClr val="EC008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30+ Years</a:t>
            </a:r>
            <a:endParaRPr lang="en-US" sz="2925" dirty="0">
              <a:latin typeface="Indosat Bold Bold" pitchFamily="2" charset="77"/>
            </a:endParaRPr>
          </a:p>
        </p:txBody>
      </p:sp>
      <p:sp>
        <p:nvSpPr>
          <p:cNvPr id="8" name="Text 5"/>
          <p:cNvSpPr/>
          <p:nvPr/>
        </p:nvSpPr>
        <p:spPr>
          <a:xfrm>
            <a:off x="2730951" y="1860201"/>
            <a:ext cx="3682097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Combined Expertise in AI &amp; Cybersecurity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000125" y="2298381"/>
            <a:ext cx="7143750" cy="1338785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214438" y="2382601"/>
            <a:ext cx="1870705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Raditio Ghifiardi</a:t>
            </a:r>
            <a:endParaRPr lang="en-US" sz="1800" dirty="0">
              <a:latin typeface="Indosat Bold Bold" pitchFamily="2" charset="77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214438" y="2774414"/>
            <a:ext cx="1647887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EC008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CEO &amp; Co-Founder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214438" y="3118394"/>
            <a:ext cx="668453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20+ years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884666" y="3118394"/>
            <a:ext cx="5836534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in AI and Cybersecurity. Former enterprise architect at Fortune 500 companies. Deep 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214438" y="3332706"/>
            <a:ext cx="4574970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expertise in AI-driven security solutions and digital transformation. 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1000125" y="3670068"/>
            <a:ext cx="7143750" cy="1338786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214438" y="3800585"/>
            <a:ext cx="2513509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Rendy Darmawidjaja</a:t>
            </a:r>
            <a:endParaRPr lang="en-US" sz="1800" dirty="0">
              <a:latin typeface="Indosat Bold Bold" pitchFamily="2" charset="77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214438" y="4192398"/>
            <a:ext cx="1643079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4BDA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CTO &amp; Co-Founder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214438" y="4536378"/>
            <a:ext cx="629981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12+ years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884666" y="4536378"/>
            <a:ext cx="6221255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as AI/ML Architect. Specialized in building scalable multi-agent systems and cloud-native 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1214438" y="4750690"/>
            <a:ext cx="4063613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platforms. Track record of deploying production AI at scale. </a:t>
            </a:r>
            <a:endParaRPr lang="en-US" sz="1046" dirty="0">
              <a:latin typeface="Indosat Bold Bold" pitchFamily="2" charset="77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200150"/>
          </a:xfrm>
          <a:prstGeom prst="rect">
            <a:avLst/>
          </a:prstGeom>
          <a:solidFill>
            <a:srgbClr val="C7158D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4" name="Text 1"/>
          <p:cNvSpPr/>
          <p:nvPr/>
        </p:nvSpPr>
        <p:spPr>
          <a:xfrm>
            <a:off x="285750" y="228020"/>
            <a:ext cx="5626540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Terminal Value &amp; Exit Pathways</a:t>
            </a:r>
            <a:endParaRPr lang="en-US" sz="2700" dirty="0">
              <a:latin typeface="Indosat Bold Bold" pitchFamily="2" charset="77"/>
            </a:endParaRPr>
          </a:p>
        </p:txBody>
      </p:sp>
      <p:sp>
        <p:nvSpPr>
          <p:cNvPr id="5" name="Text 2"/>
          <p:cNvSpPr/>
          <p:nvPr/>
        </p:nvSpPr>
        <p:spPr>
          <a:xfrm>
            <a:off x="285750" y="789094"/>
            <a:ext cx="4679166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>
                    <a:alpha val="95000"/>
                  </a:srgbClr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Multiple Strategic Exit Options with Strong Valuation 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71500" y="1414463"/>
            <a:ext cx="8001000" cy="1335881"/>
          </a:xfrm>
          <a:prstGeom prst="rect">
            <a:avLst/>
          </a:prstGeom>
          <a:solidFill>
            <a:srgbClr val="2C2C2C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7" name="Text 4"/>
          <p:cNvSpPr/>
          <p:nvPr/>
        </p:nvSpPr>
        <p:spPr>
          <a:xfrm>
            <a:off x="3713592" y="1619742"/>
            <a:ext cx="1716817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Projected Terminal Value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8" name="Text 5"/>
          <p:cNvSpPr/>
          <p:nvPr/>
        </p:nvSpPr>
        <p:spPr>
          <a:xfrm>
            <a:off x="3810574" y="1836457"/>
            <a:ext cx="1522853" cy="4847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3150" b="1" dirty="0">
                <a:solidFill>
                  <a:srgbClr val="FFCB09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IDR 1.8T</a:t>
            </a:r>
            <a:endParaRPr lang="en-US" sz="3150" dirty="0">
              <a:latin typeface="Indosat Bold Bold" pitchFamily="2" charset="77"/>
            </a:endParaRPr>
          </a:p>
        </p:txBody>
      </p:sp>
      <p:sp>
        <p:nvSpPr>
          <p:cNvPr id="9" name="Text 6"/>
          <p:cNvSpPr/>
          <p:nvPr/>
        </p:nvSpPr>
        <p:spPr>
          <a:xfrm>
            <a:off x="3333681" y="2358627"/>
            <a:ext cx="2476639" cy="1905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38" dirty="0">
                <a:solidFill>
                  <a:srgbClr val="FFFFFF">
                    <a:alpha val="90000"/>
                  </a:srgbClr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at 4x revenue multiple (Year 5)</a:t>
            </a:r>
            <a:endParaRPr lang="en-US" sz="1238" dirty="0">
              <a:latin typeface="Indosat Bold Bold" pitchFamily="2" charset="7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000125" y="2838029"/>
            <a:ext cx="2559996" cy="345479"/>
          </a:xfrm>
          <a:prstGeom prst="rect">
            <a:avLst/>
          </a:prstGeom>
          <a:noFill/>
          <a:ln/>
        </p:spPr>
        <p:txBody>
          <a:bodyPr wrap="none" lIns="0" tIns="0" rIns="0" bIns="102108" rtlCol="0" anchor="ctr">
            <a:spAutoFit/>
          </a:bodyPr>
          <a:lstStyle/>
          <a:p>
            <a:pPr marL="0" indent="0">
              <a:buNone/>
            </a:pPr>
            <a:r>
              <a:rPr lang="en-US" sz="1575" b="1" dirty="0">
                <a:solidFill>
                  <a:srgbClr val="EC008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Strategic Exit Pathways </a:t>
            </a:r>
            <a:endParaRPr lang="en-US" sz="1575" dirty="0">
              <a:solidFill>
                <a:srgbClr val="EC008C"/>
              </a:solidFill>
              <a:latin typeface="Indosat Bold Bold" pitchFamily="2" charset="77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125" y="3437608"/>
            <a:ext cx="157163" cy="15716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28725" y="3419153"/>
            <a:ext cx="660437" cy="1905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IDX IPO </a:t>
            </a:r>
            <a:endParaRPr lang="en-US" sz="1238" dirty="0">
              <a:latin typeface="Indosat Bold Bold" pitchFamily="2" charset="77"/>
            </a:endParaRPr>
          </a:p>
        </p:txBody>
      </p:sp>
      <p:sp>
        <p:nvSpPr>
          <p:cNvPr id="13" name="Text 9"/>
          <p:cNvSpPr/>
          <p:nvPr/>
        </p:nvSpPr>
        <p:spPr>
          <a:xfrm>
            <a:off x="1000125" y="3706008"/>
            <a:ext cx="5626540" cy="1368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89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Public listing on Indonesia Stock Exchange, capitalizing on local market enthusiasm for tech IPOs </a:t>
            </a:r>
            <a:endParaRPr lang="en-US" sz="889" dirty="0">
              <a:latin typeface="Indosat Bold Bold" pitchFamily="2" charset="77"/>
            </a:endParaRPr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125" y="4043375"/>
            <a:ext cx="196453" cy="15716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68016" y="4024921"/>
            <a:ext cx="1508426" cy="1905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Telco/Cloud M&amp;A </a:t>
            </a:r>
            <a:endParaRPr lang="en-US" sz="1238" dirty="0">
              <a:latin typeface="Indosat Bold Bold" pitchFamily="2" charset="77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1000125" y="4311776"/>
            <a:ext cx="6522619" cy="1368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89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Strategic acquisition by telecommunications or cloud infrastructure providers seeking cybersecurity capabilities </a:t>
            </a:r>
            <a:endParaRPr lang="en-US" sz="889" dirty="0">
              <a:latin typeface="Indosat Bold Bold" pitchFamily="2" charset="77"/>
            </a:endParaRPr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0125" y="4649143"/>
            <a:ext cx="157163" cy="15716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28725" y="4630688"/>
            <a:ext cx="1575752" cy="1905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PE Secondary Sale </a:t>
            </a:r>
            <a:endParaRPr lang="en-US" sz="1238" dirty="0">
              <a:latin typeface="Indosat Bold Bold" pitchFamily="2" charset="77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1000125" y="4917543"/>
            <a:ext cx="3928961" cy="1368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89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Private equity buyout for continued growth and regional expansion </a:t>
            </a:r>
            <a:endParaRPr lang="en-US" sz="889" dirty="0">
              <a:latin typeface="Indosat Bold Bold" pitchFamily="2" charset="77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2347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200150"/>
          </a:xfrm>
          <a:prstGeom prst="rect">
            <a:avLst/>
          </a:prstGeom>
          <a:solidFill>
            <a:srgbClr val="C7158D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4" name="Text 1"/>
          <p:cNvSpPr/>
          <p:nvPr/>
        </p:nvSpPr>
        <p:spPr>
          <a:xfrm>
            <a:off x="285750" y="228020"/>
            <a:ext cx="8795678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Competitive Advantage: Three Sustainable Moats</a:t>
            </a:r>
            <a:endParaRPr lang="en-US" sz="2700" dirty="0">
              <a:latin typeface="Indosat Bold Bold" pitchFamily="2" charset="77"/>
            </a:endParaRPr>
          </a:p>
        </p:txBody>
      </p:sp>
      <p:sp>
        <p:nvSpPr>
          <p:cNvPr id="5" name="Text 2"/>
          <p:cNvSpPr/>
          <p:nvPr/>
        </p:nvSpPr>
        <p:spPr>
          <a:xfrm>
            <a:off x="285750" y="789094"/>
            <a:ext cx="5522346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chemeClr val="bg1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Building Defensible Competitive Position in Indonesian Market </a:t>
            </a:r>
            <a:endParaRPr lang="en-US" sz="1350" dirty="0">
              <a:solidFill>
                <a:schemeClr val="bg1"/>
              </a:solidFill>
              <a:latin typeface="Indosat Bold Bold" pitchFamily="2" charset="77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71500" y="1450181"/>
            <a:ext cx="2524116" cy="3487545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094" y="1705570"/>
            <a:ext cx="300038" cy="30003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0094" y="2183628"/>
            <a:ext cx="2166928" cy="484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575" b="1" dirty="0">
                <a:solidFill>
                  <a:srgbClr val="EC008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First-Mover Advantage</a:t>
            </a:r>
            <a:endParaRPr lang="en-US" sz="1575" dirty="0">
              <a:latin typeface="Indosat Bold Bold" pitchFamily="2" charset="77"/>
            </a:endParaRPr>
          </a:p>
        </p:txBody>
      </p:sp>
      <p:sp>
        <p:nvSpPr>
          <p:cNvPr id="9" name="Text 5"/>
          <p:cNvSpPr/>
          <p:nvPr/>
        </p:nvSpPr>
        <p:spPr>
          <a:xfrm>
            <a:off x="750094" y="2719945"/>
            <a:ext cx="1455527" cy="3636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363" b="1" dirty="0">
                <a:solidFill>
                  <a:srgbClr val="EC008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2-3 years</a:t>
            </a:r>
            <a:endParaRPr lang="en-US" sz="2363" dirty="0">
              <a:latin typeface="Indosat Bold Bold" pitchFamily="2" charset="77"/>
            </a:endParaRPr>
          </a:p>
        </p:txBody>
      </p:sp>
      <p:sp>
        <p:nvSpPr>
          <p:cNvPr id="10" name="Text 6"/>
          <p:cNvSpPr/>
          <p:nvPr/>
        </p:nvSpPr>
        <p:spPr>
          <a:xfrm>
            <a:off x="750094" y="3212304"/>
            <a:ext cx="2166928" cy="3218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Head start in Indonesian AI cybersecurity market 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11" name="Text 7"/>
          <p:cNvSpPr/>
          <p:nvPr/>
        </p:nvSpPr>
        <p:spPr>
          <a:xfrm>
            <a:off x="750094" y="3812931"/>
            <a:ext cx="2166928" cy="827984"/>
          </a:xfrm>
          <a:prstGeom prst="rect">
            <a:avLst/>
          </a:prstGeom>
          <a:noFill/>
          <a:ln/>
        </p:spPr>
        <p:txBody>
          <a:bodyPr wrap="square" lIns="0" tIns="102108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Early market entry creates brand recognition, customer relationships, and regulatory partnerships that competitors cannot easily replicate </a:t>
            </a:r>
            <a:endParaRPr lang="en-US" sz="942" dirty="0">
              <a:latin typeface="Indosat Bold Bold" pitchFamily="2" charset="77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3309928" y="1450181"/>
            <a:ext cx="2524116" cy="3487545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8522" y="1705570"/>
            <a:ext cx="300038" cy="30003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88522" y="2183628"/>
            <a:ext cx="2166928" cy="484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575" b="1" dirty="0">
                <a:solidFill>
                  <a:srgbClr val="24BDA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Technology Leadership</a:t>
            </a:r>
            <a:endParaRPr lang="en-US" sz="1575" dirty="0">
              <a:latin typeface="Indosat Bold Bold" pitchFamily="2" charset="77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3488522" y="2719945"/>
            <a:ext cx="1721625" cy="3636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363" b="1" dirty="0">
                <a:solidFill>
                  <a:srgbClr val="24BDA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Proprietary</a:t>
            </a:r>
            <a:endParaRPr lang="en-US" sz="2363" dirty="0">
              <a:latin typeface="Indosat Bold Bold" pitchFamily="2" charset="77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3488522" y="3212304"/>
            <a:ext cx="2166928" cy="3218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Multi-agent architecture with local LLM 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3488522" y="3788979"/>
            <a:ext cx="2166928" cy="683007"/>
          </a:xfrm>
          <a:prstGeom prst="rect">
            <a:avLst/>
          </a:prstGeom>
          <a:noFill/>
          <a:ln/>
        </p:spPr>
        <p:txBody>
          <a:bodyPr wrap="square" lIns="0" tIns="102108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Unique AI framework combining autonomous agents with Bahasa Indonesia language model creates technical barriers to entry </a:t>
            </a:r>
            <a:endParaRPr lang="en-US" sz="942" dirty="0">
              <a:latin typeface="Indosat Bold Bold" pitchFamily="2" charset="77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6048356" y="1450181"/>
            <a:ext cx="2524144" cy="3487545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6950" y="1705570"/>
            <a:ext cx="337542" cy="30003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226950" y="2183628"/>
            <a:ext cx="2166956" cy="484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575" b="1" dirty="0">
                <a:solidFill>
                  <a:srgbClr val="FFCB09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Local Market Expertise</a:t>
            </a:r>
            <a:endParaRPr lang="en-US" sz="1575" dirty="0">
              <a:latin typeface="Indosat Bold Bold" pitchFamily="2" charset="77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6226950" y="2719945"/>
            <a:ext cx="1532471" cy="3636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363" b="1" dirty="0">
                <a:solidFill>
                  <a:srgbClr val="FFCB09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64M SMEs</a:t>
            </a:r>
            <a:endParaRPr lang="en-US" sz="2363" dirty="0">
              <a:latin typeface="Indosat Bold Bold" pitchFamily="2" charset="77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6226950" y="3212304"/>
            <a:ext cx="2166956" cy="3218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Deep understanding of Indonesian business landscape 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6226950" y="3788979"/>
            <a:ext cx="2166956" cy="683007"/>
          </a:xfrm>
          <a:prstGeom prst="rect">
            <a:avLst/>
          </a:prstGeom>
          <a:noFill/>
          <a:ln/>
        </p:spPr>
        <p:txBody>
          <a:bodyPr wrap="square" lIns="0" tIns="102108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Regulatory compliance, local language support, and ecosystem partnerships position GATRA as the trusted local solution </a:t>
            </a:r>
            <a:endParaRPr lang="en-US" sz="942" dirty="0">
              <a:latin typeface="Indosat Bold Bold" pitchFamily="2" charset="77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49866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89410" y="217375"/>
            <a:ext cx="2765180" cy="6232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4050" b="1" dirty="0">
                <a:solidFill>
                  <a:srgbClr val="C7158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Thank You</a:t>
            </a:r>
            <a:endParaRPr lang="en-US" sz="4050" dirty="0">
              <a:latin typeface="Indosat Bold Bold" pitchFamily="2" charset="77"/>
            </a:endParaRPr>
          </a:p>
        </p:txBody>
      </p:sp>
      <p:sp>
        <p:nvSpPr>
          <p:cNvPr id="4" name="Text 1"/>
          <p:cNvSpPr/>
          <p:nvPr/>
        </p:nvSpPr>
        <p:spPr>
          <a:xfrm>
            <a:off x="3849045" y="1186738"/>
            <a:ext cx="1445909" cy="4847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3150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GATRA</a:t>
            </a:r>
            <a:endParaRPr lang="en-US" sz="3150" dirty="0">
              <a:latin typeface="Indosat Bold Bold" pitchFamily="2" charset="77"/>
            </a:endParaRPr>
          </a:p>
        </p:txBody>
      </p:sp>
      <p:sp>
        <p:nvSpPr>
          <p:cNvPr id="5" name="Shape 2"/>
          <p:cNvSpPr/>
          <p:nvPr/>
        </p:nvSpPr>
        <p:spPr>
          <a:xfrm>
            <a:off x="714375" y="2086337"/>
            <a:ext cx="7715250" cy="1553040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1831" y="2388160"/>
            <a:ext cx="250031" cy="2000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38738" y="2364307"/>
            <a:ext cx="1202253" cy="24237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575" b="1" dirty="0">
                <a:solidFill>
                  <a:srgbClr val="EC008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Next Steps </a:t>
            </a:r>
            <a:endParaRPr lang="en-US" sz="1575" dirty="0">
              <a:latin typeface="Indosat Bold Bold" pitchFamily="2" charset="77"/>
            </a:endParaRPr>
          </a:p>
        </p:txBody>
      </p:sp>
      <p:sp>
        <p:nvSpPr>
          <p:cNvPr id="8" name="Text 4"/>
          <p:cNvSpPr/>
          <p:nvPr/>
        </p:nvSpPr>
        <p:spPr>
          <a:xfrm>
            <a:off x="1071563" y="2840234"/>
            <a:ext cx="7000875" cy="3810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38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Schedule a due diligence meeting to discuss partnership opportunities and explore how we can work together to secure Indonesia's digital future. </a:t>
            </a:r>
            <a:endParaRPr lang="en-US" sz="1238" dirty="0">
              <a:latin typeface="Indosat Bold Bold" pitchFamily="2" charset="77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9155" y="3960846"/>
            <a:ext cx="142875" cy="1428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894680" y="3950920"/>
            <a:ext cx="426399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b="1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Email: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11" name="Text 6"/>
          <p:cNvSpPr/>
          <p:nvPr/>
        </p:nvSpPr>
        <p:spPr>
          <a:xfrm>
            <a:off x="4303907" y="3950920"/>
            <a:ext cx="1957267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raditio.ghifiardi@gmail.com </a:t>
            </a:r>
            <a:endParaRPr lang="en-US" sz="1046" dirty="0">
              <a:latin typeface="Indosat Bold Bold" pitchFamily="2" charset="77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7496" y="4246596"/>
            <a:ext cx="142875" cy="14287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926368" y="4236670"/>
            <a:ext cx="617157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b="1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Website: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14" name="Text 8"/>
          <p:cNvSpPr/>
          <p:nvPr/>
        </p:nvSpPr>
        <p:spPr>
          <a:xfrm>
            <a:off x="4480315" y="4236670"/>
            <a:ext cx="1046761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www.gatra.id 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15" name="Shape 9"/>
          <p:cNvSpPr/>
          <p:nvPr/>
        </p:nvSpPr>
        <p:spPr>
          <a:xfrm>
            <a:off x="0" y="4139440"/>
            <a:ext cx="9144000" cy="985838"/>
          </a:xfrm>
          <a:prstGeom prst="rect">
            <a:avLst/>
          </a:prstGeom>
          <a:solidFill>
            <a:srgbClr val="2C2C2C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1519868" y="4379599"/>
            <a:ext cx="6104235" cy="2251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463" b="1" dirty="0">
                <a:solidFill>
                  <a:srgbClr val="FFCB09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Let's Transform Indonesia's Digital Security Landscape Together</a:t>
            </a:r>
            <a:endParaRPr lang="en-US" sz="1463" dirty="0">
              <a:latin typeface="Indosat Bold Bold" pitchFamily="2" charset="77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1326721" y="4658205"/>
            <a:ext cx="6490559" cy="2251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463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Protecting 64M SMEs with AI-Powered Cybersecurity Infrastructure </a:t>
            </a:r>
            <a:endParaRPr lang="en-US" sz="1463" dirty="0">
              <a:latin typeface="Indosat Bold Bold" pitchFamily="2" charset="77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57288"/>
          </a:xfrm>
          <a:prstGeom prst="rect">
            <a:avLst/>
          </a:prstGeom>
          <a:solidFill>
            <a:srgbClr val="C7158D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4" name="Text 1"/>
          <p:cNvSpPr/>
          <p:nvPr/>
        </p:nvSpPr>
        <p:spPr>
          <a:xfrm>
            <a:off x="285750" y="206589"/>
            <a:ext cx="4669548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Defensible Market Position</a:t>
            </a:r>
            <a:endParaRPr lang="en-US" sz="2700" dirty="0">
              <a:latin typeface="Indosat Bold Bold" pitchFamily="2" charset="77"/>
            </a:endParaRPr>
          </a:p>
        </p:txBody>
      </p:sp>
      <p:sp>
        <p:nvSpPr>
          <p:cNvPr id="5" name="Text 2"/>
          <p:cNvSpPr/>
          <p:nvPr/>
        </p:nvSpPr>
        <p:spPr>
          <a:xfrm>
            <a:off x="285750" y="767663"/>
            <a:ext cx="5055871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chemeClr val="bg1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How Three Moats Combine to Protect Market Leadership </a:t>
            </a:r>
            <a:endParaRPr lang="en-US" sz="1350" dirty="0">
              <a:solidFill>
                <a:schemeClr val="bg1"/>
              </a:solidFill>
              <a:latin typeface="Indosat Bold Bold" pitchFamily="2" charset="77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71500" y="1220131"/>
            <a:ext cx="8001000" cy="1182960"/>
          </a:xfrm>
          <a:prstGeom prst="rect">
            <a:avLst/>
          </a:prstGeom>
          <a:solidFill>
            <a:srgbClr val="2C2C2C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7" name="Text 4"/>
          <p:cNvSpPr/>
          <p:nvPr/>
        </p:nvSpPr>
        <p:spPr>
          <a:xfrm>
            <a:off x="3367343" y="1427557"/>
            <a:ext cx="2409313" cy="24237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575" b="1" dirty="0">
                <a:solidFill>
                  <a:srgbClr val="FFCB09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Combined Defensibility</a:t>
            </a:r>
            <a:endParaRPr lang="en-US" sz="1575" dirty="0">
              <a:latin typeface="Indosat Bold Bold" pitchFamily="2" charset="77"/>
            </a:endParaRPr>
          </a:p>
        </p:txBody>
      </p:sp>
      <p:sp>
        <p:nvSpPr>
          <p:cNvPr id="8" name="Text 5"/>
          <p:cNvSpPr/>
          <p:nvPr/>
        </p:nvSpPr>
        <p:spPr>
          <a:xfrm>
            <a:off x="821531" y="1813992"/>
            <a:ext cx="7500938" cy="3810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38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Technology innovation + Market timing + Local expertise = Sustainable competitive moat protecting market leadership position </a:t>
            </a:r>
            <a:endParaRPr lang="en-US" sz="1238" dirty="0">
              <a:latin typeface="Indosat Bold Bold" pitchFamily="2" charset="77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71500" y="2477511"/>
            <a:ext cx="2571750" cy="1215833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7356" y="2558281"/>
            <a:ext cx="300038" cy="3000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29237" y="3025600"/>
            <a:ext cx="1856277" cy="1905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38" b="1" dirty="0">
                <a:solidFill>
                  <a:srgbClr val="24BDA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Technology Innovation</a:t>
            </a:r>
            <a:endParaRPr lang="en-US" sz="1238" dirty="0">
              <a:latin typeface="Indosat Bold Bold" pitchFamily="2" charset="77"/>
            </a:endParaRPr>
          </a:p>
        </p:txBody>
      </p:sp>
      <p:sp>
        <p:nvSpPr>
          <p:cNvPr id="12" name="Text 8"/>
          <p:cNvSpPr/>
          <p:nvPr/>
        </p:nvSpPr>
        <p:spPr>
          <a:xfrm>
            <a:off x="700088" y="3327064"/>
            <a:ext cx="2314575" cy="257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Proprietary multi-agent AI architecture creates technical barriers to entry </a:t>
            </a:r>
            <a:endParaRPr lang="en-US" sz="837" dirty="0">
              <a:latin typeface="Indosat Bold Bold" pitchFamily="2" charset="77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3286125" y="2477511"/>
            <a:ext cx="2571750" cy="1215833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1981" y="2558281"/>
            <a:ext cx="300038" cy="30003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994117" y="3025600"/>
            <a:ext cx="1155766" cy="1905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38" b="1" dirty="0">
                <a:solidFill>
                  <a:srgbClr val="EC008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Market Timing</a:t>
            </a:r>
            <a:endParaRPr lang="en-US" sz="1238" dirty="0">
              <a:latin typeface="Indosat Bold Bold" pitchFamily="2" charset="77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3414713" y="3327064"/>
            <a:ext cx="2314575" cy="257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2-3 year first-mover advantage establishes brand and partnerships </a:t>
            </a:r>
            <a:endParaRPr lang="en-US" sz="837" dirty="0">
              <a:latin typeface="Indosat Bold Bold" pitchFamily="2" charset="77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6000750" y="2477511"/>
            <a:ext cx="2571750" cy="1215833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7854" y="2558281"/>
            <a:ext cx="337542" cy="30003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671072" y="3025600"/>
            <a:ext cx="1231106" cy="1905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38" b="1" dirty="0">
                <a:solidFill>
                  <a:srgbClr val="FFCB09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Local Expertise</a:t>
            </a:r>
            <a:endParaRPr lang="en-US" sz="1238" dirty="0">
              <a:latin typeface="Indosat Bold Bold" pitchFamily="2" charset="77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6129338" y="3327064"/>
            <a:ext cx="2314575" cy="257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Deep Indonesian market knowledge and regulatory compliance </a:t>
            </a:r>
            <a:endParaRPr lang="en-US" sz="837" dirty="0">
              <a:latin typeface="Indosat Bold Bold" pitchFamily="2" charset="77"/>
            </a:endParaRPr>
          </a:p>
        </p:txBody>
      </p:sp>
      <p:sp>
        <p:nvSpPr>
          <p:cNvPr id="21" name="Shape 15"/>
          <p:cNvSpPr/>
          <p:nvPr/>
        </p:nvSpPr>
        <p:spPr>
          <a:xfrm>
            <a:off x="571500" y="3844760"/>
            <a:ext cx="8001000" cy="1215833"/>
          </a:xfrm>
          <a:prstGeom prst="rect">
            <a:avLst/>
          </a:prstGeom>
          <a:solidFill>
            <a:srgbClr val="C7158D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3808169" y="4024544"/>
            <a:ext cx="1527662" cy="1905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38" dirty="0">
                <a:solidFill>
                  <a:srgbClr val="FFFFFF">
                    <a:alpha val="95000"/>
                  </a:srgbClr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Strategic Outcome</a:t>
            </a:r>
            <a:endParaRPr lang="en-US" sz="1238" dirty="0">
              <a:latin typeface="Indosat Bold Bold" pitchFamily="2" charset="77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821531" y="4329268"/>
            <a:ext cx="7500938" cy="5539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Defensible competitive position that protects GATRA's market leadership in Indonesia's cybersecurity landscape </a:t>
            </a:r>
            <a:endParaRPr lang="en-US" sz="1800" dirty="0">
              <a:latin typeface="Indosat Bold Bold" pitchFamily="2" charset="77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385888"/>
          </a:xfrm>
          <a:prstGeom prst="rect">
            <a:avLst/>
          </a:prstGeom>
          <a:solidFill>
            <a:srgbClr val="C7158D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4" name="Text 1"/>
          <p:cNvSpPr/>
          <p:nvPr/>
        </p:nvSpPr>
        <p:spPr>
          <a:xfrm>
            <a:off x="285750" y="277445"/>
            <a:ext cx="8572500" cy="83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Ultimate Vision: Securing Indonesia's Digital Economy</a:t>
            </a:r>
            <a:endParaRPr lang="en-US" sz="2700" dirty="0">
              <a:latin typeface="Indosat Bold Bold" pitchFamily="2" charset="77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71486" y="1648803"/>
            <a:ext cx="8001000" cy="1685925"/>
          </a:xfrm>
          <a:prstGeom prst="rect">
            <a:avLst/>
          </a:prstGeom>
          <a:solidFill>
            <a:srgbClr val="2C2C2C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7402" y="1873448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738926" y="1846570"/>
            <a:ext cx="1894749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B09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Ultimate Vision </a:t>
            </a:r>
            <a:endParaRPr lang="en-US" sz="1800" dirty="0">
              <a:latin typeface="Indosat Bold Bold" pitchFamily="2" charset="77"/>
            </a:endParaRPr>
          </a:p>
        </p:txBody>
      </p:sp>
      <p:sp>
        <p:nvSpPr>
          <p:cNvPr id="8" name="Text 4"/>
          <p:cNvSpPr/>
          <p:nvPr/>
        </p:nvSpPr>
        <p:spPr>
          <a:xfrm>
            <a:off x="509175" y="2321954"/>
            <a:ext cx="8125622" cy="6232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350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Become Indonesia's secure AI layer and default security fabric for </a:t>
            </a:r>
            <a:r>
              <a:rPr lang="en-US" sz="1350" b="1" dirty="0">
                <a:solidFill>
                  <a:srgbClr val="FFCB09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64M SMEs</a:t>
            </a:r>
            <a:r>
              <a:rPr lang="en-US" sz="1350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, protecting the </a:t>
            </a:r>
          </a:p>
          <a:p>
            <a:pPr algn="ctr"/>
            <a:r>
              <a:rPr lang="en-US" sz="1350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nation's digital economy with autonomous, intelligent, and continuously evolving</a:t>
            </a:r>
          </a:p>
          <a:p>
            <a:pPr algn="ctr"/>
            <a:r>
              <a:rPr lang="en-US" sz="1350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cybersecurity infrastructure.   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571500" y="3430989"/>
            <a:ext cx="3893344" cy="1643062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094" y="3547477"/>
            <a:ext cx="375047" cy="30003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50094" y="4054634"/>
            <a:ext cx="2422138" cy="2251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463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Autonomous &amp; Intelligent</a:t>
            </a:r>
            <a:endParaRPr lang="en-US" sz="1463" dirty="0">
              <a:latin typeface="Indosat Bold Bold" pitchFamily="2" charset="77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750094" y="4472282"/>
            <a:ext cx="3536156" cy="482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Continuously evolving AI-powered defense that learns and adapts to emerging threats without human intervention 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4679156" y="3430989"/>
            <a:ext cx="3893344" cy="1643062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0" y="3547477"/>
            <a:ext cx="300038" cy="30003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857750" y="4054634"/>
            <a:ext cx="1816203" cy="2251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463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Digital Sovereignty</a:t>
            </a:r>
            <a:endParaRPr lang="en-US" sz="1463" dirty="0">
              <a:latin typeface="Indosat Bold Bold" pitchFamily="2" charset="77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4857750" y="4472282"/>
            <a:ext cx="3536156" cy="482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Indonesian-built solution ensuring data sovereignty, regulatory compliance, and national cybersecurity independence </a:t>
            </a:r>
            <a:endParaRPr lang="en-US" sz="1046" dirty="0">
              <a:latin typeface="Indosat Bold Bold" pitchFamily="2" charset="77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71538"/>
          </a:xfrm>
          <a:prstGeom prst="rect">
            <a:avLst/>
          </a:prstGeom>
          <a:solidFill>
            <a:srgbClr val="EC008C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4" name="Text 1"/>
          <p:cNvSpPr/>
          <p:nvPr/>
        </p:nvSpPr>
        <p:spPr>
          <a:xfrm>
            <a:off x="285750" y="228020"/>
            <a:ext cx="5025415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Financial ROI: Investor Value</a:t>
            </a:r>
            <a:endParaRPr lang="en-US" sz="2700" dirty="0">
              <a:latin typeface="Indosat Bold Bold" pitchFamily="2" charset="77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71500" y="947944"/>
            <a:ext cx="8001000" cy="3293269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6" name="Text 3"/>
          <p:cNvSpPr/>
          <p:nvPr/>
        </p:nvSpPr>
        <p:spPr>
          <a:xfrm>
            <a:off x="857250" y="1198695"/>
            <a:ext cx="2018181" cy="405752"/>
          </a:xfrm>
          <a:prstGeom prst="rect">
            <a:avLst/>
          </a:prstGeom>
          <a:noFill/>
          <a:ln/>
        </p:spPr>
        <p:txBody>
          <a:bodyPr wrap="none" lIns="0" tIns="0" rIns="0" bIns="127508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EC008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Investor Returns </a:t>
            </a:r>
            <a:endParaRPr lang="en-US" sz="1800" dirty="0">
              <a:latin typeface="Indosat Bold Bold" pitchFamily="2" charset="77"/>
            </a:endParaRPr>
          </a:p>
        </p:txBody>
      </p:sp>
      <p:sp>
        <p:nvSpPr>
          <p:cNvPr id="7" name="Text 4"/>
          <p:cNvSpPr/>
          <p:nvPr/>
        </p:nvSpPr>
        <p:spPr>
          <a:xfrm>
            <a:off x="857250" y="1846167"/>
            <a:ext cx="722955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5-Year ROI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8" name="Text 5"/>
          <p:cNvSpPr/>
          <p:nvPr/>
        </p:nvSpPr>
        <p:spPr>
          <a:xfrm>
            <a:off x="857250" y="2062882"/>
            <a:ext cx="1083630" cy="4847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3150" b="1" dirty="0">
                <a:solidFill>
                  <a:srgbClr val="EC008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225%</a:t>
            </a:r>
            <a:endParaRPr lang="en-US" sz="3150" dirty="0">
              <a:latin typeface="Indosat Bold Bold" pitchFamily="2" charset="77"/>
            </a:endParaRPr>
          </a:p>
        </p:txBody>
      </p:sp>
      <p:sp>
        <p:nvSpPr>
          <p:cNvPr id="9" name="Text 6"/>
          <p:cNvSpPr/>
          <p:nvPr/>
        </p:nvSpPr>
        <p:spPr>
          <a:xfrm>
            <a:off x="857250" y="2585052"/>
            <a:ext cx="992259" cy="1905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for investors</a:t>
            </a:r>
            <a:endParaRPr lang="en-US" sz="1238" dirty="0">
              <a:latin typeface="Indosat Bold Bold" pitchFamily="2" charset="7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697016" y="1846167"/>
            <a:ext cx="1029128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Terminal Value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697016" y="2062882"/>
            <a:ext cx="1522853" cy="4847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3150" b="1" dirty="0">
                <a:solidFill>
                  <a:srgbClr val="EC008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IDR 1.8T</a:t>
            </a:r>
            <a:endParaRPr lang="en-US" sz="3150" dirty="0">
              <a:latin typeface="Indosat Bold Bold" pitchFamily="2" charset="7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697016" y="2585052"/>
            <a:ext cx="1816203" cy="1905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at 4x revenue multiple</a:t>
            </a:r>
            <a:endParaRPr lang="en-US" sz="1238" dirty="0">
              <a:latin typeface="Indosat Bold Bold" pitchFamily="2" charset="77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57250" y="3074892"/>
            <a:ext cx="1150956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Revenue Growth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57250" y="3291607"/>
            <a:ext cx="764633" cy="4847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3150" b="1" dirty="0">
                <a:solidFill>
                  <a:srgbClr val="EC008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50x</a:t>
            </a:r>
            <a:endParaRPr lang="en-US" sz="3150" dirty="0">
              <a:solidFill>
                <a:srgbClr val="EC008C"/>
              </a:solidFill>
              <a:latin typeface="Indosat Bold Bold" pitchFamily="2" charset="77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57250" y="3813777"/>
            <a:ext cx="771045" cy="1905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in 5 years</a:t>
            </a:r>
            <a:endParaRPr lang="en-US" sz="1238" dirty="0">
              <a:latin typeface="Indosat Bold Bold" pitchFamily="2" charset="77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697016" y="3074892"/>
            <a:ext cx="891270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Gross Margin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697016" y="3291607"/>
            <a:ext cx="806311" cy="4847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3150" b="1" dirty="0">
                <a:solidFill>
                  <a:srgbClr val="EC008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75%</a:t>
            </a:r>
            <a:endParaRPr lang="en-US" sz="3150" dirty="0">
              <a:latin typeface="Indosat Bold Bold" pitchFamily="2" charset="77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697016" y="3813777"/>
            <a:ext cx="2449388" cy="1905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best-in-class SaaS economics</a:t>
            </a:r>
            <a:endParaRPr lang="en-US" sz="1238" dirty="0">
              <a:latin typeface="Indosat Bold Bold" pitchFamily="2" charset="77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571500" y="4270326"/>
            <a:ext cx="8001000" cy="871538"/>
          </a:xfrm>
          <a:prstGeom prst="rect">
            <a:avLst/>
          </a:prstGeom>
          <a:solidFill>
            <a:srgbClr val="2C2C2C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571500" y="4374473"/>
            <a:ext cx="7933261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350" b="1" dirty="0">
                <a:solidFill>
                  <a:srgbClr val="FFCB09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Win-Win Value Creation: </a:t>
            </a:r>
            <a:r>
              <a:rPr lang="en-US" sz="1350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Customers get enterprise-grade protection at 10% of the cost,</a:t>
            </a:r>
            <a:br>
              <a:rPr lang="en-US" sz="1350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</a:br>
            <a:r>
              <a:rPr lang="en-US" sz="1350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while investors capture a massive underserved market with exceptional unit economics.  </a:t>
            </a:r>
            <a:endParaRPr lang="en-US" sz="1350" dirty="0">
              <a:latin typeface="Indosat Bold Bold" pitchFamily="2" charset="77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85850"/>
          </a:xfrm>
          <a:prstGeom prst="rect">
            <a:avLst/>
          </a:prstGeom>
          <a:solidFill>
            <a:srgbClr val="C7158D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4" name="Text 1"/>
          <p:cNvSpPr/>
          <p:nvPr/>
        </p:nvSpPr>
        <p:spPr>
          <a:xfrm>
            <a:off x="285750" y="178014"/>
            <a:ext cx="8082341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Global Comparables &amp; Valuation Benchmarks</a:t>
            </a:r>
            <a:endParaRPr lang="en-US" sz="2700" dirty="0">
              <a:latin typeface="Indosat Bold Bold" pitchFamily="2" charset="77"/>
            </a:endParaRPr>
          </a:p>
        </p:txBody>
      </p:sp>
      <p:sp>
        <p:nvSpPr>
          <p:cNvPr id="5" name="Text 2"/>
          <p:cNvSpPr/>
          <p:nvPr/>
        </p:nvSpPr>
        <p:spPr>
          <a:xfrm>
            <a:off x="285750" y="724801"/>
            <a:ext cx="5626540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chemeClr val="bg1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AI Cybersecurity Success Stories Validating GATRA's Valuation </a:t>
            </a:r>
            <a:endParaRPr lang="en-US" sz="1350" dirty="0">
              <a:solidFill>
                <a:schemeClr val="bg1"/>
              </a:solidFill>
              <a:latin typeface="Indosat Bold Bold" pitchFamily="2" charset="77"/>
            </a:endParaRPr>
          </a:p>
        </p:txBody>
      </p:sp>
      <p:sp>
        <p:nvSpPr>
          <p:cNvPr id="6" name="Text 3"/>
          <p:cNvSpPr/>
          <p:nvPr/>
        </p:nvSpPr>
        <p:spPr>
          <a:xfrm>
            <a:off x="3136511" y="1147215"/>
            <a:ext cx="2870978" cy="293863"/>
          </a:xfrm>
          <a:prstGeom prst="rect">
            <a:avLst/>
          </a:prstGeom>
          <a:noFill/>
          <a:ln/>
        </p:spPr>
        <p:txBody>
          <a:bodyPr wrap="none" lIns="0" tIns="0" rIns="0" bIns="68072" rtlCol="0" anchor="ctr">
            <a:spAutoFit/>
          </a:bodyPr>
          <a:lstStyle/>
          <a:p>
            <a:pPr marL="0" indent="0" algn="ctr">
              <a:buNone/>
            </a:pPr>
            <a:r>
              <a:rPr lang="en-US" sz="1463" b="1" dirty="0">
                <a:solidFill>
                  <a:srgbClr val="24BDA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Global AI Cybersecurity Exits </a:t>
            </a:r>
            <a:endParaRPr lang="en-US" sz="1463" dirty="0">
              <a:latin typeface="Indosat Bold Bold" pitchFamily="2" charset="77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357313" y="1434713"/>
            <a:ext cx="6429375" cy="932550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8" name="Text 5"/>
          <p:cNvSpPr/>
          <p:nvPr/>
        </p:nvSpPr>
        <p:spPr>
          <a:xfrm>
            <a:off x="4095908" y="1477728"/>
            <a:ext cx="952184" cy="2251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463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Darktrace</a:t>
            </a:r>
            <a:endParaRPr lang="en-US" sz="1463" dirty="0">
              <a:latin typeface="Indosat Bold Bold" pitchFamily="2" charset="77"/>
            </a:endParaRPr>
          </a:p>
        </p:txBody>
      </p:sp>
      <p:sp>
        <p:nvSpPr>
          <p:cNvPr id="9" name="Text 6"/>
          <p:cNvSpPr/>
          <p:nvPr/>
        </p:nvSpPr>
        <p:spPr>
          <a:xfrm>
            <a:off x="4272239" y="1732039"/>
            <a:ext cx="599523" cy="38087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475" b="1" dirty="0">
                <a:solidFill>
                  <a:srgbClr val="24BDA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$2B</a:t>
            </a:r>
            <a:endParaRPr lang="en-US" sz="2475" dirty="0">
              <a:latin typeface="Indosat Bold Bold" pitchFamily="2" charset="7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517224" y="2139308"/>
            <a:ext cx="2109552" cy="144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42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London Stock Exchange IPO (2021)</a:t>
            </a:r>
            <a:endParaRPr lang="en-US" sz="942" dirty="0">
              <a:latin typeface="Indosat Bold Bold" pitchFamily="2" charset="7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1357313" y="2416388"/>
            <a:ext cx="6429375" cy="884638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982897" y="2470978"/>
            <a:ext cx="1178207" cy="2251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463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Cybereason</a:t>
            </a:r>
            <a:endParaRPr lang="en-US" sz="1463" dirty="0">
              <a:latin typeface="Indosat Bold Bold" pitchFamily="2" charset="77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162433" y="2725289"/>
            <a:ext cx="819134" cy="38087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475" b="1" dirty="0">
                <a:solidFill>
                  <a:srgbClr val="EC008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$1.5B</a:t>
            </a:r>
            <a:endParaRPr lang="en-US" sz="2475" dirty="0">
              <a:latin typeface="Indosat Bold Bold" pitchFamily="2" charset="77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636648" y="3132558"/>
            <a:ext cx="1870704" cy="144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42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Strategic acquisition valuation</a:t>
            </a:r>
            <a:endParaRPr lang="en-US" sz="942" dirty="0">
              <a:latin typeface="Indosat Bold Bold" pitchFamily="2" charset="77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1357313" y="3340189"/>
            <a:ext cx="6429375" cy="913105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3987705" y="3406354"/>
            <a:ext cx="1168590" cy="2251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463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SentinelOne</a:t>
            </a:r>
            <a:endParaRPr lang="en-US" sz="1463" dirty="0">
              <a:latin typeface="Indosat Bold Bold" pitchFamily="2" charset="77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276246" y="3660665"/>
            <a:ext cx="591509" cy="38087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475" b="1" dirty="0">
                <a:solidFill>
                  <a:srgbClr val="FFCB09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$9B</a:t>
            </a:r>
            <a:endParaRPr lang="en-US" sz="2475" dirty="0">
              <a:latin typeface="Indosat Bold Bold" pitchFamily="2" charset="77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102320" y="4067934"/>
            <a:ext cx="939360" cy="144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42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NYSE IPO (2021)</a:t>
            </a:r>
            <a:endParaRPr lang="en-US" sz="942" dirty="0">
              <a:latin typeface="Indosat Bold Bold" pitchFamily="2" charset="77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571500" y="4302420"/>
            <a:ext cx="8001000" cy="841079"/>
          </a:xfrm>
          <a:prstGeom prst="rect">
            <a:avLst/>
          </a:prstGeom>
          <a:solidFill>
            <a:srgbClr val="2C2C2C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3743248" y="4361027"/>
            <a:ext cx="1657505" cy="1905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38" b="1" dirty="0">
                <a:solidFill>
                  <a:srgbClr val="FFCB09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Valuation Validation</a:t>
            </a:r>
            <a:endParaRPr lang="en-US" sz="1238" dirty="0">
              <a:latin typeface="Indosat Bold Bold" pitchFamily="2" charset="77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27377" y="4572062"/>
            <a:ext cx="7625484" cy="3059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994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These global comparables demonstrate </a:t>
            </a:r>
            <a:r>
              <a:rPr lang="en-US" sz="994" b="1" dirty="0">
                <a:solidFill>
                  <a:srgbClr val="FFCB09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strong market appetite </a:t>
            </a:r>
            <a:r>
              <a:rPr lang="en-US" sz="994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for AI-powered cybersecurity solutions and validate </a:t>
            </a:r>
          </a:p>
          <a:p>
            <a:pPr algn="ctr"/>
            <a:r>
              <a:rPr lang="en-US" sz="994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GATRA's  </a:t>
            </a:r>
            <a:r>
              <a:rPr lang="en-US" sz="994" b="1" dirty="0">
                <a:solidFill>
                  <a:srgbClr val="FFCB09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IDR 1.8T terminal value </a:t>
            </a:r>
            <a:r>
              <a:rPr lang="en-US" sz="994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projection as conservative and achievable. </a:t>
            </a:r>
            <a:endParaRPr lang="en-US" sz="994" dirty="0">
              <a:latin typeface="Indosat Bold Bold" pitchFamily="2" charset="77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9144000" cy="558179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57288"/>
          </a:xfrm>
          <a:prstGeom prst="rect">
            <a:avLst/>
          </a:prstGeom>
          <a:solidFill>
            <a:srgbClr val="24BDAD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4" name="Text 1"/>
          <p:cNvSpPr/>
          <p:nvPr/>
        </p:nvSpPr>
        <p:spPr>
          <a:xfrm>
            <a:off x="285750" y="206589"/>
            <a:ext cx="7428316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Market Validation &amp; Strategic Partnerships</a:t>
            </a:r>
            <a:endParaRPr lang="en-US" sz="2700" dirty="0">
              <a:latin typeface="Indosat Bold Bold" pitchFamily="2" charset="77"/>
            </a:endParaRPr>
          </a:p>
        </p:txBody>
      </p:sp>
      <p:sp>
        <p:nvSpPr>
          <p:cNvPr id="5" name="Text 2"/>
          <p:cNvSpPr/>
          <p:nvPr/>
        </p:nvSpPr>
        <p:spPr>
          <a:xfrm>
            <a:off x="285750" y="767663"/>
            <a:ext cx="5756384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>
                    <a:alpha val="95000"/>
                  </a:srgbClr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Concrete Evidence of Market Acceptance and Strategic Traction 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6" name="Text 3"/>
          <p:cNvSpPr/>
          <p:nvPr/>
        </p:nvSpPr>
        <p:spPr>
          <a:xfrm>
            <a:off x="1357313" y="1173540"/>
            <a:ext cx="1928413" cy="345479"/>
          </a:xfrm>
          <a:prstGeom prst="rect">
            <a:avLst/>
          </a:prstGeom>
          <a:noFill/>
          <a:ln/>
        </p:spPr>
        <p:txBody>
          <a:bodyPr wrap="none" lIns="0" tIns="0" rIns="0" bIns="102108" rtlCol="0" anchor="ctr">
            <a:spAutoFit/>
          </a:bodyPr>
          <a:lstStyle/>
          <a:p>
            <a:pPr marL="0" indent="0">
              <a:buNone/>
            </a:pPr>
            <a:r>
              <a:rPr lang="en-US" sz="1575" b="1" dirty="0">
                <a:solidFill>
                  <a:srgbClr val="24BDA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Market Validation </a:t>
            </a:r>
            <a:endParaRPr lang="en-US" sz="1575" dirty="0">
              <a:latin typeface="Indosat Bold Bold" pitchFamily="2" charset="77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357313" y="1696324"/>
            <a:ext cx="6429375" cy="1235869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8" name="Text 5"/>
          <p:cNvSpPr/>
          <p:nvPr/>
        </p:nvSpPr>
        <p:spPr>
          <a:xfrm>
            <a:off x="4224950" y="1799875"/>
            <a:ext cx="694100" cy="45012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925" b="1" dirty="0">
                <a:solidFill>
                  <a:srgbClr val="24BDA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20+</a:t>
            </a:r>
            <a:endParaRPr lang="en-US" sz="2925" dirty="0">
              <a:latin typeface="Indosat Bold Bold" pitchFamily="2" charset="77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45464" y="2306824"/>
            <a:ext cx="1853071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Customer Interviews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2977814" y="2620388"/>
            <a:ext cx="3188372" cy="144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42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Deep market research validating product-market fit</a:t>
            </a:r>
            <a:endParaRPr lang="en-US" sz="942" dirty="0">
              <a:latin typeface="Indosat Bold Bold" pitchFamily="2" charset="7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1357313" y="3075069"/>
            <a:ext cx="6429375" cy="1126542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9828" y="3163639"/>
            <a:ext cx="464344" cy="3714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04161" y="3631265"/>
            <a:ext cx="1535677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MSSP Partnership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2785453" y="3944829"/>
            <a:ext cx="3573093" cy="144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42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Strategic managed security service provider collaboration</a:t>
            </a:r>
            <a:endParaRPr lang="en-US" sz="942" dirty="0">
              <a:latin typeface="Indosat Bold Bold" pitchFamily="2" charset="77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1357313" y="4295333"/>
            <a:ext cx="6429375" cy="1239441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9828" y="4404072"/>
            <a:ext cx="464344" cy="3714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821794" y="4871698"/>
            <a:ext cx="1500411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Telco Ecosystem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2722134" y="5185262"/>
            <a:ext cx="3699731" cy="144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42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Integration with telecommunications infrastructure partners</a:t>
            </a:r>
            <a:endParaRPr lang="en-US" sz="942" dirty="0">
              <a:latin typeface="Indosat Bold Bold" pitchFamily="2" charset="77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21506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200150"/>
          </a:xfrm>
          <a:prstGeom prst="rect">
            <a:avLst/>
          </a:prstGeom>
          <a:solidFill>
            <a:srgbClr val="24BDAD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4" name="Text 1"/>
          <p:cNvSpPr/>
          <p:nvPr/>
        </p:nvSpPr>
        <p:spPr>
          <a:xfrm>
            <a:off x="285750" y="228020"/>
            <a:ext cx="4975721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Active Pilots &amp; ARR Potential</a:t>
            </a:r>
            <a:endParaRPr lang="en-US" sz="2700" dirty="0">
              <a:latin typeface="Indosat Bold Bold" pitchFamily="2" charset="77"/>
            </a:endParaRPr>
          </a:p>
        </p:txBody>
      </p:sp>
      <p:sp>
        <p:nvSpPr>
          <p:cNvPr id="5" name="Text 2"/>
          <p:cNvSpPr/>
          <p:nvPr/>
        </p:nvSpPr>
        <p:spPr>
          <a:xfrm>
            <a:off x="285750" y="789094"/>
            <a:ext cx="5376472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>
                    <a:alpha val="95000"/>
                  </a:srgbClr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Proven Market Traction with Active Customer Engagements 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71500" y="1414463"/>
            <a:ext cx="8001000" cy="1042988"/>
          </a:xfrm>
          <a:prstGeom prst="rect">
            <a:avLst/>
          </a:prstGeom>
          <a:solidFill>
            <a:srgbClr val="2C2C2C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7" name="Text 4"/>
          <p:cNvSpPr/>
          <p:nvPr/>
        </p:nvSpPr>
        <p:spPr>
          <a:xfrm>
            <a:off x="3736034" y="1619742"/>
            <a:ext cx="1671933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Combined ARR Potential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8" name="Text 5"/>
          <p:cNvSpPr/>
          <p:nvPr/>
        </p:nvSpPr>
        <p:spPr>
          <a:xfrm>
            <a:off x="2982623" y="1836457"/>
            <a:ext cx="3178755" cy="4847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3150" b="1" dirty="0">
                <a:solidFill>
                  <a:srgbClr val="FFCB09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IDR 100M-200M</a:t>
            </a:r>
            <a:endParaRPr lang="en-US" sz="3150" dirty="0">
              <a:latin typeface="Indosat Bold Bold" pitchFamily="2" charset="77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00125" y="2706192"/>
            <a:ext cx="1365758" cy="345479"/>
          </a:xfrm>
          <a:prstGeom prst="rect">
            <a:avLst/>
          </a:prstGeom>
          <a:noFill/>
          <a:ln/>
        </p:spPr>
        <p:txBody>
          <a:bodyPr wrap="none" lIns="0" tIns="0" rIns="0" bIns="102108" rtlCol="0" anchor="ctr">
            <a:spAutoFit/>
          </a:bodyPr>
          <a:lstStyle/>
          <a:p>
            <a:pPr marL="0" indent="0">
              <a:buNone/>
            </a:pPr>
            <a:r>
              <a:rPr lang="en-US" sz="1575" b="1" dirty="0">
                <a:solidFill>
                  <a:srgbClr val="EC008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Active Pilots </a:t>
            </a:r>
            <a:endParaRPr lang="en-US" sz="1575" dirty="0">
              <a:latin typeface="Indosat Bold Bold" pitchFamily="2" charset="77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1000125" y="3228975"/>
            <a:ext cx="7143750" cy="771525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2" name="Text 8"/>
          <p:cNvSpPr/>
          <p:nvPr/>
        </p:nvSpPr>
        <p:spPr>
          <a:xfrm>
            <a:off x="1354735" y="3392273"/>
            <a:ext cx="295594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kern="0" spc="1" dirty="0">
                <a:solidFill>
                  <a:srgbClr val="FFC000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Telco</a:t>
            </a:r>
            <a:endParaRPr lang="en-US" sz="837" dirty="0">
              <a:solidFill>
                <a:srgbClr val="FFC000"/>
              </a:solidFill>
              <a:latin typeface="Indosat Bold Bold" pitchFamily="2" charset="77"/>
            </a:endParaRPr>
          </a:p>
        </p:txBody>
      </p:sp>
      <p:sp>
        <p:nvSpPr>
          <p:cNvPr id="13" name="Text 9"/>
          <p:cNvSpPr/>
          <p:nvPr/>
        </p:nvSpPr>
        <p:spPr>
          <a:xfrm>
            <a:off x="1143000" y="3625163"/>
            <a:ext cx="3252493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Major Telecommunication Company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1000125" y="4129088"/>
            <a:ext cx="7143750" cy="771525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300538"/>
            <a:ext cx="121444" cy="1143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1594" y="4292385"/>
            <a:ext cx="480324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kern="0" spc="1" dirty="0">
                <a:solidFill>
                  <a:srgbClr val="EC008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FINTECH </a:t>
            </a:r>
            <a:endParaRPr lang="en-US" sz="837" dirty="0">
              <a:latin typeface="Indosat Bold Bold" pitchFamily="2" charset="77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1143000" y="4525276"/>
            <a:ext cx="2122376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Digital Banking Platform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1000125" y="5029200"/>
            <a:ext cx="7143750" cy="771525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5200650"/>
            <a:ext cx="150019" cy="1143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50169" y="5192498"/>
            <a:ext cx="804516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kern="0" spc="1" dirty="0">
                <a:solidFill>
                  <a:srgbClr val="FFCB09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E-COMMERCE </a:t>
            </a:r>
            <a:endParaRPr lang="en-US" sz="837" dirty="0">
              <a:latin typeface="Indosat Bold Bold" pitchFamily="2" charset="77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1143000" y="5425388"/>
            <a:ext cx="1729641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Online Marketplace</a:t>
            </a:r>
            <a:endParaRPr lang="en-US" sz="1350" dirty="0">
              <a:latin typeface="Indosat Bold Bold" pitchFamily="2" charset="77"/>
            </a:endParaRPr>
          </a:p>
        </p:txBody>
      </p:sp>
      <p:pic>
        <p:nvPicPr>
          <p:cNvPr id="22" name="Image 2" descr="preencoded.png">
            <a:extLst>
              <a:ext uri="{FF2B5EF4-FFF2-40B4-BE49-F238E27FC236}">
                <a16:creationId xmlns:a16="http://schemas.microsoft.com/office/drawing/2014/main" id="{5E30A7F7-95D7-7C01-9772-87926FAB02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246" y="3361356"/>
            <a:ext cx="259687" cy="20774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314450"/>
          </a:xfrm>
          <a:prstGeom prst="rect">
            <a:avLst/>
          </a:prstGeom>
          <a:solidFill>
            <a:srgbClr val="EC008C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4" name="Text 1"/>
          <p:cNvSpPr/>
          <p:nvPr/>
        </p:nvSpPr>
        <p:spPr>
          <a:xfrm>
            <a:off x="285750" y="263739"/>
            <a:ext cx="7372211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How It Works: 65-Second Response Cycle</a:t>
            </a:r>
            <a:endParaRPr lang="en-US" sz="2700" dirty="0">
              <a:latin typeface="Indosat Bold Bold" pitchFamily="2" charset="77"/>
            </a:endParaRPr>
          </a:p>
        </p:txBody>
      </p:sp>
      <p:sp>
        <p:nvSpPr>
          <p:cNvPr id="5" name="Text 2"/>
          <p:cNvSpPr/>
          <p:nvPr/>
        </p:nvSpPr>
        <p:spPr>
          <a:xfrm>
            <a:off x="285750" y="828932"/>
            <a:ext cx="5900654" cy="24237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575" dirty="0">
                <a:solidFill>
                  <a:srgbClr val="FFFFFF">
                    <a:alpha val="95000"/>
                  </a:srgbClr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From Detection to Containment in 65 Seconds vs 194 Days</a:t>
            </a:r>
            <a:endParaRPr lang="en-US" sz="1575" dirty="0">
              <a:latin typeface="Indosat Bold Bold" pitchFamily="2" charset="77"/>
            </a:endParaRPr>
          </a:p>
        </p:txBody>
      </p:sp>
      <p:sp>
        <p:nvSpPr>
          <p:cNvPr id="6" name="Shape 3"/>
          <p:cNvSpPr/>
          <p:nvPr/>
        </p:nvSpPr>
        <p:spPr>
          <a:xfrm>
            <a:off x="1205508" y="1600200"/>
            <a:ext cx="571500" cy="571500"/>
          </a:xfrm>
          <a:prstGeom prst="rect">
            <a:avLst/>
          </a:prstGeom>
          <a:solidFill>
            <a:srgbClr val="24BDAD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7" name="Text 4"/>
          <p:cNvSpPr/>
          <p:nvPr/>
        </p:nvSpPr>
        <p:spPr>
          <a:xfrm>
            <a:off x="1443168" y="1730138"/>
            <a:ext cx="96180" cy="31162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1</a:t>
            </a:r>
            <a:endParaRPr lang="en-US" sz="2025" dirty="0">
              <a:latin typeface="Indosat Bold Bold" pitchFamily="2" charset="77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42417" y="2347525"/>
            <a:ext cx="897682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DETECT</a:t>
            </a:r>
            <a:endParaRPr lang="en-US" sz="1800" dirty="0">
              <a:latin typeface="Indosat Bold Bold" pitchFamily="2" charset="77"/>
            </a:endParaRPr>
          </a:p>
        </p:txBody>
      </p:sp>
      <p:sp>
        <p:nvSpPr>
          <p:cNvPr id="9" name="Text 6"/>
          <p:cNvSpPr/>
          <p:nvPr/>
        </p:nvSpPr>
        <p:spPr>
          <a:xfrm>
            <a:off x="937420" y="2757745"/>
            <a:ext cx="1107675" cy="24237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575" b="1" dirty="0">
                <a:solidFill>
                  <a:srgbClr val="24BDA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15 seconds</a:t>
            </a:r>
            <a:endParaRPr lang="en-US" sz="1575" dirty="0">
              <a:latin typeface="Indosat Bold Bold" pitchFamily="2" charset="7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71500" y="3207964"/>
            <a:ext cx="1839516" cy="4349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42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AI monitors network traffic and identifies anomalies in real-time</a:t>
            </a:r>
            <a:endParaRPr lang="en-US" sz="942" dirty="0">
              <a:latin typeface="Indosat Bold Bold" pitchFamily="2" charset="7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59336" y="1600200"/>
            <a:ext cx="571500" cy="571500"/>
          </a:xfrm>
          <a:prstGeom prst="rect">
            <a:avLst/>
          </a:prstGeom>
          <a:solidFill>
            <a:srgbClr val="EC008C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467340" y="1730138"/>
            <a:ext cx="155491" cy="31162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2</a:t>
            </a:r>
            <a:endParaRPr lang="en-US" sz="2025" dirty="0">
              <a:latin typeface="Indosat Bold Bold" pitchFamily="2" charset="77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000065" y="2347525"/>
            <a:ext cx="1090042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ANALYZE</a:t>
            </a:r>
            <a:endParaRPr lang="en-US" sz="1800" dirty="0">
              <a:latin typeface="Indosat Bold Bold" pitchFamily="2" charset="77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2963997" y="2757745"/>
            <a:ext cx="1162178" cy="24237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575" b="1" dirty="0">
                <a:solidFill>
                  <a:srgbClr val="EC008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30 seconds</a:t>
            </a:r>
            <a:endParaRPr lang="en-US" sz="1575" dirty="0">
              <a:latin typeface="Indosat Bold Bold" pitchFamily="2" charset="77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2625328" y="3207964"/>
            <a:ext cx="1839516" cy="4349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42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LLM provides human-like threat intelligence with 94% accuracy</a:t>
            </a:r>
            <a:endParaRPr lang="en-US" sz="942" dirty="0">
              <a:latin typeface="Indosat Bold Bold" pitchFamily="2" charset="77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5313164" y="1600200"/>
            <a:ext cx="571500" cy="571500"/>
          </a:xfrm>
          <a:prstGeom prst="rect">
            <a:avLst/>
          </a:prstGeom>
          <a:solidFill>
            <a:srgbClr val="FFCB09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523573" y="1730138"/>
            <a:ext cx="150682" cy="31162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3</a:t>
            </a:r>
            <a:endParaRPr lang="en-US" sz="2025" dirty="0">
              <a:latin typeface="Indosat Bold Bold" pitchFamily="2" charset="77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045076" y="2347525"/>
            <a:ext cx="1107675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RESPOND</a:t>
            </a:r>
            <a:endParaRPr lang="en-US" sz="1800" dirty="0">
              <a:latin typeface="Indosat Bold Bold" pitchFamily="2" charset="77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5082747" y="2757745"/>
            <a:ext cx="1032334" cy="24237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575" b="1" dirty="0">
                <a:solidFill>
                  <a:srgbClr val="FFCB09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5 seconds</a:t>
            </a:r>
            <a:endParaRPr lang="en-US" sz="1575" dirty="0">
              <a:latin typeface="Indosat Bold Bold" pitchFamily="2" charset="77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679156" y="3207964"/>
            <a:ext cx="1839516" cy="4349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42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Autonomous containment actions without human intervention</a:t>
            </a:r>
            <a:endParaRPr lang="en-US" sz="942" dirty="0">
              <a:latin typeface="Indosat Bold Bold" pitchFamily="2" charset="77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7366992" y="1600200"/>
            <a:ext cx="571500" cy="571500"/>
          </a:xfrm>
          <a:prstGeom prst="rect">
            <a:avLst/>
          </a:prstGeom>
          <a:solidFill>
            <a:srgbClr val="C7158D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7571790" y="1730138"/>
            <a:ext cx="161903" cy="31162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4</a:t>
            </a:r>
            <a:endParaRPr lang="en-US" sz="2025" dirty="0">
              <a:latin typeface="Indosat Bold Bold" pitchFamily="2" charset="77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7113331" y="2347525"/>
            <a:ext cx="1078821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CONTAIN</a:t>
            </a:r>
            <a:endParaRPr lang="en-US" sz="1800" dirty="0">
              <a:latin typeface="Indosat Bold Bold" pitchFamily="2" charset="77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7098904" y="2757745"/>
            <a:ext cx="1107675" cy="24237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575" b="1" dirty="0">
                <a:solidFill>
                  <a:srgbClr val="C7158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15 seconds</a:t>
            </a:r>
            <a:endParaRPr lang="en-US" sz="1575" dirty="0">
              <a:latin typeface="Indosat Bold Bold" pitchFamily="2" charset="77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6732984" y="3184012"/>
            <a:ext cx="1839516" cy="2899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42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Complete threat isolation and system protection</a:t>
            </a:r>
            <a:endParaRPr lang="en-US" sz="942" dirty="0">
              <a:latin typeface="Indosat Bold Bold" pitchFamily="2" charset="77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571500" y="4000500"/>
            <a:ext cx="8001000" cy="1057275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1380689" y="4178514"/>
            <a:ext cx="1239121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4BDA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99.24%</a:t>
            </a:r>
            <a:endParaRPr lang="en-US" sz="2700" dirty="0">
              <a:latin typeface="Indosat Bold Bold" pitchFamily="2" charset="77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1173901" y="4655836"/>
            <a:ext cx="1652697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False Positive Reduction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4229758" y="4178514"/>
            <a:ext cx="684483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EC008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79%</a:t>
            </a:r>
            <a:endParaRPr lang="en-US" sz="2700" dirty="0">
              <a:latin typeface="Indosat Bold Bold" pitchFamily="2" charset="77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3873892" y="4655836"/>
            <a:ext cx="1396216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Workload Reduction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6740594" y="4178514"/>
            <a:ext cx="806311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CB09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24/7</a:t>
            </a:r>
            <a:endParaRPr lang="en-US" sz="2700" dirty="0">
              <a:latin typeface="Indosat Bold Bold" pitchFamily="2" charset="77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6350263" y="4655836"/>
            <a:ext cx="1586973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Autonomous Coverage</a:t>
            </a:r>
            <a:endParaRPr lang="en-US" sz="1046" dirty="0">
              <a:latin typeface="Indosat Bold Bold" pitchFamily="2" charset="77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4921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55811"/>
          </a:xfrm>
          <a:prstGeom prst="rect">
            <a:avLst/>
          </a:prstGeom>
          <a:solidFill>
            <a:srgbClr val="C7158D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4" name="Text 1"/>
          <p:cNvSpPr/>
          <p:nvPr/>
        </p:nvSpPr>
        <p:spPr>
          <a:xfrm>
            <a:off x="285750" y="123710"/>
            <a:ext cx="6735818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Investment Terms &amp; Expected Returns</a:t>
            </a:r>
            <a:endParaRPr lang="en-US" sz="2700" dirty="0">
              <a:latin typeface="Indosat Bold Bold" pitchFamily="2" charset="77"/>
            </a:endParaRPr>
          </a:p>
        </p:txBody>
      </p:sp>
      <p:sp>
        <p:nvSpPr>
          <p:cNvPr id="5" name="Text 2"/>
          <p:cNvSpPr/>
          <p:nvPr/>
        </p:nvSpPr>
        <p:spPr>
          <a:xfrm>
            <a:off x="285750" y="599814"/>
            <a:ext cx="3674083" cy="1905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dirty="0">
                <a:solidFill>
                  <a:srgbClr val="FFFFFF">
                    <a:alpha val="95000"/>
                  </a:srgbClr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Join Indonesia's AI Cybersecurity Revolution </a:t>
            </a:r>
            <a:endParaRPr lang="en-US" sz="1238" dirty="0">
              <a:latin typeface="Indosat Bold Bold" pitchFamily="2" charset="77"/>
            </a:endParaRPr>
          </a:p>
        </p:txBody>
      </p:sp>
      <p:sp>
        <p:nvSpPr>
          <p:cNvPr id="6" name="Shape 3"/>
          <p:cNvSpPr/>
          <p:nvPr/>
        </p:nvSpPr>
        <p:spPr>
          <a:xfrm>
            <a:off x="1178719" y="1098686"/>
            <a:ext cx="6786563" cy="1250156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7" name="Text 4"/>
          <p:cNvSpPr/>
          <p:nvPr/>
        </p:nvSpPr>
        <p:spPr>
          <a:xfrm>
            <a:off x="3761682" y="1249895"/>
            <a:ext cx="1620635" cy="1905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38" b="1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Investment Amount</a:t>
            </a:r>
            <a:endParaRPr lang="en-US" sz="1238" dirty="0">
              <a:latin typeface="Indosat Bold Bold" pitchFamily="2" charset="77"/>
            </a:endParaRPr>
          </a:p>
        </p:txBody>
      </p:sp>
      <p:sp>
        <p:nvSpPr>
          <p:cNvPr id="8" name="Text 5"/>
          <p:cNvSpPr/>
          <p:nvPr/>
        </p:nvSpPr>
        <p:spPr>
          <a:xfrm>
            <a:off x="3846641" y="1477819"/>
            <a:ext cx="1450718" cy="4847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3150" b="1" dirty="0">
                <a:solidFill>
                  <a:srgbClr val="EC008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IDR 14B</a:t>
            </a:r>
            <a:endParaRPr lang="en-US" sz="3150" dirty="0">
              <a:latin typeface="Indosat Bold Bold" pitchFamily="2" charset="77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99966" y="1987793"/>
            <a:ext cx="1744067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for 15% equity stake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1178719" y="2491718"/>
            <a:ext cx="6786563" cy="1250156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736835" y="2642926"/>
            <a:ext cx="1670329" cy="1905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38" b="1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Expected 5-Year ROI</a:t>
            </a:r>
            <a:endParaRPr lang="en-US" sz="1238" dirty="0">
              <a:latin typeface="Indosat Bold Bold" pitchFamily="2" charset="7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034994" y="2870850"/>
            <a:ext cx="1074012" cy="4847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3150" b="1" dirty="0">
                <a:solidFill>
                  <a:srgbClr val="24BDA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295%</a:t>
            </a:r>
            <a:endParaRPr lang="en-US" sz="3150" dirty="0">
              <a:latin typeface="Indosat Bold Bold" pitchFamily="2" charset="77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270361" y="3380824"/>
            <a:ext cx="2603277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Validated financial projection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1178719" y="3884749"/>
            <a:ext cx="6786563" cy="1250156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961256" y="4035957"/>
            <a:ext cx="1221488" cy="1905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38" b="1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Terminal Value</a:t>
            </a:r>
            <a:endParaRPr lang="en-US" sz="1238" dirty="0">
              <a:latin typeface="Indosat Bold Bold" pitchFamily="2" charset="77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3810573" y="4263881"/>
            <a:ext cx="1522853" cy="4847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3150" b="1" dirty="0">
                <a:solidFill>
                  <a:srgbClr val="FFCB09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IDR 1.8T</a:t>
            </a:r>
            <a:endParaRPr lang="en-US" sz="3150" dirty="0">
              <a:latin typeface="Indosat Bold Bold" pitchFamily="2" charset="77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3581344" y="4773856"/>
            <a:ext cx="1981312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at 4x revenue multiple</a:t>
            </a:r>
            <a:endParaRPr lang="en-US" sz="1350" dirty="0">
              <a:latin typeface="Indosat Bold Bold" pitchFamily="2" charset="77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35856"/>
          </a:xfrm>
          <a:prstGeom prst="rect">
            <a:avLst/>
          </a:prstGeom>
          <a:solidFill>
            <a:srgbClr val="C7158D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4" name="Text 1"/>
          <p:cNvSpPr/>
          <p:nvPr/>
        </p:nvSpPr>
        <p:spPr>
          <a:xfrm>
            <a:off x="285750" y="206589"/>
            <a:ext cx="5010987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Use of Funds &amp; Call to Action</a:t>
            </a:r>
            <a:endParaRPr lang="en-US" sz="2700" dirty="0">
              <a:latin typeface="Indosat Bold Bold" pitchFamily="2" charset="77"/>
            </a:endParaRPr>
          </a:p>
        </p:txBody>
      </p:sp>
      <p:sp>
        <p:nvSpPr>
          <p:cNvPr id="5" name="Text 2"/>
          <p:cNvSpPr/>
          <p:nvPr/>
        </p:nvSpPr>
        <p:spPr>
          <a:xfrm>
            <a:off x="285750" y="765571"/>
            <a:ext cx="3409588" cy="1905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dirty="0">
                <a:solidFill>
                  <a:srgbClr val="FFFFFF">
                    <a:alpha val="95000"/>
                  </a:srgbClr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Strategic Allocation for Maximum Impact </a:t>
            </a:r>
            <a:endParaRPr lang="en-US" sz="1238" dirty="0">
              <a:latin typeface="Indosat Bold Bold" pitchFamily="2" charset="77"/>
            </a:endParaRPr>
          </a:p>
        </p:txBody>
      </p:sp>
      <p:sp>
        <p:nvSpPr>
          <p:cNvPr id="6" name="Text 3"/>
          <p:cNvSpPr/>
          <p:nvPr/>
        </p:nvSpPr>
        <p:spPr>
          <a:xfrm>
            <a:off x="3968469" y="1154997"/>
            <a:ext cx="1207062" cy="2251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463" b="1" dirty="0">
                <a:solidFill>
                  <a:srgbClr val="EC008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Use of Funds</a:t>
            </a:r>
            <a:endParaRPr lang="en-US" sz="1463" dirty="0">
              <a:latin typeface="Indosat Bold Bold" pitchFamily="2" charset="77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7313" y="1514020"/>
            <a:ext cx="6429375" cy="1285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57313" y="2805956"/>
            <a:ext cx="1766509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Technology Development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9" name="Text 5"/>
          <p:cNvSpPr/>
          <p:nvPr/>
        </p:nvSpPr>
        <p:spPr>
          <a:xfrm>
            <a:off x="7370815" y="2765239"/>
            <a:ext cx="439223" cy="24237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575" b="1" dirty="0">
                <a:solidFill>
                  <a:srgbClr val="EC008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40%</a:t>
            </a:r>
            <a:endParaRPr lang="en-US" sz="1575" dirty="0">
              <a:latin typeface="Indosat Bold Bold" pitchFamily="2" charset="77"/>
            </a:endParaRPr>
          </a:p>
        </p:txBody>
      </p:sp>
      <p:sp>
        <p:nvSpPr>
          <p:cNvPr id="10" name="Text 6"/>
          <p:cNvSpPr/>
          <p:nvPr/>
        </p:nvSpPr>
        <p:spPr>
          <a:xfrm>
            <a:off x="1357313" y="3263156"/>
            <a:ext cx="1136530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Team Expansion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11" name="Text 7"/>
          <p:cNvSpPr/>
          <p:nvPr/>
        </p:nvSpPr>
        <p:spPr>
          <a:xfrm>
            <a:off x="7370815" y="3222439"/>
            <a:ext cx="439223" cy="24237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575" b="1" dirty="0">
                <a:solidFill>
                  <a:srgbClr val="24BDA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40%</a:t>
            </a:r>
            <a:endParaRPr lang="en-US" sz="1575" dirty="0">
              <a:latin typeface="Indosat Bold Bold" pitchFamily="2" charset="77"/>
            </a:endParaRPr>
          </a:p>
        </p:txBody>
      </p:sp>
      <p:sp>
        <p:nvSpPr>
          <p:cNvPr id="12" name="Text 8"/>
          <p:cNvSpPr/>
          <p:nvPr/>
        </p:nvSpPr>
        <p:spPr>
          <a:xfrm>
            <a:off x="1357313" y="3720356"/>
            <a:ext cx="1219886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Marketing &amp; Sales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13" name="Text 9"/>
          <p:cNvSpPr/>
          <p:nvPr/>
        </p:nvSpPr>
        <p:spPr>
          <a:xfrm>
            <a:off x="7370815" y="3679639"/>
            <a:ext cx="376706" cy="24237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575" b="1" dirty="0">
                <a:solidFill>
                  <a:srgbClr val="FFCB09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15%</a:t>
            </a:r>
            <a:endParaRPr lang="en-US" sz="1575" dirty="0">
              <a:latin typeface="Indosat Bold Bold" pitchFamily="2" charset="77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1357313" y="4177556"/>
            <a:ext cx="1114088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Working Capital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7486427" y="4136839"/>
            <a:ext cx="301365" cy="24237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575" b="1" dirty="0">
                <a:solidFill>
                  <a:srgbClr val="C7158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5%</a:t>
            </a:r>
            <a:endParaRPr lang="en-US" sz="1575" dirty="0">
              <a:latin typeface="Indosat Bold Bold" pitchFamily="2" charset="77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571500" y="4414007"/>
            <a:ext cx="8001000" cy="683192"/>
          </a:xfrm>
          <a:prstGeom prst="rect">
            <a:avLst/>
          </a:prstGeom>
          <a:solidFill>
            <a:srgbClr val="2C2C2C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2626742" y="4498479"/>
            <a:ext cx="3890489" cy="1905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38" b="1" dirty="0">
                <a:solidFill>
                  <a:srgbClr val="FFCB09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Ready to Transform Indonesia's Digital Security?</a:t>
            </a:r>
            <a:endParaRPr lang="en-US" sz="1238" dirty="0">
              <a:latin typeface="Indosat Bold Bold" pitchFamily="2" charset="77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1266594" y="4734223"/>
            <a:ext cx="6610785" cy="1905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38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Partner with us to build the foundational AI layer protecting 64M Indonesian SMEs </a:t>
            </a:r>
            <a:endParaRPr lang="en-US" sz="1238" dirty="0">
              <a:latin typeface="Indosat Bold Bold" pitchFamily="2" charset="77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71538"/>
          </a:xfrm>
          <a:prstGeom prst="rect">
            <a:avLst/>
          </a:prstGeom>
          <a:solidFill>
            <a:srgbClr val="C7158D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4" name="Text 1"/>
          <p:cNvSpPr/>
          <p:nvPr/>
        </p:nvSpPr>
        <p:spPr>
          <a:xfrm>
            <a:off x="285750" y="228020"/>
            <a:ext cx="6386364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Team Composition &amp; Core Strengths</a:t>
            </a:r>
            <a:endParaRPr lang="en-US" sz="2700" dirty="0">
              <a:latin typeface="Indosat Bold Bold" pitchFamily="2" charset="77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71500" y="970100"/>
            <a:ext cx="8001000" cy="1157288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6" name="Text 3"/>
          <p:cNvSpPr/>
          <p:nvPr/>
        </p:nvSpPr>
        <p:spPr>
          <a:xfrm>
            <a:off x="4370022" y="1100295"/>
            <a:ext cx="403957" cy="5539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C008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17</a:t>
            </a:r>
            <a:endParaRPr lang="en-US" sz="3600" dirty="0">
              <a:latin typeface="Indosat Bold Bold" pitchFamily="2" charset="77"/>
            </a:endParaRPr>
          </a:p>
        </p:txBody>
      </p:sp>
      <p:sp>
        <p:nvSpPr>
          <p:cNvPr id="7" name="Text 4"/>
          <p:cNvSpPr/>
          <p:nvPr/>
        </p:nvSpPr>
        <p:spPr>
          <a:xfrm>
            <a:off x="3380969" y="1716332"/>
            <a:ext cx="2382062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Highly Skilled Professionals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71500" y="2214375"/>
            <a:ext cx="3911203" cy="1000125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2400113"/>
            <a:ext cx="171450" cy="1714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57263" y="2381070"/>
            <a:ext cx="2006960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4BDA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AI &amp; Machine Learning 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11" name="Text 7"/>
          <p:cNvSpPr/>
          <p:nvPr/>
        </p:nvSpPr>
        <p:spPr>
          <a:xfrm>
            <a:off x="714375" y="2733769"/>
            <a:ext cx="3625453" cy="2899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Multi-agent systems, LLM integration, reinforcement learning</a:t>
            </a:r>
            <a:endParaRPr lang="en-US" sz="942" dirty="0">
              <a:latin typeface="Indosat Bold Bold" pitchFamily="2" charset="77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4661297" y="2214375"/>
            <a:ext cx="3911203" cy="1000125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4172" y="2400113"/>
            <a:ext cx="171450" cy="1714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047059" y="2381070"/>
            <a:ext cx="1303242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EC008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Cybersecurity 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4804172" y="2709815"/>
            <a:ext cx="3298980" cy="144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SOC operations, threat intelligence, incident response</a:t>
            </a:r>
            <a:endParaRPr lang="en-US" sz="942" dirty="0">
              <a:latin typeface="Indosat Bold Bold" pitchFamily="2" charset="77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571500" y="3393094"/>
            <a:ext cx="3911203" cy="807244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3578831"/>
            <a:ext cx="214313" cy="1714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00125" y="3559788"/>
            <a:ext cx="1806585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CB09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Cloud Infrastructure 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714375" y="3888533"/>
            <a:ext cx="2979983" cy="144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GCP deployment, scalable architecture, DevOps</a:t>
            </a:r>
            <a:endParaRPr lang="en-US" sz="942" dirty="0">
              <a:latin typeface="Indosat Bold Bold" pitchFamily="2" charset="77"/>
            </a:endParaRPr>
          </a:p>
        </p:txBody>
      </p:sp>
      <p:sp>
        <p:nvSpPr>
          <p:cNvPr id="20" name="Shape 14"/>
          <p:cNvSpPr/>
          <p:nvPr/>
        </p:nvSpPr>
        <p:spPr>
          <a:xfrm>
            <a:off x="4661297" y="3393094"/>
            <a:ext cx="3911203" cy="807244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4172" y="3578831"/>
            <a:ext cx="171450" cy="17145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047059" y="3559788"/>
            <a:ext cx="1442703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C7158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Enterprise Sales 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4804172" y="3888533"/>
            <a:ext cx="2176878" cy="144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Banking, fintech, telco partnerships</a:t>
            </a:r>
            <a:endParaRPr lang="en-US" sz="942" dirty="0">
              <a:latin typeface="Indosat Bold Bold" pitchFamily="2" charset="77"/>
            </a:endParaRPr>
          </a:p>
        </p:txBody>
      </p:sp>
      <p:sp>
        <p:nvSpPr>
          <p:cNvPr id="24" name="Shape 17"/>
          <p:cNvSpPr/>
          <p:nvPr/>
        </p:nvSpPr>
        <p:spPr>
          <a:xfrm>
            <a:off x="571500" y="4275750"/>
            <a:ext cx="8001000" cy="828675"/>
          </a:xfrm>
          <a:prstGeom prst="rect">
            <a:avLst/>
          </a:prstGeom>
          <a:solidFill>
            <a:srgbClr val="2C2C2C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5" name="Text 18"/>
          <p:cNvSpPr/>
          <p:nvPr/>
        </p:nvSpPr>
        <p:spPr>
          <a:xfrm>
            <a:off x="624275" y="4351546"/>
            <a:ext cx="7716856" cy="3810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238" b="1" dirty="0">
                <a:solidFill>
                  <a:srgbClr val="FFCB09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The Perfect Balance: </a:t>
            </a:r>
            <a:r>
              <a:rPr lang="en-US" sz="1238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Deep enterprise expertise to build world-class solutions + startup speed to</a:t>
            </a:r>
          </a:p>
          <a:p>
            <a:pPr algn="ctr"/>
            <a:r>
              <a:rPr lang="en-US" sz="1238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capture market opportunity  </a:t>
            </a:r>
            <a:endParaRPr lang="en-US" sz="1238" dirty="0">
              <a:latin typeface="Indosat Bold Bold" pitchFamily="2" charset="77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6BA8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4" name="Text 1"/>
          <p:cNvSpPr/>
          <p:nvPr/>
        </p:nvSpPr>
        <p:spPr>
          <a:xfrm>
            <a:off x="428625" y="147250"/>
            <a:ext cx="4156587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GATRA Investment Scenario - Part 1</a:t>
            </a:r>
            <a:endParaRPr lang="en-US" sz="1800" dirty="0">
              <a:solidFill>
                <a:schemeClr val="bg1"/>
              </a:solidFill>
              <a:latin typeface="Indosat Bold Bold" pitchFamily="2" charset="77"/>
            </a:endParaRPr>
          </a:p>
        </p:txBody>
      </p:sp>
      <p:sp>
        <p:nvSpPr>
          <p:cNvPr id="5" name="Text 2"/>
          <p:cNvSpPr/>
          <p:nvPr/>
        </p:nvSpPr>
        <p:spPr>
          <a:xfrm>
            <a:off x="428625" y="585645"/>
            <a:ext cx="2252220" cy="1905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1A20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5-Year Financial Projections</a:t>
            </a:r>
            <a:endParaRPr lang="en-US" sz="1238" dirty="0">
              <a:latin typeface="Indosat Bold Bold" pitchFamily="2" charset="77"/>
            </a:endParaRPr>
          </a:p>
        </p:txBody>
      </p:sp>
      <p:sp>
        <p:nvSpPr>
          <p:cNvPr id="6" name="Text 3"/>
          <p:cNvSpPr/>
          <p:nvPr/>
        </p:nvSpPr>
        <p:spPr>
          <a:xfrm>
            <a:off x="428625" y="800878"/>
            <a:ext cx="2320268" cy="317897"/>
          </a:xfrm>
          <a:prstGeom prst="rect">
            <a:avLst/>
          </a:prstGeom>
          <a:noFill/>
          <a:ln/>
        </p:spPr>
        <p:txBody>
          <a:bodyPr wrap="square" lIns="119126" tIns="102108" rIns="119126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1A20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Metrics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748893" y="800878"/>
            <a:ext cx="1193285" cy="317897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8" name="Shape 5"/>
          <p:cNvSpPr/>
          <p:nvPr/>
        </p:nvSpPr>
        <p:spPr>
          <a:xfrm>
            <a:off x="2748893" y="1104487"/>
            <a:ext cx="1193285" cy="14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9" name="Text 6"/>
          <p:cNvSpPr/>
          <p:nvPr/>
        </p:nvSpPr>
        <p:spPr>
          <a:xfrm>
            <a:off x="2748893" y="800878"/>
            <a:ext cx="1193285" cy="317897"/>
          </a:xfrm>
          <a:prstGeom prst="rect">
            <a:avLst/>
          </a:prstGeom>
          <a:noFill/>
          <a:ln/>
        </p:spPr>
        <p:txBody>
          <a:bodyPr wrap="square" lIns="119126" tIns="102108" rIns="119126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1A20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Year 1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942178" y="800878"/>
            <a:ext cx="1193285" cy="317897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942178" y="1104487"/>
            <a:ext cx="1193285" cy="14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942178" y="800878"/>
            <a:ext cx="1193285" cy="317897"/>
          </a:xfrm>
          <a:prstGeom prst="rect">
            <a:avLst/>
          </a:prstGeom>
          <a:noFill/>
          <a:ln/>
        </p:spPr>
        <p:txBody>
          <a:bodyPr wrap="square" lIns="119126" tIns="102108" rIns="119126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1A20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Year 2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5135463" y="800878"/>
            <a:ext cx="1193285" cy="317897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135463" y="1104487"/>
            <a:ext cx="1193285" cy="14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135463" y="800878"/>
            <a:ext cx="1193285" cy="317897"/>
          </a:xfrm>
          <a:prstGeom prst="rect">
            <a:avLst/>
          </a:prstGeom>
          <a:noFill/>
          <a:ln/>
        </p:spPr>
        <p:txBody>
          <a:bodyPr wrap="square" lIns="119126" tIns="102108" rIns="119126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1A20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Year 3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6328749" y="800878"/>
            <a:ext cx="1193285" cy="317897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328749" y="1104487"/>
            <a:ext cx="1193285" cy="14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328749" y="800878"/>
            <a:ext cx="1193285" cy="317897"/>
          </a:xfrm>
          <a:prstGeom prst="rect">
            <a:avLst/>
          </a:prstGeom>
          <a:noFill/>
          <a:ln/>
        </p:spPr>
        <p:txBody>
          <a:bodyPr wrap="square" lIns="119126" tIns="102108" rIns="119126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1A20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Year 4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7522034" y="800878"/>
            <a:ext cx="1193341" cy="317897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7522034" y="1104487"/>
            <a:ext cx="1193341" cy="14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522034" y="800878"/>
            <a:ext cx="1193341" cy="317897"/>
          </a:xfrm>
          <a:prstGeom prst="rect">
            <a:avLst/>
          </a:prstGeom>
          <a:noFill/>
          <a:ln/>
        </p:spPr>
        <p:txBody>
          <a:bodyPr wrap="square" lIns="119126" tIns="102108" rIns="119126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1A20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Year 5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428625" y="1118775"/>
            <a:ext cx="8286750" cy="303609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428625" y="1415240"/>
            <a:ext cx="8286750" cy="7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428625" y="1128329"/>
            <a:ext cx="8286750" cy="284501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1A20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REVENUE METRICS</a:t>
            </a:r>
            <a:endParaRPr lang="en-US" sz="732" dirty="0">
              <a:latin typeface="Indosat Bold Bold" pitchFamily="2" charset="77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28625" y="1418812"/>
            <a:ext cx="2320268" cy="285750"/>
          </a:xfrm>
          <a:prstGeom prst="rect">
            <a:avLst/>
          </a:prstGeom>
          <a:noFill/>
          <a:ln/>
        </p:spPr>
        <p:txBody>
          <a:bodyPr wrap="square" lIns="204089" tIns="85090" rIns="119126" bIns="8509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1A20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Revenue (IDR Billions)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2748893" y="1418812"/>
            <a:ext cx="1193285" cy="285750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4DD4C7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4.50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3942178" y="1418812"/>
            <a:ext cx="1193285" cy="285750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4DD4C7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27.39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5135463" y="1418812"/>
            <a:ext cx="1193285" cy="285750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4DD4C7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94.38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6328749" y="1418812"/>
            <a:ext cx="1193285" cy="285750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4DD4C7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155.73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7522034" y="1418812"/>
            <a:ext cx="1193341" cy="285750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4DD4C7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228.40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428625" y="1710980"/>
            <a:ext cx="2320268" cy="276486"/>
          </a:xfrm>
          <a:prstGeom prst="rect">
            <a:avLst/>
          </a:prstGeom>
          <a:noFill/>
          <a:ln/>
        </p:spPr>
        <p:txBody>
          <a:bodyPr wrap="square" lIns="204089" tIns="85090" rIns="119126" bIns="8509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1A20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Growth Rate (%)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2748893" y="1710980"/>
            <a:ext cx="1193285" cy="27648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4A556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-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3942178" y="1710980"/>
            <a:ext cx="1193285" cy="27648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4A556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508%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5135463" y="1710980"/>
            <a:ext cx="1193285" cy="27648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4A556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245%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6328749" y="1710980"/>
            <a:ext cx="1193285" cy="27648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4A556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65%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7522034" y="1710980"/>
            <a:ext cx="1193341" cy="27648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4A556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47%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428625" y="2000302"/>
            <a:ext cx="2320268" cy="276486"/>
          </a:xfrm>
          <a:prstGeom prst="rect">
            <a:avLst/>
          </a:prstGeom>
          <a:noFill/>
          <a:ln/>
        </p:spPr>
        <p:txBody>
          <a:bodyPr wrap="square" lIns="204089" tIns="85090" rIns="119126" bIns="8509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1A20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Total Customers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2748893" y="2000302"/>
            <a:ext cx="1193285" cy="27648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4A556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15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3942178" y="2000302"/>
            <a:ext cx="1193285" cy="27648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4A556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91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5135463" y="2000302"/>
            <a:ext cx="1193285" cy="27648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4A556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314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6328749" y="2000302"/>
            <a:ext cx="1193285" cy="27648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4A556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519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7522034" y="2000302"/>
            <a:ext cx="1193341" cy="27648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4A556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761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428625" y="2289624"/>
            <a:ext cx="2320268" cy="276486"/>
          </a:xfrm>
          <a:prstGeom prst="rect">
            <a:avLst/>
          </a:prstGeom>
          <a:noFill/>
          <a:ln/>
        </p:spPr>
        <p:txBody>
          <a:bodyPr wrap="square" lIns="204089" tIns="85090" rIns="119126" bIns="8509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1A20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ARPU (IDR Millions/month)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2748893" y="2289624"/>
            <a:ext cx="1193285" cy="27648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4A556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25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3942178" y="2289624"/>
            <a:ext cx="1193285" cy="27648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4A556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25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5135463" y="2289624"/>
            <a:ext cx="1193285" cy="27648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4A556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25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6328749" y="2289624"/>
            <a:ext cx="1193285" cy="27648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4A556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25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7522034" y="2289624"/>
            <a:ext cx="1193341" cy="27648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4A556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25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49" name="Shape 46"/>
          <p:cNvSpPr/>
          <p:nvPr/>
        </p:nvSpPr>
        <p:spPr>
          <a:xfrm>
            <a:off x="428625" y="2538660"/>
            <a:ext cx="8286750" cy="30003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50" name="Shape 47"/>
          <p:cNvSpPr/>
          <p:nvPr/>
        </p:nvSpPr>
        <p:spPr>
          <a:xfrm>
            <a:off x="428625" y="2831554"/>
            <a:ext cx="8286750" cy="7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51" name="Text 48"/>
          <p:cNvSpPr/>
          <p:nvPr/>
        </p:nvSpPr>
        <p:spPr>
          <a:xfrm>
            <a:off x="428625" y="2546428"/>
            <a:ext cx="8286750" cy="284501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1A20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COST STRUCTURE</a:t>
            </a:r>
            <a:endParaRPr lang="en-US" sz="732" dirty="0">
              <a:latin typeface="Indosat Bold Bold" pitchFamily="2" charset="77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428625" y="2835125"/>
            <a:ext cx="2320268" cy="285750"/>
          </a:xfrm>
          <a:prstGeom prst="rect">
            <a:avLst/>
          </a:prstGeom>
          <a:noFill/>
          <a:ln/>
        </p:spPr>
        <p:txBody>
          <a:bodyPr wrap="square" lIns="204089" tIns="85090" rIns="119126" bIns="8509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1A20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COGS (IDR Billions)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2748893" y="2835125"/>
            <a:ext cx="1193285" cy="285750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4A556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1.13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54" name="Text 51"/>
          <p:cNvSpPr/>
          <p:nvPr/>
        </p:nvSpPr>
        <p:spPr>
          <a:xfrm>
            <a:off x="3942178" y="2835125"/>
            <a:ext cx="1193285" cy="285750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4A556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6.85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5135463" y="2835125"/>
            <a:ext cx="1193285" cy="285750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4A556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23.59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56" name="Text 53"/>
          <p:cNvSpPr/>
          <p:nvPr/>
        </p:nvSpPr>
        <p:spPr>
          <a:xfrm>
            <a:off x="6328749" y="2835125"/>
            <a:ext cx="1193285" cy="285750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4A556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38.93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57" name="Text 54"/>
          <p:cNvSpPr/>
          <p:nvPr/>
        </p:nvSpPr>
        <p:spPr>
          <a:xfrm>
            <a:off x="7522034" y="2835125"/>
            <a:ext cx="1193341" cy="285750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4A556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57.10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58" name="Text 55"/>
          <p:cNvSpPr/>
          <p:nvPr/>
        </p:nvSpPr>
        <p:spPr>
          <a:xfrm>
            <a:off x="428625" y="3127293"/>
            <a:ext cx="2320268" cy="276486"/>
          </a:xfrm>
          <a:prstGeom prst="rect">
            <a:avLst/>
          </a:prstGeom>
          <a:noFill/>
          <a:ln/>
        </p:spPr>
        <p:txBody>
          <a:bodyPr wrap="square" lIns="204089" tIns="85090" rIns="119126" bIns="8509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1A20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Operating Expenses (IDR Billions)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59" name="Text 56"/>
          <p:cNvSpPr/>
          <p:nvPr/>
        </p:nvSpPr>
        <p:spPr>
          <a:xfrm>
            <a:off x="2748893" y="3127293"/>
            <a:ext cx="1193285" cy="27648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4A556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5.95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60" name="Text 57"/>
          <p:cNvSpPr/>
          <p:nvPr/>
        </p:nvSpPr>
        <p:spPr>
          <a:xfrm>
            <a:off x="3942178" y="3127293"/>
            <a:ext cx="1193285" cy="27648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4A556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7.14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61" name="Text 58"/>
          <p:cNvSpPr/>
          <p:nvPr/>
        </p:nvSpPr>
        <p:spPr>
          <a:xfrm>
            <a:off x="5135463" y="3127293"/>
            <a:ext cx="1193285" cy="27648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4A556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8.57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62" name="Text 59"/>
          <p:cNvSpPr/>
          <p:nvPr/>
        </p:nvSpPr>
        <p:spPr>
          <a:xfrm>
            <a:off x="6328749" y="3127293"/>
            <a:ext cx="1193285" cy="27648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4A556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10.28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63" name="Text 60"/>
          <p:cNvSpPr/>
          <p:nvPr/>
        </p:nvSpPr>
        <p:spPr>
          <a:xfrm>
            <a:off x="7522034" y="3127293"/>
            <a:ext cx="1193341" cy="27648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4A556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12.34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64" name="Text 61"/>
          <p:cNvSpPr/>
          <p:nvPr/>
        </p:nvSpPr>
        <p:spPr>
          <a:xfrm>
            <a:off x="428625" y="3416615"/>
            <a:ext cx="2320268" cy="276486"/>
          </a:xfrm>
          <a:prstGeom prst="rect">
            <a:avLst/>
          </a:prstGeom>
          <a:noFill/>
          <a:ln/>
        </p:spPr>
        <p:txBody>
          <a:bodyPr wrap="square" lIns="204089" tIns="85090" rIns="119126" bIns="8509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1A20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Total Costs (IDR Billions)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65" name="Text 62"/>
          <p:cNvSpPr/>
          <p:nvPr/>
        </p:nvSpPr>
        <p:spPr>
          <a:xfrm>
            <a:off x="2748893" y="3416615"/>
            <a:ext cx="1193285" cy="27648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4A556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7.08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66" name="Text 63"/>
          <p:cNvSpPr/>
          <p:nvPr/>
        </p:nvSpPr>
        <p:spPr>
          <a:xfrm>
            <a:off x="3942178" y="3416615"/>
            <a:ext cx="1193285" cy="27648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4A556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13.99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67" name="Text 64"/>
          <p:cNvSpPr/>
          <p:nvPr/>
        </p:nvSpPr>
        <p:spPr>
          <a:xfrm>
            <a:off x="5135463" y="3416615"/>
            <a:ext cx="1193285" cy="27648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4A556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32.16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68" name="Text 65"/>
          <p:cNvSpPr/>
          <p:nvPr/>
        </p:nvSpPr>
        <p:spPr>
          <a:xfrm>
            <a:off x="6328749" y="3416615"/>
            <a:ext cx="1193285" cy="27648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4A556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49.21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69" name="Text 66"/>
          <p:cNvSpPr/>
          <p:nvPr/>
        </p:nvSpPr>
        <p:spPr>
          <a:xfrm>
            <a:off x="7522034" y="3416615"/>
            <a:ext cx="1193341" cy="27648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4A556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69.44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70" name="Shape 67"/>
          <p:cNvSpPr/>
          <p:nvPr/>
        </p:nvSpPr>
        <p:spPr>
          <a:xfrm>
            <a:off x="428625" y="3699519"/>
            <a:ext cx="8286750" cy="27648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71" name="Shape 68"/>
          <p:cNvSpPr/>
          <p:nvPr/>
        </p:nvSpPr>
        <p:spPr>
          <a:xfrm>
            <a:off x="428625" y="3992413"/>
            <a:ext cx="8286750" cy="7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72" name="Text 69"/>
          <p:cNvSpPr/>
          <p:nvPr/>
        </p:nvSpPr>
        <p:spPr>
          <a:xfrm>
            <a:off x="428625" y="3707287"/>
            <a:ext cx="8286750" cy="284501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1A20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PROFITABILITY</a:t>
            </a:r>
            <a:endParaRPr lang="en-US" sz="732" dirty="0">
              <a:latin typeface="Indosat Bold Bold" pitchFamily="2" charset="77"/>
            </a:endParaRPr>
          </a:p>
        </p:txBody>
      </p:sp>
      <p:sp>
        <p:nvSpPr>
          <p:cNvPr id="73" name="Text 70"/>
          <p:cNvSpPr/>
          <p:nvPr/>
        </p:nvSpPr>
        <p:spPr>
          <a:xfrm>
            <a:off x="428625" y="3987518"/>
            <a:ext cx="2320268" cy="285750"/>
          </a:xfrm>
          <a:prstGeom prst="rect">
            <a:avLst/>
          </a:prstGeom>
          <a:noFill/>
          <a:ln/>
        </p:spPr>
        <p:txBody>
          <a:bodyPr wrap="square" lIns="204089" tIns="85090" rIns="119126" bIns="8509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1A20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Gross Profit (IDR Billions)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74" name="Text 71"/>
          <p:cNvSpPr/>
          <p:nvPr/>
        </p:nvSpPr>
        <p:spPr>
          <a:xfrm>
            <a:off x="2748893" y="3987518"/>
            <a:ext cx="1193285" cy="285750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FF6BA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3.37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75" name="Text 72"/>
          <p:cNvSpPr/>
          <p:nvPr/>
        </p:nvSpPr>
        <p:spPr>
          <a:xfrm>
            <a:off x="3942178" y="3987518"/>
            <a:ext cx="1193285" cy="285750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FF6BA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20.54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76" name="Text 73"/>
          <p:cNvSpPr/>
          <p:nvPr/>
        </p:nvSpPr>
        <p:spPr>
          <a:xfrm>
            <a:off x="5135463" y="3987518"/>
            <a:ext cx="1193285" cy="285750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FF6BA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70.79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77" name="Text 74"/>
          <p:cNvSpPr/>
          <p:nvPr/>
        </p:nvSpPr>
        <p:spPr>
          <a:xfrm>
            <a:off x="6328749" y="3987518"/>
            <a:ext cx="1193285" cy="285750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FF6BA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116.80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78" name="Text 75"/>
          <p:cNvSpPr/>
          <p:nvPr/>
        </p:nvSpPr>
        <p:spPr>
          <a:xfrm>
            <a:off x="7522034" y="3987518"/>
            <a:ext cx="1193341" cy="285750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FF6BA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171.30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79" name="Text 76"/>
          <p:cNvSpPr/>
          <p:nvPr/>
        </p:nvSpPr>
        <p:spPr>
          <a:xfrm>
            <a:off x="428625" y="4279686"/>
            <a:ext cx="2320268" cy="276486"/>
          </a:xfrm>
          <a:prstGeom prst="rect">
            <a:avLst/>
          </a:prstGeom>
          <a:noFill/>
          <a:ln/>
        </p:spPr>
        <p:txBody>
          <a:bodyPr wrap="square" lIns="204089" tIns="85090" rIns="119126" bIns="8509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1A20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Gross Margin (%)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80" name="Text 77"/>
          <p:cNvSpPr/>
          <p:nvPr/>
        </p:nvSpPr>
        <p:spPr>
          <a:xfrm>
            <a:off x="2748893" y="4279686"/>
            <a:ext cx="1193285" cy="27648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4A556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75%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81" name="Text 78"/>
          <p:cNvSpPr/>
          <p:nvPr/>
        </p:nvSpPr>
        <p:spPr>
          <a:xfrm>
            <a:off x="3942178" y="4279686"/>
            <a:ext cx="1193285" cy="27648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4A556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75%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82" name="Text 79"/>
          <p:cNvSpPr/>
          <p:nvPr/>
        </p:nvSpPr>
        <p:spPr>
          <a:xfrm>
            <a:off x="5135463" y="4279686"/>
            <a:ext cx="1193285" cy="27648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4A556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75%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83" name="Text 80"/>
          <p:cNvSpPr/>
          <p:nvPr/>
        </p:nvSpPr>
        <p:spPr>
          <a:xfrm>
            <a:off x="6328749" y="4279686"/>
            <a:ext cx="1193285" cy="27648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4A556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75%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84" name="Text 81"/>
          <p:cNvSpPr/>
          <p:nvPr/>
        </p:nvSpPr>
        <p:spPr>
          <a:xfrm>
            <a:off x="7522034" y="4279686"/>
            <a:ext cx="1193341" cy="27648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4A556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75%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85" name="Text 82"/>
          <p:cNvSpPr/>
          <p:nvPr/>
        </p:nvSpPr>
        <p:spPr>
          <a:xfrm>
            <a:off x="428625" y="4569008"/>
            <a:ext cx="2320268" cy="276486"/>
          </a:xfrm>
          <a:prstGeom prst="rect">
            <a:avLst/>
          </a:prstGeom>
          <a:noFill/>
          <a:ln/>
        </p:spPr>
        <p:txBody>
          <a:bodyPr wrap="square" lIns="204089" tIns="85090" rIns="119126" bIns="8509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1A20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Net Profit (IDR Billions)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86" name="Text 83"/>
          <p:cNvSpPr/>
          <p:nvPr/>
        </p:nvSpPr>
        <p:spPr>
          <a:xfrm>
            <a:off x="2748893" y="4569008"/>
            <a:ext cx="1193285" cy="27648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FF6BA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-2.58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87" name="Text 84"/>
          <p:cNvSpPr/>
          <p:nvPr/>
        </p:nvSpPr>
        <p:spPr>
          <a:xfrm>
            <a:off x="3942178" y="4569008"/>
            <a:ext cx="1193285" cy="27648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FF6BA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13.40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88" name="Text 85"/>
          <p:cNvSpPr/>
          <p:nvPr/>
        </p:nvSpPr>
        <p:spPr>
          <a:xfrm>
            <a:off x="5135463" y="4569008"/>
            <a:ext cx="1193285" cy="27648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FF6BA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62.22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89" name="Text 86"/>
          <p:cNvSpPr/>
          <p:nvPr/>
        </p:nvSpPr>
        <p:spPr>
          <a:xfrm>
            <a:off x="6328749" y="4569008"/>
            <a:ext cx="1193285" cy="27648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FF6BA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106.52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90" name="Text 87"/>
          <p:cNvSpPr/>
          <p:nvPr/>
        </p:nvSpPr>
        <p:spPr>
          <a:xfrm>
            <a:off x="7522034" y="4569008"/>
            <a:ext cx="1193341" cy="27648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FF6BA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158.96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91" name="Text 88"/>
          <p:cNvSpPr/>
          <p:nvPr/>
        </p:nvSpPr>
        <p:spPr>
          <a:xfrm>
            <a:off x="428625" y="4858330"/>
            <a:ext cx="2320268" cy="276486"/>
          </a:xfrm>
          <a:prstGeom prst="rect">
            <a:avLst/>
          </a:prstGeom>
          <a:noFill/>
          <a:ln/>
        </p:spPr>
        <p:txBody>
          <a:bodyPr wrap="square" lIns="204089" tIns="85090" rIns="119126" bIns="8509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1A20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Net Margin (%)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92" name="Text 89"/>
          <p:cNvSpPr/>
          <p:nvPr/>
        </p:nvSpPr>
        <p:spPr>
          <a:xfrm>
            <a:off x="2748893" y="4858330"/>
            <a:ext cx="1193285" cy="27648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4A556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-57%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93" name="Text 90"/>
          <p:cNvSpPr/>
          <p:nvPr/>
        </p:nvSpPr>
        <p:spPr>
          <a:xfrm>
            <a:off x="3942178" y="4858330"/>
            <a:ext cx="1193285" cy="27648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4A556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49%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94" name="Text 91"/>
          <p:cNvSpPr/>
          <p:nvPr/>
        </p:nvSpPr>
        <p:spPr>
          <a:xfrm>
            <a:off x="5135463" y="4858330"/>
            <a:ext cx="1193285" cy="27648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4A556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66%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95" name="Text 92"/>
          <p:cNvSpPr/>
          <p:nvPr/>
        </p:nvSpPr>
        <p:spPr>
          <a:xfrm>
            <a:off x="6328749" y="4858330"/>
            <a:ext cx="1193285" cy="27648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4A556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68%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96" name="Text 93"/>
          <p:cNvSpPr/>
          <p:nvPr/>
        </p:nvSpPr>
        <p:spPr>
          <a:xfrm>
            <a:off x="7522034" y="4858330"/>
            <a:ext cx="1193341" cy="27648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4A556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70%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97" name="Text 94"/>
          <p:cNvSpPr/>
          <p:nvPr/>
        </p:nvSpPr>
        <p:spPr>
          <a:xfrm>
            <a:off x="428625" y="5048369"/>
            <a:ext cx="5427768" cy="884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575" i="1" dirty="0">
                <a:solidFill>
                  <a:srgbClr val="71809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Note: All figures are in Indonesian Rupiah (IDR). Projections based on conservative market penetration assumptions and validated pricing models.</a:t>
            </a:r>
            <a:endParaRPr lang="en-US" sz="575" dirty="0">
              <a:latin typeface="Indosat Bold Bold" pitchFamily="2" charset="77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6BA8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4" name="Text 1"/>
          <p:cNvSpPr/>
          <p:nvPr/>
        </p:nvSpPr>
        <p:spPr>
          <a:xfrm>
            <a:off x="428625" y="147250"/>
            <a:ext cx="4207883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GATRA Investment Scenario - Part 2</a:t>
            </a:r>
            <a:endParaRPr lang="en-US" sz="1800" dirty="0">
              <a:solidFill>
                <a:schemeClr val="bg1"/>
              </a:solidFill>
              <a:latin typeface="Indosat Bold Bold" pitchFamily="2" charset="77"/>
            </a:endParaRPr>
          </a:p>
        </p:txBody>
      </p:sp>
      <p:sp>
        <p:nvSpPr>
          <p:cNvPr id="5" name="Text 2"/>
          <p:cNvSpPr/>
          <p:nvPr/>
        </p:nvSpPr>
        <p:spPr>
          <a:xfrm>
            <a:off x="428625" y="644916"/>
            <a:ext cx="3258905" cy="1905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1A20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5-Year Financial Projections (Continued)</a:t>
            </a:r>
            <a:endParaRPr lang="en-US" sz="1238" dirty="0">
              <a:latin typeface="Indosat Bold Bold" pitchFamily="2" charset="77"/>
            </a:endParaRPr>
          </a:p>
        </p:txBody>
      </p:sp>
      <p:sp>
        <p:nvSpPr>
          <p:cNvPr id="6" name="Text 3"/>
          <p:cNvSpPr/>
          <p:nvPr/>
        </p:nvSpPr>
        <p:spPr>
          <a:xfrm>
            <a:off x="428625" y="978687"/>
            <a:ext cx="2320268" cy="317897"/>
          </a:xfrm>
          <a:prstGeom prst="rect">
            <a:avLst/>
          </a:prstGeom>
          <a:noFill/>
          <a:ln/>
        </p:spPr>
        <p:txBody>
          <a:bodyPr wrap="square" lIns="119126" tIns="102108" rIns="119126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1A20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Metrics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748893" y="978687"/>
            <a:ext cx="1193285" cy="317897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8" name="Shape 5"/>
          <p:cNvSpPr/>
          <p:nvPr/>
        </p:nvSpPr>
        <p:spPr>
          <a:xfrm>
            <a:off x="2748893" y="1282296"/>
            <a:ext cx="1193285" cy="14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9" name="Text 6"/>
          <p:cNvSpPr/>
          <p:nvPr/>
        </p:nvSpPr>
        <p:spPr>
          <a:xfrm>
            <a:off x="2748893" y="978687"/>
            <a:ext cx="1193285" cy="317897"/>
          </a:xfrm>
          <a:prstGeom prst="rect">
            <a:avLst/>
          </a:prstGeom>
          <a:noFill/>
          <a:ln/>
        </p:spPr>
        <p:txBody>
          <a:bodyPr wrap="square" lIns="119126" tIns="102108" rIns="119126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1A20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Year 1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942178" y="978687"/>
            <a:ext cx="1193285" cy="317897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942178" y="1282296"/>
            <a:ext cx="1193285" cy="14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942178" y="978687"/>
            <a:ext cx="1193285" cy="317897"/>
          </a:xfrm>
          <a:prstGeom prst="rect">
            <a:avLst/>
          </a:prstGeom>
          <a:noFill/>
          <a:ln/>
        </p:spPr>
        <p:txBody>
          <a:bodyPr wrap="square" lIns="119126" tIns="102108" rIns="119126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1A20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Year 2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5135463" y="978687"/>
            <a:ext cx="1193285" cy="317897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135463" y="1282296"/>
            <a:ext cx="1193285" cy="14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135463" y="978687"/>
            <a:ext cx="1193285" cy="317897"/>
          </a:xfrm>
          <a:prstGeom prst="rect">
            <a:avLst/>
          </a:prstGeom>
          <a:noFill/>
          <a:ln/>
        </p:spPr>
        <p:txBody>
          <a:bodyPr wrap="square" lIns="119126" tIns="102108" rIns="119126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1A20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Year 3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6328749" y="978687"/>
            <a:ext cx="1193285" cy="317897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328749" y="1282296"/>
            <a:ext cx="1193285" cy="14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328749" y="978687"/>
            <a:ext cx="1193285" cy="317897"/>
          </a:xfrm>
          <a:prstGeom prst="rect">
            <a:avLst/>
          </a:prstGeom>
          <a:noFill/>
          <a:ln/>
        </p:spPr>
        <p:txBody>
          <a:bodyPr wrap="square" lIns="119126" tIns="102108" rIns="119126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1A20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Year 4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7522034" y="978687"/>
            <a:ext cx="1193341" cy="317897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7522034" y="1282296"/>
            <a:ext cx="1193341" cy="14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522034" y="978687"/>
            <a:ext cx="1193341" cy="317897"/>
          </a:xfrm>
          <a:prstGeom prst="rect">
            <a:avLst/>
          </a:prstGeom>
          <a:noFill/>
          <a:ln/>
        </p:spPr>
        <p:txBody>
          <a:bodyPr wrap="square" lIns="119126" tIns="102108" rIns="119126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1A20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Year 5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428625" y="1296584"/>
            <a:ext cx="8286750" cy="303609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428625" y="1593049"/>
            <a:ext cx="8286750" cy="7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428625" y="1306138"/>
            <a:ext cx="8286750" cy="284501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1A20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USE OF FUNDS (IDR 14B)</a:t>
            </a:r>
            <a:endParaRPr lang="en-US" sz="732" dirty="0">
              <a:latin typeface="Indosat Bold Bold" pitchFamily="2" charset="77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28625" y="1596621"/>
            <a:ext cx="2320268" cy="285750"/>
          </a:xfrm>
          <a:prstGeom prst="rect">
            <a:avLst/>
          </a:prstGeom>
          <a:noFill/>
          <a:ln/>
        </p:spPr>
        <p:txBody>
          <a:bodyPr wrap="square" lIns="204089" tIns="85090" rIns="119126" bIns="8509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1A20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Technology Development (40%)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2748893" y="1596621"/>
            <a:ext cx="1193285" cy="285750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4A556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5.60B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3942178" y="1596621"/>
            <a:ext cx="4773197" cy="285750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4A556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AI/ML infrastructure, cloud services, security tools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428625" y="1888789"/>
            <a:ext cx="2320268" cy="276486"/>
          </a:xfrm>
          <a:prstGeom prst="rect">
            <a:avLst/>
          </a:prstGeom>
          <a:noFill/>
          <a:ln/>
        </p:spPr>
        <p:txBody>
          <a:bodyPr wrap="square" lIns="204089" tIns="85090" rIns="119126" bIns="8509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1A20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Premium Team (40%)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2748893" y="1888789"/>
            <a:ext cx="1193285" cy="27648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4A556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5.60B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3942178" y="1888789"/>
            <a:ext cx="4773197" cy="27648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4A556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17 highly skilled professionals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428625" y="2178111"/>
            <a:ext cx="2320268" cy="276486"/>
          </a:xfrm>
          <a:prstGeom prst="rect">
            <a:avLst/>
          </a:prstGeom>
          <a:noFill/>
          <a:ln/>
        </p:spPr>
        <p:txBody>
          <a:bodyPr wrap="square" lIns="204089" tIns="85090" rIns="119126" bIns="8509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1A20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Marketing &amp; Sales (15%)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2748893" y="2178111"/>
            <a:ext cx="1193285" cy="27648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4A556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2.10B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3942178" y="2178111"/>
            <a:ext cx="4773197" cy="27648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4A556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Market penetration and customer acquisition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428625" y="2467433"/>
            <a:ext cx="2320268" cy="276486"/>
          </a:xfrm>
          <a:prstGeom prst="rect">
            <a:avLst/>
          </a:prstGeom>
          <a:noFill/>
          <a:ln/>
        </p:spPr>
        <p:txBody>
          <a:bodyPr wrap="square" lIns="204089" tIns="85090" rIns="119126" bIns="8509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1A20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Working Capital (5%)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2748893" y="2467433"/>
            <a:ext cx="1193285" cy="27648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4A556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0.70B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3942178" y="2467433"/>
            <a:ext cx="4773197" cy="27648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4A556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Operations and contingency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428625" y="2750337"/>
            <a:ext cx="8286750" cy="30003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428625" y="3043231"/>
            <a:ext cx="8286750" cy="7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428625" y="2758105"/>
            <a:ext cx="8286750" cy="284501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1A20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KEY METRICS</a:t>
            </a:r>
            <a:endParaRPr lang="en-US" sz="732" dirty="0">
              <a:latin typeface="Indosat Bold Bold" pitchFamily="2" charset="77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428625" y="3046802"/>
            <a:ext cx="2320268" cy="285750"/>
          </a:xfrm>
          <a:prstGeom prst="rect">
            <a:avLst/>
          </a:prstGeom>
          <a:noFill/>
          <a:ln/>
        </p:spPr>
        <p:txBody>
          <a:bodyPr wrap="square" lIns="204089" tIns="85090" rIns="119126" bIns="8509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1A20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CAC (IDR Millions)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2748893" y="3046802"/>
            <a:ext cx="1193285" cy="285750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FFD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140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3942178" y="3046802"/>
            <a:ext cx="1193285" cy="285750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FFD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23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5135463" y="3046802"/>
            <a:ext cx="1193285" cy="285750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FFD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7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6328749" y="3046802"/>
            <a:ext cx="1193285" cy="285750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FFD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5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7522034" y="3046802"/>
            <a:ext cx="1193341" cy="285750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FFD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4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428625" y="3338970"/>
            <a:ext cx="2320268" cy="276486"/>
          </a:xfrm>
          <a:prstGeom prst="rect">
            <a:avLst/>
          </a:prstGeom>
          <a:noFill/>
          <a:ln/>
        </p:spPr>
        <p:txBody>
          <a:bodyPr wrap="square" lIns="204089" tIns="85090" rIns="119126" bIns="8509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1A20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LTV (IDR Millions)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2748893" y="3338970"/>
            <a:ext cx="1193285" cy="27648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FFD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900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3942178" y="3338970"/>
            <a:ext cx="1193285" cy="27648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FFD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900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5135463" y="3338970"/>
            <a:ext cx="1193285" cy="27648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FFD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900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50" name="Text 47"/>
          <p:cNvSpPr/>
          <p:nvPr/>
        </p:nvSpPr>
        <p:spPr>
          <a:xfrm>
            <a:off x="6328749" y="3338970"/>
            <a:ext cx="1193285" cy="27648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FFD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900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51" name="Text 48"/>
          <p:cNvSpPr/>
          <p:nvPr/>
        </p:nvSpPr>
        <p:spPr>
          <a:xfrm>
            <a:off x="7522034" y="3338970"/>
            <a:ext cx="1193341" cy="27648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FFD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900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428625" y="3628292"/>
            <a:ext cx="2320268" cy="276486"/>
          </a:xfrm>
          <a:prstGeom prst="rect">
            <a:avLst/>
          </a:prstGeom>
          <a:noFill/>
          <a:ln/>
        </p:spPr>
        <p:txBody>
          <a:bodyPr wrap="square" lIns="204089" tIns="85090" rIns="119126" bIns="8509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1A20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LTV/CAC Ratio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2748893" y="3628292"/>
            <a:ext cx="1193285" cy="27648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4A556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6.4x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54" name="Text 51"/>
          <p:cNvSpPr/>
          <p:nvPr/>
        </p:nvSpPr>
        <p:spPr>
          <a:xfrm>
            <a:off x="3942178" y="3628292"/>
            <a:ext cx="1193285" cy="27648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4A556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39.1x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5135463" y="3628292"/>
            <a:ext cx="1193285" cy="27648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4A556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128.6x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56" name="Text 53"/>
          <p:cNvSpPr/>
          <p:nvPr/>
        </p:nvSpPr>
        <p:spPr>
          <a:xfrm>
            <a:off x="6328749" y="3628292"/>
            <a:ext cx="1193285" cy="27648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4A556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180.0x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57" name="Text 54"/>
          <p:cNvSpPr/>
          <p:nvPr/>
        </p:nvSpPr>
        <p:spPr>
          <a:xfrm>
            <a:off x="7522034" y="3628292"/>
            <a:ext cx="1193341" cy="27648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4A556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225.0x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58" name="Text 55"/>
          <p:cNvSpPr/>
          <p:nvPr/>
        </p:nvSpPr>
        <p:spPr>
          <a:xfrm>
            <a:off x="428625" y="3917614"/>
            <a:ext cx="2320268" cy="276486"/>
          </a:xfrm>
          <a:prstGeom prst="rect">
            <a:avLst/>
          </a:prstGeom>
          <a:noFill/>
          <a:ln/>
        </p:spPr>
        <p:txBody>
          <a:bodyPr wrap="square" lIns="204089" tIns="85090" rIns="119126" bIns="8509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1A20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Payback Period (Months)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59" name="Text 56"/>
          <p:cNvSpPr/>
          <p:nvPr/>
        </p:nvSpPr>
        <p:spPr>
          <a:xfrm>
            <a:off x="2748893" y="3917614"/>
            <a:ext cx="1193285" cy="27648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4A556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6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60" name="Text 57"/>
          <p:cNvSpPr/>
          <p:nvPr/>
        </p:nvSpPr>
        <p:spPr>
          <a:xfrm>
            <a:off x="3942178" y="3917614"/>
            <a:ext cx="1193285" cy="27648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4A556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1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61" name="Text 58"/>
          <p:cNvSpPr/>
          <p:nvPr/>
        </p:nvSpPr>
        <p:spPr>
          <a:xfrm>
            <a:off x="5135463" y="3917614"/>
            <a:ext cx="1193285" cy="27648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4A556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0.3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62" name="Text 59"/>
          <p:cNvSpPr/>
          <p:nvPr/>
        </p:nvSpPr>
        <p:spPr>
          <a:xfrm>
            <a:off x="6328749" y="3917614"/>
            <a:ext cx="1193285" cy="27648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4A556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0.2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63" name="Text 60"/>
          <p:cNvSpPr/>
          <p:nvPr/>
        </p:nvSpPr>
        <p:spPr>
          <a:xfrm>
            <a:off x="7522034" y="3917614"/>
            <a:ext cx="1193341" cy="27648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4A556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0.2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64" name="Shape 61"/>
          <p:cNvSpPr/>
          <p:nvPr/>
        </p:nvSpPr>
        <p:spPr>
          <a:xfrm>
            <a:off x="428625" y="4187151"/>
            <a:ext cx="8286750" cy="775767"/>
          </a:xfrm>
          <a:prstGeom prst="rect">
            <a:avLst/>
          </a:prstGeom>
          <a:solidFill>
            <a:srgbClr val="FFF5E6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65" name="Shape 62"/>
          <p:cNvSpPr/>
          <p:nvPr/>
        </p:nvSpPr>
        <p:spPr>
          <a:xfrm>
            <a:off x="428625" y="4187151"/>
            <a:ext cx="28575" cy="775767"/>
          </a:xfrm>
          <a:prstGeom prst="rect">
            <a:avLst/>
          </a:prstGeom>
          <a:solidFill>
            <a:srgbClr val="FFD666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66" name="Shape 63"/>
          <p:cNvSpPr/>
          <p:nvPr/>
        </p:nvSpPr>
        <p:spPr>
          <a:xfrm>
            <a:off x="571500" y="4330026"/>
            <a:ext cx="228600" cy="228600"/>
          </a:xfrm>
          <a:prstGeom prst="rect">
            <a:avLst/>
          </a:prstGeom>
          <a:solidFill>
            <a:srgbClr val="FFD666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67" name="Text 64"/>
          <p:cNvSpPr/>
          <p:nvPr/>
        </p:nvSpPr>
        <p:spPr>
          <a:xfrm>
            <a:off x="885825" y="4348705"/>
            <a:ext cx="1069203" cy="1126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1A20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Investment Highlights:</a:t>
            </a:r>
            <a:endParaRPr lang="en-US" sz="732" dirty="0">
              <a:latin typeface="Indosat Bold Bold" pitchFamily="2" charset="77"/>
            </a:endParaRPr>
          </a:p>
        </p:txBody>
      </p:sp>
      <p:sp>
        <p:nvSpPr>
          <p:cNvPr id="68" name="Text 65"/>
          <p:cNvSpPr/>
          <p:nvPr/>
        </p:nvSpPr>
        <p:spPr>
          <a:xfrm>
            <a:off x="885825" y="4566830"/>
            <a:ext cx="7686675" cy="20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4A5568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The LTV/CAC ratio improves dramatically from 6.4x in Year 1 to 225x by Year 5, demonstrating exceptional unit economics and scalability. The 6-month payback period in Year 1 indicates rapid capital efficiency.</a:t>
            </a:r>
            <a:endParaRPr lang="en-US" sz="680" dirty="0">
              <a:latin typeface="Indosat Bold Bold" pitchFamily="2" charset="77"/>
            </a:endParaRPr>
          </a:p>
        </p:txBody>
      </p:sp>
      <p:sp>
        <p:nvSpPr>
          <p:cNvPr id="69" name="Text 66"/>
          <p:cNvSpPr/>
          <p:nvPr/>
        </p:nvSpPr>
        <p:spPr>
          <a:xfrm>
            <a:off x="428625" y="5010414"/>
            <a:ext cx="5427768" cy="884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575" i="1" dirty="0">
                <a:solidFill>
                  <a:srgbClr val="71809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Note: All figures are in Indonesian Rupiah (IDR). Projections based on conservative market penetration assumptions and validated pricing models.</a:t>
            </a:r>
            <a:endParaRPr lang="en-US" sz="575" dirty="0">
              <a:latin typeface="Indosat Bold Bold" pitchFamily="2" charset="77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42975"/>
          </a:xfrm>
          <a:prstGeom prst="rect">
            <a:avLst/>
          </a:prstGeom>
          <a:solidFill>
            <a:srgbClr val="FFCB09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4" name="Text 1"/>
          <p:cNvSpPr/>
          <p:nvPr/>
        </p:nvSpPr>
        <p:spPr>
          <a:xfrm>
            <a:off x="285750" y="263739"/>
            <a:ext cx="6881692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C2C2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Key Financial Metrics &amp; Unit Economics</a:t>
            </a:r>
            <a:endParaRPr lang="en-US" sz="2700" dirty="0">
              <a:latin typeface="Indosat Bold Bold" pitchFamily="2" charset="77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71500" y="1010794"/>
            <a:ext cx="3821906" cy="1813061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6" name="Text 3"/>
          <p:cNvSpPr/>
          <p:nvPr/>
        </p:nvSpPr>
        <p:spPr>
          <a:xfrm>
            <a:off x="857250" y="1321257"/>
            <a:ext cx="1154162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Gross Margin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7" name="Text 4"/>
          <p:cNvSpPr/>
          <p:nvPr/>
        </p:nvSpPr>
        <p:spPr>
          <a:xfrm>
            <a:off x="857250" y="1642145"/>
            <a:ext cx="1035540" cy="6232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4050" b="1" dirty="0">
                <a:solidFill>
                  <a:srgbClr val="24BDA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75%</a:t>
            </a:r>
            <a:endParaRPr lang="en-US" sz="4050" dirty="0">
              <a:latin typeface="Indosat Bold Bold" pitchFamily="2" charset="77"/>
            </a:endParaRPr>
          </a:p>
        </p:txBody>
      </p:sp>
      <p:sp>
        <p:nvSpPr>
          <p:cNvPr id="8" name="Text 5"/>
          <p:cNvSpPr/>
          <p:nvPr/>
        </p:nvSpPr>
        <p:spPr>
          <a:xfrm>
            <a:off x="857250" y="2332852"/>
            <a:ext cx="2364430" cy="1905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Best-in-class SaaS efficiency</a:t>
            </a:r>
            <a:endParaRPr lang="en-US" sz="1238" dirty="0">
              <a:latin typeface="Indosat Bold Bold" pitchFamily="2" charset="77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750594" y="1010794"/>
            <a:ext cx="3821906" cy="1813061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036344" y="1321257"/>
            <a:ext cx="937757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5-Year ROI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036344" y="1642145"/>
            <a:ext cx="1393010" cy="6232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4050" b="1" dirty="0">
                <a:solidFill>
                  <a:srgbClr val="EC008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225%</a:t>
            </a:r>
            <a:endParaRPr lang="en-US" sz="4050" dirty="0">
              <a:latin typeface="Indosat Bold Bold" pitchFamily="2" charset="7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036344" y="2332852"/>
            <a:ext cx="2388474" cy="1905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Validated financial projection</a:t>
            </a:r>
            <a:endParaRPr lang="en-US" sz="1238" dirty="0">
              <a:latin typeface="Indosat Bold Bold" pitchFamily="2" charset="77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571500" y="2903249"/>
            <a:ext cx="3821906" cy="2240251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57250" y="3213712"/>
            <a:ext cx="1338508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LTV/CAC Ratio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57250" y="3534600"/>
            <a:ext cx="3149901" cy="6232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4050" b="1" dirty="0">
                <a:solidFill>
                  <a:srgbClr val="FFCB09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6.4x → 225x</a:t>
            </a:r>
            <a:endParaRPr lang="en-US" sz="4050" dirty="0">
              <a:latin typeface="Indosat Bold Bold" pitchFamily="2" charset="77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57250" y="4225308"/>
            <a:ext cx="2350002" cy="1905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Year 1 to Year 5 improvement</a:t>
            </a:r>
            <a:endParaRPr lang="en-US" sz="1238" dirty="0">
              <a:latin typeface="Indosat Bold Bold" pitchFamily="2" charset="77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750594" y="2903249"/>
            <a:ext cx="3821906" cy="2240251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036344" y="3213712"/>
            <a:ext cx="1381789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Payback Period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5036344" y="3480152"/>
            <a:ext cx="3250406" cy="12464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4050" b="1" dirty="0">
                <a:solidFill>
                  <a:srgbClr val="C7158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6 → 0.2 months</a:t>
            </a:r>
            <a:endParaRPr lang="en-US" sz="4050" dirty="0">
              <a:latin typeface="Indosat Bold Bold" pitchFamily="2" charset="77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5036344" y="4739658"/>
            <a:ext cx="1910779" cy="1905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Rapid capital efficiency</a:t>
            </a:r>
            <a:endParaRPr lang="en-US" sz="1238" dirty="0">
              <a:latin typeface="Indosat Bold Bold" pitchFamily="2" charset="77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271588"/>
          </a:xfrm>
          <a:prstGeom prst="rect">
            <a:avLst/>
          </a:prstGeom>
          <a:solidFill>
            <a:srgbClr val="24BDAD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4" name="Text 1"/>
          <p:cNvSpPr/>
          <p:nvPr/>
        </p:nvSpPr>
        <p:spPr>
          <a:xfrm>
            <a:off x="285750" y="263739"/>
            <a:ext cx="5838137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Operational ROI: Customer Value</a:t>
            </a:r>
            <a:endParaRPr lang="en-US" sz="2700" dirty="0">
              <a:latin typeface="Indosat Bold Bold" pitchFamily="2" charset="77"/>
            </a:endParaRPr>
          </a:p>
        </p:txBody>
      </p:sp>
      <p:sp>
        <p:nvSpPr>
          <p:cNvPr id="5" name="Text 2"/>
          <p:cNvSpPr/>
          <p:nvPr/>
        </p:nvSpPr>
        <p:spPr>
          <a:xfrm>
            <a:off x="285750" y="824813"/>
            <a:ext cx="3797514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>
                    <a:alpha val="95000"/>
                  </a:srgbClr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Exceptional Returns for GATRA Customers 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6" name="Shape 3"/>
          <p:cNvSpPr/>
          <p:nvPr/>
        </p:nvSpPr>
        <p:spPr>
          <a:xfrm>
            <a:off x="1357313" y="1281533"/>
            <a:ext cx="6429375" cy="3861967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7" name="Text 4"/>
          <p:cNvSpPr/>
          <p:nvPr/>
        </p:nvSpPr>
        <p:spPr>
          <a:xfrm>
            <a:off x="1643063" y="1600101"/>
            <a:ext cx="5857875" cy="448713"/>
          </a:xfrm>
          <a:prstGeom prst="rect">
            <a:avLst/>
          </a:prstGeom>
          <a:noFill/>
          <a:ln/>
        </p:spPr>
        <p:txBody>
          <a:bodyPr wrap="square" lIns="0" tIns="0" rIns="0" bIns="170053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4BDA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Customer Value Proposition </a:t>
            </a:r>
            <a:endParaRPr lang="en-US" sz="1800" dirty="0">
              <a:latin typeface="Indosat Bold Bold" pitchFamily="2" charset="77"/>
            </a:endParaRPr>
          </a:p>
        </p:txBody>
      </p:sp>
      <p:sp>
        <p:nvSpPr>
          <p:cNvPr id="8" name="Text 5"/>
          <p:cNvSpPr/>
          <p:nvPr/>
        </p:nvSpPr>
        <p:spPr>
          <a:xfrm>
            <a:off x="2687215" y="2394069"/>
            <a:ext cx="662040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b="1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Year 1 ROI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9" name="Text 6"/>
          <p:cNvSpPr/>
          <p:nvPr/>
        </p:nvSpPr>
        <p:spPr>
          <a:xfrm>
            <a:off x="2379438" y="2640453"/>
            <a:ext cx="1277593" cy="5539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4BDA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450%</a:t>
            </a:r>
            <a:endParaRPr lang="en-US" sz="3600" dirty="0">
              <a:latin typeface="Indosat Bold Bold" pitchFamily="2" charset="7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2461993" y="3240110"/>
            <a:ext cx="1112484" cy="1905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38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for customers</a:t>
            </a:r>
            <a:endParaRPr lang="en-US" sz="1238" dirty="0">
              <a:latin typeface="Indosat Bold Bold" pitchFamily="2" charset="77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589562" y="2394069"/>
            <a:ext cx="1072408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b="1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Payback Period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819318" y="2640453"/>
            <a:ext cx="2612895" cy="5539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4BDA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2.2 months</a:t>
            </a:r>
            <a:endParaRPr lang="en-US" sz="3600" dirty="0">
              <a:latin typeface="Indosat Bold Bold" pitchFamily="2" charset="77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227283" y="3240110"/>
            <a:ext cx="1796966" cy="1905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38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rapid value realization</a:t>
            </a:r>
            <a:endParaRPr lang="en-US" sz="1238" dirty="0">
              <a:latin typeface="Indosat Bold Bold" pitchFamily="2" charset="77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2486839" y="3837107"/>
            <a:ext cx="1062791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b="1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Annual Savings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2276846" y="4083490"/>
            <a:ext cx="1482777" cy="5539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4BDA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$1.1M+</a:t>
            </a:r>
            <a:endParaRPr lang="en-US" sz="3600" dirty="0">
              <a:latin typeface="Indosat Bold Bold" pitchFamily="2" charset="77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2480427" y="4683148"/>
            <a:ext cx="1075615" cy="1905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38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per customer</a:t>
            </a:r>
            <a:endParaRPr lang="en-US" sz="1238" dirty="0">
              <a:latin typeface="Indosat Bold Bold" pitchFamily="2" charset="77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603988" y="3837107"/>
            <a:ext cx="1043555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b="1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Cost Reduction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635247" y="4083490"/>
            <a:ext cx="981038" cy="5539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4BDA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90%</a:t>
            </a:r>
            <a:endParaRPr lang="en-US" sz="3600" dirty="0">
              <a:latin typeface="Indosat Bold Bold" pitchFamily="2" charset="77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975611" y="4683148"/>
            <a:ext cx="2300310" cy="1905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38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vs traditional enterprise SOC</a:t>
            </a:r>
            <a:endParaRPr lang="en-US" sz="1238" dirty="0">
              <a:latin typeface="Indosat Bold Bold" pitchFamily="2" charset="77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hlinkClick r:id="rId3" action="ppaction://hlinksldjump"/>
              </a:rPr>
              <a:t>Market Sizing: TAM, SAM, and SOM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  <a:defRPr sz="1400"/>
            </a:pPr>
            <a:r>
              <a:rPr dirty="0"/>
              <a:t>TAM (Total Addressable Market):</a:t>
            </a:r>
          </a:p>
          <a:p>
            <a:pPr>
              <a:defRPr sz="1400"/>
            </a:pPr>
            <a:r>
              <a:rPr dirty="0"/>
              <a:t>64M+ SMEs in Indonesia (Kemenkop UKM, 2024).</a:t>
            </a:r>
          </a:p>
          <a:p>
            <a:pPr>
              <a:defRPr sz="1400"/>
            </a:pPr>
            <a:r>
              <a:rPr dirty="0"/>
              <a:t>Avg. spend potential: IDR 12M/year.</a:t>
            </a:r>
          </a:p>
          <a:p>
            <a:pPr>
              <a:defRPr sz="1400"/>
            </a:pPr>
            <a:r>
              <a:rPr dirty="0"/>
              <a:t>TAM ≈ IDR 768T (~USD 48B).</a:t>
            </a:r>
          </a:p>
          <a:p>
            <a:pPr>
              <a:defRPr sz="1400"/>
            </a:pPr>
            <a:endParaRPr dirty="0"/>
          </a:p>
          <a:p>
            <a:pPr marL="0" indent="0">
              <a:buNone/>
              <a:defRPr sz="1400"/>
            </a:pPr>
            <a:r>
              <a:rPr dirty="0"/>
              <a:t>SAM (Serviceable Available Market):</a:t>
            </a:r>
          </a:p>
          <a:p>
            <a:pPr>
              <a:defRPr sz="1400"/>
            </a:pPr>
            <a:r>
              <a:rPr dirty="0"/>
              <a:t>Digitally active SMEs ≈ 10% (~6.4M SMEs).</a:t>
            </a:r>
          </a:p>
          <a:p>
            <a:pPr>
              <a:defRPr sz="1400"/>
            </a:pPr>
            <a:r>
              <a:rPr dirty="0"/>
              <a:t>SAM ≈ IDR 76.8T (~USD 4.8B).</a:t>
            </a:r>
          </a:p>
          <a:p>
            <a:pPr>
              <a:defRPr sz="1400"/>
            </a:pPr>
            <a:endParaRPr dirty="0"/>
          </a:p>
          <a:p>
            <a:pPr marL="0" indent="0">
              <a:buNone/>
              <a:defRPr sz="1400"/>
            </a:pPr>
            <a:r>
              <a:rPr dirty="0"/>
              <a:t>SOM (Serviceable Obtainable Market):</a:t>
            </a:r>
          </a:p>
          <a:p>
            <a:pPr>
              <a:defRPr sz="1400"/>
            </a:pPr>
            <a:r>
              <a:rPr dirty="0"/>
              <a:t>0.1% capture (~6,400 clients).</a:t>
            </a:r>
          </a:p>
          <a:p>
            <a:pPr>
              <a:defRPr sz="1400"/>
            </a:pPr>
            <a:r>
              <a:rPr dirty="0"/>
              <a:t>SOM ≈ IDR 76.8B (~USD 4.8M) annual revenue.</a:t>
            </a:r>
          </a:p>
          <a:p>
            <a:pPr>
              <a:defRPr sz="1400"/>
            </a:pPr>
            <a:endParaRPr dirty="0"/>
          </a:p>
          <a:p>
            <a:pPr marL="0" indent="0">
              <a:buNone/>
              <a:defRPr sz="1400"/>
            </a:pPr>
            <a:r>
              <a:rPr dirty="0"/>
              <a:t>→ Conclusion: Even a 0.1% share supports meaningful recurring ARR for scale.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Revenue Growth Sensitivity Scenarios (5-Year Outlook)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400"/>
            </a:pPr>
            <a:r>
              <a:rPr dirty="0"/>
              <a:t>Conservative Case:</a:t>
            </a:r>
          </a:p>
          <a:p>
            <a:pPr>
              <a:defRPr sz="1400"/>
            </a:pPr>
            <a:r>
              <a:rPr dirty="0"/>
              <a:t>0.05% SME penetration (~3,200 clients).</a:t>
            </a:r>
          </a:p>
          <a:p>
            <a:pPr>
              <a:defRPr sz="1400"/>
            </a:pPr>
            <a:r>
              <a:rPr dirty="0"/>
              <a:t>ARPU IDR 20M/year → Revenue ≈ IDR 64B in Year 5.</a:t>
            </a:r>
          </a:p>
          <a:p>
            <a:pPr>
              <a:defRPr sz="1400"/>
            </a:pPr>
            <a:endParaRPr dirty="0"/>
          </a:p>
          <a:p>
            <a:pPr marL="0" indent="0">
              <a:buNone/>
              <a:defRPr sz="1400"/>
            </a:pPr>
            <a:r>
              <a:rPr dirty="0"/>
              <a:t>Base Case:</a:t>
            </a:r>
          </a:p>
          <a:p>
            <a:pPr>
              <a:defRPr sz="1400"/>
            </a:pPr>
            <a:r>
              <a:rPr dirty="0"/>
              <a:t>0.1% SME penetration (~6,400 clients).</a:t>
            </a:r>
          </a:p>
          <a:p>
            <a:pPr>
              <a:defRPr sz="1400"/>
            </a:pPr>
            <a:r>
              <a:rPr dirty="0"/>
              <a:t>ARPU IDR 25M/year → Revenue ≈ IDR 160B in Year 5.</a:t>
            </a:r>
          </a:p>
          <a:p>
            <a:pPr>
              <a:defRPr sz="1400"/>
            </a:pPr>
            <a:endParaRPr dirty="0"/>
          </a:p>
          <a:p>
            <a:pPr marL="0" indent="0">
              <a:buNone/>
              <a:defRPr sz="1400"/>
            </a:pPr>
            <a:r>
              <a:rPr dirty="0"/>
              <a:t>Aggressive Case:</a:t>
            </a:r>
          </a:p>
          <a:p>
            <a:pPr>
              <a:defRPr sz="1400"/>
            </a:pPr>
            <a:r>
              <a:rPr dirty="0"/>
              <a:t>0.2% SME penetration (~12,800 clients).</a:t>
            </a:r>
          </a:p>
          <a:p>
            <a:pPr>
              <a:defRPr sz="1400"/>
            </a:pPr>
            <a:r>
              <a:rPr dirty="0"/>
              <a:t>ARPU IDR 30M/year → Revenue ≈ IDR 384B in Year 5.</a:t>
            </a:r>
          </a:p>
          <a:p>
            <a:pPr>
              <a:defRPr sz="1400"/>
            </a:pPr>
            <a:endParaRPr dirty="0"/>
          </a:p>
          <a:p>
            <a:pPr marL="0" indent="0">
              <a:buNone/>
              <a:defRPr sz="1400"/>
            </a:pPr>
            <a:r>
              <a:rPr dirty="0"/>
              <a:t>→ All models maintain 70–75% gross margin through AI-driven SOC scalability.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D3F25-D14E-58B4-BD39-F0A5290F1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0B4D94-8C35-264A-785A-E83657441874}"/>
              </a:ext>
            </a:extLst>
          </p:cNvPr>
          <p:cNvSpPr txBox="1"/>
          <p:nvPr/>
        </p:nvSpPr>
        <p:spPr>
          <a:xfrm>
            <a:off x="268821" y="249228"/>
            <a:ext cx="8823249" cy="71558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350" dirty="0">
              <a:latin typeface="Indosat Bold Bold" pitchFamily="2" charset="77"/>
            </a:endParaRPr>
          </a:p>
          <a:p>
            <a:pPr>
              <a:defRPr sz="3600" b="1">
                <a:solidFill>
                  <a:srgbClr val="0A246A"/>
                </a:solidFill>
              </a:defRPr>
            </a:pPr>
            <a:r>
              <a:rPr sz="2700" dirty="0">
                <a:latin typeface="Indosat Bold Bold" pitchFamily="2" charset="77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AI-Driven SOC</a:t>
            </a:r>
            <a:r>
              <a:rPr sz="2700" dirty="0">
                <a:latin typeface="Indosat Bold Bold" pitchFamily="2" charset="77"/>
              </a:rPr>
              <a:t>: Multi-Agent Interactive Overview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A6EC14-B8EC-931C-5BED-14EE9918691B}"/>
              </a:ext>
            </a:extLst>
          </p:cNvPr>
          <p:cNvSpPr txBox="1"/>
          <p:nvPr/>
        </p:nvSpPr>
        <p:spPr>
          <a:xfrm>
            <a:off x="686992" y="4663441"/>
            <a:ext cx="5910592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rPr sz="1050" dirty="0">
                <a:latin typeface="Indosat Bold Bold" pitchFamily="2" charset="77"/>
              </a:rPr>
              <a:t>Interactive flow: ADA → TAA → CRA → Dashboard | CLA (Learning) | RVA (Reporting)</a:t>
            </a:r>
          </a:p>
        </p:txBody>
      </p:sp>
      <p:sp>
        <p:nvSpPr>
          <p:cNvPr id="16" name="Shape 1">
            <a:extLst>
              <a:ext uri="{FF2B5EF4-FFF2-40B4-BE49-F238E27FC236}">
                <a16:creationId xmlns:a16="http://schemas.microsoft.com/office/drawing/2014/main" id="{98B0BB6D-336E-C8CE-8309-45F928E366E8}"/>
              </a:ext>
            </a:extLst>
          </p:cNvPr>
          <p:cNvSpPr/>
          <p:nvPr/>
        </p:nvSpPr>
        <p:spPr>
          <a:xfrm>
            <a:off x="714375" y="1141810"/>
            <a:ext cx="7715250" cy="714375"/>
          </a:xfrm>
          <a:prstGeom prst="rect">
            <a:avLst/>
          </a:prstGeom>
          <a:solidFill>
            <a:srgbClr val="9A4A6A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D27CA83F-9C3B-987C-A4E1-207D727AEFE9}"/>
              </a:ext>
            </a:extLst>
          </p:cNvPr>
          <p:cNvSpPr/>
          <p:nvPr/>
        </p:nvSpPr>
        <p:spPr>
          <a:xfrm>
            <a:off x="1071564" y="1377812"/>
            <a:ext cx="1306448" cy="24237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575" b="1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Action Layer</a:t>
            </a:r>
            <a:endParaRPr lang="en-US" sz="1575" dirty="0">
              <a:latin typeface="Indosat Bold Bold" pitchFamily="2" charset="77"/>
            </a:endParaRPr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FCCCA343-5EE8-F389-ACB8-2280A7CA1AC9}"/>
              </a:ext>
            </a:extLst>
          </p:cNvPr>
          <p:cNvSpPr/>
          <p:nvPr/>
        </p:nvSpPr>
        <p:spPr>
          <a:xfrm>
            <a:off x="4401314" y="1308495"/>
            <a:ext cx="1080652" cy="3810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238" dirty="0">
                <a:solidFill>
                  <a:srgbClr val="FFFFFF">
                    <a:alpha val="95000"/>
                  </a:srgbClr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SOC Dashboard</a:t>
            </a:r>
            <a:endParaRPr lang="en-US" sz="1238" dirty="0">
              <a:latin typeface="Indosat Bold Bold" pitchFamily="2" charset="77"/>
            </a:endParaRPr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70982A6A-55F7-3769-C20F-78D0CDE14788}"/>
              </a:ext>
            </a:extLst>
          </p:cNvPr>
          <p:cNvSpPr/>
          <p:nvPr/>
        </p:nvSpPr>
        <p:spPr>
          <a:xfrm>
            <a:off x="5543183" y="1418527"/>
            <a:ext cx="68067" cy="1609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046" dirty="0">
                <a:solidFill>
                  <a:srgbClr val="FFFFFF">
                    <a:alpha val="40000"/>
                  </a:srgbClr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•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40045449-8153-4CA6-52BB-8DD433447FBB}"/>
              </a:ext>
            </a:extLst>
          </p:cNvPr>
          <p:cNvSpPr/>
          <p:nvPr/>
        </p:nvSpPr>
        <p:spPr>
          <a:xfrm>
            <a:off x="5890260" y="1308495"/>
            <a:ext cx="1080652" cy="3810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238" dirty="0">
                <a:solidFill>
                  <a:srgbClr val="FFFFFF">
                    <a:alpha val="95000"/>
                  </a:srgbClr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Automated Response</a:t>
            </a:r>
            <a:endParaRPr lang="en-US" sz="1238" dirty="0">
              <a:latin typeface="Indosat Bold Bold" pitchFamily="2" charset="77"/>
            </a:endParaRPr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2E7E0CE7-E658-EDA9-E659-F372C810678F}"/>
              </a:ext>
            </a:extLst>
          </p:cNvPr>
          <p:cNvSpPr/>
          <p:nvPr/>
        </p:nvSpPr>
        <p:spPr>
          <a:xfrm>
            <a:off x="6964296" y="1418527"/>
            <a:ext cx="68067" cy="1609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046" dirty="0">
                <a:solidFill>
                  <a:srgbClr val="FFFFFF">
                    <a:alpha val="40000"/>
                  </a:srgbClr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•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C2379B96-C642-7EA9-D59F-10A870433C45}"/>
              </a:ext>
            </a:extLst>
          </p:cNvPr>
          <p:cNvSpPr/>
          <p:nvPr/>
        </p:nvSpPr>
        <p:spPr>
          <a:xfrm>
            <a:off x="7261456" y="1308495"/>
            <a:ext cx="1120545" cy="3810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238" dirty="0">
                <a:solidFill>
                  <a:srgbClr val="FFFFFF">
                    <a:alpha val="95000"/>
                  </a:srgbClr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Compliance Reporting</a:t>
            </a:r>
            <a:endParaRPr lang="en-US" sz="1238" dirty="0">
              <a:latin typeface="Indosat Bold Bold" pitchFamily="2" charset="77"/>
            </a:endParaRPr>
          </a:p>
        </p:txBody>
      </p:sp>
      <p:sp>
        <p:nvSpPr>
          <p:cNvPr id="24" name="Shape 8">
            <a:extLst>
              <a:ext uri="{FF2B5EF4-FFF2-40B4-BE49-F238E27FC236}">
                <a16:creationId xmlns:a16="http://schemas.microsoft.com/office/drawing/2014/main" id="{05D81E57-68E1-3D20-E78B-4FC1CBA53CA4}"/>
              </a:ext>
            </a:extLst>
          </p:cNvPr>
          <p:cNvSpPr/>
          <p:nvPr/>
        </p:nvSpPr>
        <p:spPr>
          <a:xfrm>
            <a:off x="714375" y="1999060"/>
            <a:ext cx="7715250" cy="714375"/>
          </a:xfrm>
          <a:prstGeom prst="rect">
            <a:avLst/>
          </a:prstGeom>
          <a:solidFill>
            <a:srgbClr val="6A4A8A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7C321DBE-7692-ACFE-2DAC-7D5282AA618A}"/>
              </a:ext>
            </a:extLst>
          </p:cNvPr>
          <p:cNvSpPr/>
          <p:nvPr/>
        </p:nvSpPr>
        <p:spPr>
          <a:xfrm>
            <a:off x="1071564" y="2235062"/>
            <a:ext cx="1832233" cy="24237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575" b="1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Intelligence Layer</a:t>
            </a:r>
            <a:endParaRPr lang="en-US" sz="1575" dirty="0">
              <a:latin typeface="Indosat Bold Bold" pitchFamily="2" charset="77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6101A18A-2051-69E1-DB5A-12977F4068DF}"/>
              </a:ext>
            </a:extLst>
          </p:cNvPr>
          <p:cNvSpPr/>
          <p:nvPr/>
        </p:nvSpPr>
        <p:spPr>
          <a:xfrm>
            <a:off x="4493391" y="2260998"/>
            <a:ext cx="891270" cy="1905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238" dirty="0">
                <a:solidFill>
                  <a:srgbClr val="FFFFFF">
                    <a:alpha val="95000"/>
                  </a:srgbClr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ADA Agent</a:t>
            </a:r>
            <a:endParaRPr lang="en-US" sz="1238" dirty="0">
              <a:latin typeface="Indosat Bold Bold" pitchFamily="2" charset="77"/>
            </a:endParaRPr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29F5FA4A-55B7-60ED-25DB-326C5AE36CB8}"/>
              </a:ext>
            </a:extLst>
          </p:cNvPr>
          <p:cNvSpPr/>
          <p:nvPr/>
        </p:nvSpPr>
        <p:spPr>
          <a:xfrm>
            <a:off x="5572041" y="2275777"/>
            <a:ext cx="72136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046" dirty="0">
                <a:solidFill>
                  <a:srgbClr val="FFFFFF">
                    <a:alpha val="40000"/>
                  </a:srgbClr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•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1C7A8842-898A-677F-241C-95148F073145}"/>
              </a:ext>
            </a:extLst>
          </p:cNvPr>
          <p:cNvSpPr/>
          <p:nvPr/>
        </p:nvSpPr>
        <p:spPr>
          <a:xfrm>
            <a:off x="5911537" y="2260998"/>
            <a:ext cx="864019" cy="1905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238" dirty="0">
                <a:solidFill>
                  <a:srgbClr val="FFFFFF">
                    <a:alpha val="95000"/>
                  </a:srgbClr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TAA Agent</a:t>
            </a:r>
            <a:endParaRPr lang="en-US" sz="1238" dirty="0">
              <a:latin typeface="Indosat Bold Bold" pitchFamily="2" charset="77"/>
            </a:endParaRPr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9A2CB06E-62CE-EF22-3005-404CF2CBD4E8}"/>
              </a:ext>
            </a:extLst>
          </p:cNvPr>
          <p:cNvSpPr/>
          <p:nvPr/>
        </p:nvSpPr>
        <p:spPr>
          <a:xfrm>
            <a:off x="6954971" y="2275777"/>
            <a:ext cx="72136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046" dirty="0">
                <a:solidFill>
                  <a:srgbClr val="FFFFFF">
                    <a:alpha val="40000"/>
                  </a:srgbClr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•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30" name="Text 14">
            <a:extLst>
              <a:ext uri="{FF2B5EF4-FFF2-40B4-BE49-F238E27FC236}">
                <a16:creationId xmlns:a16="http://schemas.microsoft.com/office/drawing/2014/main" id="{19E27AE1-5BCF-0010-7C7C-5796D9CFDBB3}"/>
              </a:ext>
            </a:extLst>
          </p:cNvPr>
          <p:cNvSpPr/>
          <p:nvPr/>
        </p:nvSpPr>
        <p:spPr>
          <a:xfrm>
            <a:off x="7294466" y="2260998"/>
            <a:ext cx="884858" cy="1905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238" dirty="0">
                <a:solidFill>
                  <a:srgbClr val="FFFFFF">
                    <a:alpha val="95000"/>
                  </a:srgbClr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CRA Agent</a:t>
            </a:r>
            <a:endParaRPr lang="en-US" sz="1238" dirty="0">
              <a:latin typeface="Indosat Bold Bold" pitchFamily="2" charset="77"/>
            </a:endParaRPr>
          </a:p>
        </p:txBody>
      </p:sp>
      <p:sp>
        <p:nvSpPr>
          <p:cNvPr id="31" name="Shape 15">
            <a:extLst>
              <a:ext uri="{FF2B5EF4-FFF2-40B4-BE49-F238E27FC236}">
                <a16:creationId xmlns:a16="http://schemas.microsoft.com/office/drawing/2014/main" id="{E412D16B-C5FC-9581-7E70-E4B0401FF936}"/>
              </a:ext>
            </a:extLst>
          </p:cNvPr>
          <p:cNvSpPr/>
          <p:nvPr/>
        </p:nvSpPr>
        <p:spPr>
          <a:xfrm>
            <a:off x="714375" y="2856310"/>
            <a:ext cx="7715250" cy="714375"/>
          </a:xfrm>
          <a:prstGeom prst="rect">
            <a:avLst/>
          </a:prstGeom>
          <a:solidFill>
            <a:srgbClr val="2A7A9A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9B1C0B4B-0641-EB7C-1B16-631D84806D4A}"/>
              </a:ext>
            </a:extLst>
          </p:cNvPr>
          <p:cNvSpPr/>
          <p:nvPr/>
        </p:nvSpPr>
        <p:spPr>
          <a:xfrm>
            <a:off x="1071564" y="3092312"/>
            <a:ext cx="1752083" cy="24237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575" b="1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Processing Layer</a:t>
            </a:r>
            <a:endParaRPr lang="en-US" sz="1575" dirty="0">
              <a:latin typeface="Indosat Bold Bold" pitchFamily="2" charset="77"/>
            </a:endParaRPr>
          </a:p>
        </p:txBody>
      </p:sp>
      <p:sp>
        <p:nvSpPr>
          <p:cNvPr id="33" name="Text 17">
            <a:extLst>
              <a:ext uri="{FF2B5EF4-FFF2-40B4-BE49-F238E27FC236}">
                <a16:creationId xmlns:a16="http://schemas.microsoft.com/office/drawing/2014/main" id="{6DE44705-ECB7-69CA-8C61-49C78DFBF8D0}"/>
              </a:ext>
            </a:extLst>
          </p:cNvPr>
          <p:cNvSpPr/>
          <p:nvPr/>
        </p:nvSpPr>
        <p:spPr>
          <a:xfrm>
            <a:off x="3895951" y="3118248"/>
            <a:ext cx="1558119" cy="1905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238" dirty="0">
                <a:solidFill>
                  <a:srgbClr val="FFFFFF">
                    <a:alpha val="95000"/>
                  </a:srgbClr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BigQuery Analytics</a:t>
            </a:r>
            <a:endParaRPr lang="en-US" sz="1238" dirty="0">
              <a:latin typeface="Indosat Bold Bold" pitchFamily="2" charset="77"/>
            </a:endParaRPr>
          </a:p>
        </p:txBody>
      </p:sp>
      <p:sp>
        <p:nvSpPr>
          <p:cNvPr id="34" name="Text 18">
            <a:extLst>
              <a:ext uri="{FF2B5EF4-FFF2-40B4-BE49-F238E27FC236}">
                <a16:creationId xmlns:a16="http://schemas.microsoft.com/office/drawing/2014/main" id="{26AF3076-EBD6-17FD-2953-08666AC0AF6E}"/>
              </a:ext>
            </a:extLst>
          </p:cNvPr>
          <p:cNvSpPr/>
          <p:nvPr/>
        </p:nvSpPr>
        <p:spPr>
          <a:xfrm>
            <a:off x="5547072" y="3140647"/>
            <a:ext cx="72136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046" dirty="0">
                <a:solidFill>
                  <a:srgbClr val="FFFFFF">
                    <a:alpha val="40000"/>
                  </a:srgbClr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•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35" name="Text 19">
            <a:extLst>
              <a:ext uri="{FF2B5EF4-FFF2-40B4-BE49-F238E27FC236}">
                <a16:creationId xmlns:a16="http://schemas.microsoft.com/office/drawing/2014/main" id="{E8734019-03DE-AC67-113D-797A8637E39F}"/>
              </a:ext>
            </a:extLst>
          </p:cNvPr>
          <p:cNvSpPr/>
          <p:nvPr/>
        </p:nvSpPr>
        <p:spPr>
          <a:xfrm>
            <a:off x="5978008" y="3118248"/>
            <a:ext cx="750205" cy="1905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238" dirty="0">
                <a:solidFill>
                  <a:srgbClr val="FFFFFF">
                    <a:alpha val="95000"/>
                  </a:srgbClr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Vertex AI</a:t>
            </a:r>
            <a:endParaRPr lang="en-US" sz="1238" dirty="0">
              <a:latin typeface="Indosat Bold Bold" pitchFamily="2" charset="77"/>
            </a:endParaRPr>
          </a:p>
        </p:txBody>
      </p:sp>
      <p:sp>
        <p:nvSpPr>
          <p:cNvPr id="36" name="Text 20">
            <a:extLst>
              <a:ext uri="{FF2B5EF4-FFF2-40B4-BE49-F238E27FC236}">
                <a16:creationId xmlns:a16="http://schemas.microsoft.com/office/drawing/2014/main" id="{276EFCD6-9E7A-F3E1-2AD9-AB99B6B226B3}"/>
              </a:ext>
            </a:extLst>
          </p:cNvPr>
          <p:cNvSpPr/>
          <p:nvPr/>
        </p:nvSpPr>
        <p:spPr>
          <a:xfrm>
            <a:off x="6928405" y="3133027"/>
            <a:ext cx="72136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046" dirty="0">
                <a:solidFill>
                  <a:srgbClr val="FFFFFF">
                    <a:alpha val="40000"/>
                  </a:srgbClr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•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37" name="Text 21">
            <a:extLst>
              <a:ext uri="{FF2B5EF4-FFF2-40B4-BE49-F238E27FC236}">
                <a16:creationId xmlns:a16="http://schemas.microsoft.com/office/drawing/2014/main" id="{5A8CF0C0-EC21-CC2B-ABB3-E4E5FF3A8D58}"/>
              </a:ext>
            </a:extLst>
          </p:cNvPr>
          <p:cNvSpPr/>
          <p:nvPr/>
        </p:nvSpPr>
        <p:spPr>
          <a:xfrm>
            <a:off x="7267901" y="3118248"/>
            <a:ext cx="859210" cy="1905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238" dirty="0">
                <a:solidFill>
                  <a:srgbClr val="FFFFFF">
                    <a:alpha val="95000"/>
                  </a:srgbClr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ML Models</a:t>
            </a:r>
            <a:endParaRPr lang="en-US" sz="1238" dirty="0">
              <a:latin typeface="Indosat Bold Bold" pitchFamily="2" charset="77"/>
            </a:endParaRPr>
          </a:p>
        </p:txBody>
      </p:sp>
      <p:sp>
        <p:nvSpPr>
          <p:cNvPr id="38" name="Shape 22">
            <a:extLst>
              <a:ext uri="{FF2B5EF4-FFF2-40B4-BE49-F238E27FC236}">
                <a16:creationId xmlns:a16="http://schemas.microsoft.com/office/drawing/2014/main" id="{F3E5A678-BA4A-09EA-7DE9-33A886D262A0}"/>
              </a:ext>
            </a:extLst>
          </p:cNvPr>
          <p:cNvSpPr/>
          <p:nvPr/>
        </p:nvSpPr>
        <p:spPr>
          <a:xfrm>
            <a:off x="714375" y="3713560"/>
            <a:ext cx="7715250" cy="714375"/>
          </a:xfrm>
          <a:prstGeom prst="rect">
            <a:avLst/>
          </a:prstGeom>
          <a:solidFill>
            <a:srgbClr val="24BDAD"/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39" name="Text 23">
            <a:extLst>
              <a:ext uri="{FF2B5EF4-FFF2-40B4-BE49-F238E27FC236}">
                <a16:creationId xmlns:a16="http://schemas.microsoft.com/office/drawing/2014/main" id="{7EDFC0A8-60A7-0331-94FD-B01741D198B4}"/>
              </a:ext>
            </a:extLst>
          </p:cNvPr>
          <p:cNvSpPr/>
          <p:nvPr/>
        </p:nvSpPr>
        <p:spPr>
          <a:xfrm>
            <a:off x="1071564" y="3949561"/>
            <a:ext cx="1689565" cy="24237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575" b="1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Telemetry Layer</a:t>
            </a:r>
            <a:endParaRPr lang="en-US" sz="1575" dirty="0">
              <a:latin typeface="Indosat Bold Bold" pitchFamily="2" charset="77"/>
            </a:endParaRPr>
          </a:p>
        </p:txBody>
      </p:sp>
      <p:sp>
        <p:nvSpPr>
          <p:cNvPr id="40" name="Text 24">
            <a:extLst>
              <a:ext uri="{FF2B5EF4-FFF2-40B4-BE49-F238E27FC236}">
                <a16:creationId xmlns:a16="http://schemas.microsoft.com/office/drawing/2014/main" id="{857DA33D-21B6-6D57-EFAC-594441B4138E}"/>
              </a:ext>
            </a:extLst>
          </p:cNvPr>
          <p:cNvSpPr/>
          <p:nvPr/>
        </p:nvSpPr>
        <p:spPr>
          <a:xfrm>
            <a:off x="4123730" y="3975497"/>
            <a:ext cx="1197444" cy="1905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238" dirty="0">
                <a:solidFill>
                  <a:srgbClr val="FFFFFF">
                    <a:alpha val="95000"/>
                  </a:srgbClr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Chronicle SIEM</a:t>
            </a:r>
            <a:endParaRPr lang="en-US" sz="1238" dirty="0">
              <a:latin typeface="Indosat Bold Bold" pitchFamily="2" charset="77"/>
            </a:endParaRPr>
          </a:p>
        </p:txBody>
      </p:sp>
      <p:sp>
        <p:nvSpPr>
          <p:cNvPr id="41" name="Text 25">
            <a:extLst>
              <a:ext uri="{FF2B5EF4-FFF2-40B4-BE49-F238E27FC236}">
                <a16:creationId xmlns:a16="http://schemas.microsoft.com/office/drawing/2014/main" id="{C2DFE8BE-BCB7-A342-844C-3D5C62F4A6DB}"/>
              </a:ext>
            </a:extLst>
          </p:cNvPr>
          <p:cNvSpPr/>
          <p:nvPr/>
        </p:nvSpPr>
        <p:spPr>
          <a:xfrm>
            <a:off x="5515449" y="3990277"/>
            <a:ext cx="72136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046" dirty="0">
                <a:solidFill>
                  <a:srgbClr val="FFFFFF">
                    <a:alpha val="40000"/>
                  </a:srgbClr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•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42" name="Text 26">
            <a:extLst>
              <a:ext uri="{FF2B5EF4-FFF2-40B4-BE49-F238E27FC236}">
                <a16:creationId xmlns:a16="http://schemas.microsoft.com/office/drawing/2014/main" id="{12C76680-4226-77DD-3150-181BC06DE891}"/>
              </a:ext>
            </a:extLst>
          </p:cNvPr>
          <p:cNvSpPr/>
          <p:nvPr/>
        </p:nvSpPr>
        <p:spPr>
          <a:xfrm>
            <a:off x="5854946" y="3975497"/>
            <a:ext cx="721351" cy="1905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238" dirty="0">
                <a:solidFill>
                  <a:srgbClr val="FFFFFF">
                    <a:alpha val="95000"/>
                  </a:srgbClr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Firewalls</a:t>
            </a:r>
            <a:endParaRPr lang="en-US" sz="1238" dirty="0">
              <a:latin typeface="Indosat Bold Bold" pitchFamily="2" charset="77"/>
            </a:endParaRPr>
          </a:p>
        </p:txBody>
      </p:sp>
      <p:sp>
        <p:nvSpPr>
          <p:cNvPr id="43" name="Text 27">
            <a:extLst>
              <a:ext uri="{FF2B5EF4-FFF2-40B4-BE49-F238E27FC236}">
                <a16:creationId xmlns:a16="http://schemas.microsoft.com/office/drawing/2014/main" id="{703166C8-24F5-1E77-DE10-C29E154F6298}"/>
              </a:ext>
            </a:extLst>
          </p:cNvPr>
          <p:cNvSpPr/>
          <p:nvPr/>
        </p:nvSpPr>
        <p:spPr>
          <a:xfrm>
            <a:off x="6778163" y="3990277"/>
            <a:ext cx="72136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046" dirty="0">
                <a:solidFill>
                  <a:srgbClr val="FFFFFF">
                    <a:alpha val="40000"/>
                  </a:srgbClr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•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44" name="Text 28">
            <a:extLst>
              <a:ext uri="{FF2B5EF4-FFF2-40B4-BE49-F238E27FC236}">
                <a16:creationId xmlns:a16="http://schemas.microsoft.com/office/drawing/2014/main" id="{25C8934C-E58A-B992-0BC3-D36DA1BE86B6}"/>
              </a:ext>
            </a:extLst>
          </p:cNvPr>
          <p:cNvSpPr/>
          <p:nvPr/>
        </p:nvSpPr>
        <p:spPr>
          <a:xfrm>
            <a:off x="7117660" y="3975497"/>
            <a:ext cx="1056379" cy="1905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238" dirty="0">
                <a:solidFill>
                  <a:srgbClr val="FFFFFF">
                    <a:alpha val="95000"/>
                  </a:srgbClr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Security APIs</a:t>
            </a:r>
            <a:endParaRPr lang="en-US" sz="1238" dirty="0">
              <a:latin typeface="Indosat Bold Bol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514541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2">
            <a:extLst>
              <a:ext uri="{FF2B5EF4-FFF2-40B4-BE49-F238E27FC236}">
                <a16:creationId xmlns:a16="http://schemas.microsoft.com/office/drawing/2014/main" id="{6A776808-4874-1577-4E06-A7D0C79B5A04}"/>
              </a:ext>
            </a:extLst>
          </p:cNvPr>
          <p:cNvSpPr/>
          <p:nvPr/>
        </p:nvSpPr>
        <p:spPr>
          <a:xfrm>
            <a:off x="6880101" y="4925718"/>
            <a:ext cx="1942841" cy="1126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r"/>
            <a:r>
              <a:rPr lang="en-US" sz="732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GATRA Analytics Platform | Confidential </a:t>
            </a:r>
            <a:endParaRPr lang="en-US" sz="732" dirty="0">
              <a:latin typeface="Indosat Bold Bold" pitchFamily="2" charset="77"/>
            </a:endParaRPr>
          </a:p>
        </p:txBody>
      </p:sp>
      <p:sp>
        <p:nvSpPr>
          <p:cNvPr id="3" name="Text 0"/>
          <p:cNvSpPr/>
          <p:nvPr/>
        </p:nvSpPr>
        <p:spPr>
          <a:xfrm>
            <a:off x="285750" y="322819"/>
            <a:ext cx="7343357" cy="31162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25" b="1" dirty="0">
                <a:solidFill>
                  <a:srgbClr val="0B3D91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Solution Development - Executive Dashboard Snapshot</a:t>
            </a:r>
            <a:endParaRPr lang="en-US" sz="2025" dirty="0">
              <a:latin typeface="Indosat Bold Bold" pitchFamily="2" charset="77"/>
            </a:endParaRPr>
          </a:p>
        </p:txBody>
      </p:sp>
      <p:sp>
        <p:nvSpPr>
          <p:cNvPr id="4" name="Text 1"/>
          <p:cNvSpPr/>
          <p:nvPr/>
        </p:nvSpPr>
        <p:spPr>
          <a:xfrm>
            <a:off x="285751" y="620621"/>
            <a:ext cx="8231421" cy="39825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sz="1350" dirty="0">
                <a:latin typeface="Indosat Bold Bold" pitchFamily="2" charset="77"/>
              </a:rPr>
              <a:t>Real-time visibility into enterprise-scale security operations with intelligent data stratification:</a:t>
            </a:r>
            <a:endParaRPr lang="en-US" sz="1238" dirty="0">
              <a:latin typeface="Indosat Bold Bold" pitchFamily="2" charset="77"/>
            </a:endParaRPr>
          </a:p>
          <a:p>
            <a:endParaRPr lang="en-US" sz="1238" dirty="0">
              <a:latin typeface="Indosat Bold Bold" pitchFamily="2" charset="7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663440" y="1508760"/>
            <a:ext cx="54864" cy="960120"/>
          </a:xfrm>
          <a:prstGeom prst="rect">
            <a:avLst/>
          </a:prstGeom>
          <a:solidFill>
            <a:srgbClr val="24B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 dirty="0">
              <a:latin typeface="Indosat Bold Bold" pitchFamily="2" charset="7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800600" y="1577341"/>
            <a:ext cx="1229824" cy="3924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DA5"/>
                </a:solidFill>
              </a:defRPr>
            </a:pPr>
            <a:r>
              <a:rPr sz="1950" dirty="0">
                <a:latin typeface="Indosat Bold Bold" pitchFamily="2" charset="77"/>
              </a:rPr>
              <a:t>1,719,668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1885950"/>
            <a:ext cx="15430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rPr sz="900" dirty="0">
                <a:latin typeface="Indosat Bold Bold" pitchFamily="2" charset="77"/>
              </a:rPr>
              <a:t>Raw Events Processed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2160270"/>
            <a:ext cx="154305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rPr sz="750" dirty="0">
                <a:latin typeface="Indosat Bold Bold" pitchFamily="2" charset="77"/>
              </a:rPr>
              <a:t>Enterprise-scale coverage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15100" y="1508760"/>
            <a:ext cx="54864" cy="960120"/>
          </a:xfrm>
          <a:prstGeom prst="rect">
            <a:avLst/>
          </a:prstGeom>
          <a:solidFill>
            <a:srgbClr val="24B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 dirty="0">
              <a:latin typeface="Indosat Bold Bold" pitchFamily="2" charset="7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52260" y="1577341"/>
            <a:ext cx="1053494" cy="3924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DA5"/>
                </a:solidFill>
              </a:defRPr>
            </a:pPr>
            <a:r>
              <a:rPr sz="1950" dirty="0">
                <a:latin typeface="Indosat Bold Bold" pitchFamily="2" charset="77"/>
              </a:rPr>
              <a:t>131,053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2260" y="1885950"/>
            <a:ext cx="15430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rPr sz="900" dirty="0">
                <a:latin typeface="Indosat Bold Bold" pitchFamily="2" charset="77"/>
              </a:rPr>
              <a:t>Events for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2260" y="2160270"/>
            <a:ext cx="154305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rPr sz="750" dirty="0">
                <a:latin typeface="Indosat Bold Bold" pitchFamily="2" charset="77"/>
              </a:rPr>
              <a:t>Intelligent prioritization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2606040"/>
            <a:ext cx="54864" cy="960120"/>
          </a:xfrm>
          <a:prstGeom prst="rect">
            <a:avLst/>
          </a:prstGeom>
          <a:solidFill>
            <a:srgbClr val="24B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 dirty="0">
              <a:latin typeface="Indosat Bold Bold" pitchFamily="2" charset="7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800600" y="2674621"/>
            <a:ext cx="867545" cy="3924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DA5"/>
                </a:solidFill>
              </a:defRPr>
            </a:pPr>
            <a:r>
              <a:rPr sz="1950" dirty="0">
                <a:latin typeface="Indosat Bold Bold" pitchFamily="2" charset="77"/>
              </a:rPr>
              <a:t>1</a:t>
            </a:r>
            <a:r>
              <a:rPr lang="en-US" sz="1950" dirty="0">
                <a:latin typeface="Indosat Bold Bold" pitchFamily="2" charset="77"/>
              </a:rPr>
              <a:t>8</a:t>
            </a:r>
            <a:r>
              <a:rPr sz="1950" dirty="0">
                <a:latin typeface="Indosat Bold Bold" pitchFamily="2" charset="77"/>
              </a:rPr>
              <a:t>,</a:t>
            </a:r>
            <a:r>
              <a:rPr lang="en-US" sz="1950" dirty="0">
                <a:latin typeface="Indosat Bold Bold" pitchFamily="2" charset="77"/>
              </a:rPr>
              <a:t>718</a:t>
            </a:r>
            <a:endParaRPr sz="1950" dirty="0">
              <a:latin typeface="Indosat Bold Bold" pitchFamily="2" charset="7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800600" y="2983230"/>
            <a:ext cx="15430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rPr sz="900" dirty="0">
                <a:latin typeface="Indosat Bold Bold" pitchFamily="2" charset="77"/>
              </a:rPr>
              <a:t>Confirmed Threats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3257550"/>
            <a:ext cx="154305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rPr sz="750" dirty="0">
                <a:latin typeface="Indosat Bold Bold" pitchFamily="2" charset="77"/>
              </a:rPr>
              <a:t>Actionable incidents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15100" y="2606040"/>
            <a:ext cx="54864" cy="960120"/>
          </a:xfrm>
          <a:prstGeom prst="rect">
            <a:avLst/>
          </a:prstGeom>
          <a:solidFill>
            <a:srgbClr val="24B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 dirty="0">
              <a:latin typeface="Indosat Bold Bold" pitchFamily="2" charset="7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52260" y="2674621"/>
            <a:ext cx="1080745" cy="3924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DA5"/>
                </a:solidFill>
              </a:defRPr>
            </a:pPr>
            <a:r>
              <a:rPr sz="1950" dirty="0">
                <a:latin typeface="Indosat Bold Bold" pitchFamily="2" charset="77"/>
              </a:rPr>
              <a:t>99.24%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2260" y="2983230"/>
            <a:ext cx="1543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rPr sz="900" dirty="0">
                <a:latin typeface="Indosat Bold Bold" pitchFamily="2" charset="77"/>
              </a:rPr>
              <a:t>False Positive Reduction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2260" y="3257550"/>
            <a:ext cx="154305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rPr sz="750" dirty="0">
                <a:latin typeface="Indosat Bold Bold" pitchFamily="2" charset="77"/>
              </a:rPr>
              <a:t>0.76% confirmation rate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09809" y="3648236"/>
            <a:ext cx="1474470" cy="61722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 dirty="0">
              <a:latin typeface="Indosat Bold Bold" pitchFamily="2" charset="7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378389" y="3716817"/>
            <a:ext cx="1103187" cy="207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</a:defRPr>
            </a:pPr>
            <a:r>
              <a:rPr sz="750" dirty="0">
                <a:latin typeface="Indosat Bold Bold" pitchFamily="2" charset="77"/>
              </a:rPr>
              <a:t>🚀 Detection Phase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6747" y="3888267"/>
            <a:ext cx="100059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3DA5"/>
                </a:solidFill>
              </a:defRPr>
            </a:pPr>
            <a:r>
              <a:rPr sz="1200" dirty="0">
                <a:latin typeface="Indosat Bold Bold" pitchFamily="2" charset="77"/>
              </a:rPr>
              <a:t>15.2 Sec(s)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78389" y="4059716"/>
            <a:ext cx="133731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646464"/>
                </a:solidFill>
              </a:defRPr>
            </a:pPr>
            <a:r>
              <a:rPr sz="600" dirty="0">
                <a:latin typeface="Indosat Bold Bold" pitchFamily="2" charset="77"/>
              </a:rPr>
              <a:t>Average Detection Time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87149" y="3648236"/>
            <a:ext cx="1474470" cy="617220"/>
          </a:xfrm>
          <a:prstGeom prst="round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 dirty="0">
              <a:latin typeface="Indosat Bold Bold" pitchFamily="2" charset="7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955729" y="3716817"/>
            <a:ext cx="928459" cy="207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</a:defRPr>
            </a:pPr>
            <a:r>
              <a:rPr sz="750" dirty="0">
                <a:latin typeface="Indosat Bold Bold" pitchFamily="2" charset="77"/>
              </a:rPr>
              <a:t>💗 Triage Phase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54543" y="3888267"/>
            <a:ext cx="93968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3DA5"/>
                </a:solidFill>
              </a:defRPr>
            </a:pPr>
            <a:r>
              <a:rPr sz="1200" dirty="0">
                <a:latin typeface="Indosat Bold Bold" pitchFamily="2" charset="77"/>
              </a:rPr>
              <a:t>8.8 Sec(s)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55729" y="4059716"/>
            <a:ext cx="133731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646464"/>
                </a:solidFill>
              </a:defRPr>
            </a:pPr>
            <a:r>
              <a:rPr sz="600" dirty="0">
                <a:latin typeface="Indosat Bold Bold" pitchFamily="2" charset="77"/>
              </a:rPr>
              <a:t>Average Triage Time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09809" y="4379677"/>
            <a:ext cx="1474470" cy="61722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 dirty="0">
              <a:latin typeface="Indosat Bold Bold" pitchFamily="2" charset="7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378389" y="4433017"/>
            <a:ext cx="1101584" cy="207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</a:defRPr>
            </a:pPr>
            <a:r>
              <a:rPr sz="750" dirty="0">
                <a:latin typeface="Indosat Bold Bold" pitchFamily="2" charset="77"/>
              </a:rPr>
              <a:t>🎯 Response Phase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33122" y="4604467"/>
            <a:ext cx="102784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3DA5"/>
                </a:solidFill>
              </a:defRPr>
            </a:pPr>
            <a:r>
              <a:rPr sz="1200" dirty="0">
                <a:latin typeface="Indosat Bold Bold" pitchFamily="2" charset="77"/>
              </a:rPr>
              <a:t>26.9 Sec(s)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78389" y="4775917"/>
            <a:ext cx="13373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646464"/>
                </a:solidFill>
              </a:defRPr>
            </a:pPr>
            <a:r>
              <a:rPr sz="600" dirty="0">
                <a:latin typeface="Indosat Bold Bold" pitchFamily="2" charset="77"/>
              </a:rPr>
              <a:t>Average Response Time (Real CRA Data)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87149" y="4364437"/>
            <a:ext cx="1474470" cy="6172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 dirty="0">
              <a:latin typeface="Indosat Bold Bold" pitchFamily="2" charset="7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955729" y="4433017"/>
            <a:ext cx="832279" cy="207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</a:defRPr>
            </a:pPr>
            <a:r>
              <a:rPr sz="750" dirty="0">
                <a:latin typeface="Indosat Bold Bold" pitchFamily="2" charset="77"/>
              </a:rPr>
              <a:t>📊 Total MTTR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04048" y="4604467"/>
            <a:ext cx="104067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3DA5"/>
                </a:solidFill>
              </a:defRPr>
            </a:pPr>
            <a:r>
              <a:rPr sz="1200" dirty="0">
                <a:latin typeface="Indosat Bold Bold" pitchFamily="2" charset="77"/>
              </a:rPr>
              <a:t>50.9 Sec(s)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55729" y="4775917"/>
            <a:ext cx="133731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646464"/>
                </a:solidFill>
              </a:defRPr>
            </a:pPr>
            <a:r>
              <a:rPr sz="600" dirty="0">
                <a:latin typeface="Indosat Bold Bold" pitchFamily="2" charset="77"/>
              </a:rPr>
              <a:t>Mean Time to Response</a:t>
            </a:r>
          </a:p>
        </p:txBody>
      </p:sp>
      <p:pic>
        <p:nvPicPr>
          <p:cNvPr id="40" name="Picture 3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84BA8CD-B8E5-C5C2-BF2E-C4632EFFC3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49"/>
          <a:stretch>
            <a:fillRect/>
          </a:stretch>
        </p:blipFill>
        <p:spPr>
          <a:xfrm>
            <a:off x="240411" y="922201"/>
            <a:ext cx="4528649" cy="2631806"/>
          </a:xfrm>
          <a:prstGeom prst="rect">
            <a:avLst/>
          </a:prstGeom>
          <a:ln w="34925"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  <a:softEdge rad="711200"/>
          </a:effectLst>
          <a:scene3d>
            <a:camera prst="perspectiveFront" fov="3300000">
              <a:rot lat="486000" lon="19530000" rev="174000"/>
            </a:camera>
            <a:lightRig rig="balanced" dir="t">
              <a:rot lat="0" lon="0" rev="3000000"/>
            </a:lightRig>
          </a:scene3d>
          <a:sp3d extrusionH="254000" contourW="19050">
            <a:bevelT w="82550" h="44450" prst="angle"/>
            <a:bevelB w="95250" h="44450" prst="angle"/>
            <a:contourClr>
              <a:srgbClr val="FFFFFF"/>
            </a:contourClr>
          </a:sp3d>
        </p:spPr>
      </p:pic>
      <p:sp>
        <p:nvSpPr>
          <p:cNvPr id="2" name="Shape 14">
            <a:extLst>
              <a:ext uri="{FF2B5EF4-FFF2-40B4-BE49-F238E27FC236}">
                <a16:creationId xmlns:a16="http://schemas.microsoft.com/office/drawing/2014/main" id="{C4AD2B04-5A6F-2B8D-43C0-CD4BA5310B3E}"/>
              </a:ext>
            </a:extLst>
          </p:cNvPr>
          <p:cNvSpPr/>
          <p:nvPr/>
        </p:nvSpPr>
        <p:spPr>
          <a:xfrm>
            <a:off x="490631" y="4098472"/>
            <a:ext cx="2649668" cy="828284"/>
          </a:xfrm>
          <a:prstGeom prst="rect">
            <a:avLst/>
          </a:prstGeom>
          <a:solidFill>
            <a:srgbClr val="F0F9FF"/>
          </a:solidFill>
          <a:ln/>
        </p:spPr>
        <p:txBody>
          <a:bodyPr/>
          <a:lstStyle/>
          <a:p>
            <a:endParaRPr lang="en-US" sz="1500" b="1">
              <a:latin typeface="Indosat Regular" pitchFamily="2" charset="77"/>
            </a:endParaRPr>
          </a:p>
        </p:txBody>
      </p:sp>
      <p:sp>
        <p:nvSpPr>
          <p:cNvPr id="39" name="Shape 15">
            <a:extLst>
              <a:ext uri="{FF2B5EF4-FFF2-40B4-BE49-F238E27FC236}">
                <a16:creationId xmlns:a16="http://schemas.microsoft.com/office/drawing/2014/main" id="{D0373E43-5CD8-6DFB-EF1B-2E91787D2F9D}"/>
              </a:ext>
            </a:extLst>
          </p:cNvPr>
          <p:cNvSpPr/>
          <p:nvPr/>
        </p:nvSpPr>
        <p:spPr>
          <a:xfrm>
            <a:off x="490631" y="4098472"/>
            <a:ext cx="26789" cy="828284"/>
          </a:xfrm>
          <a:prstGeom prst="rect">
            <a:avLst/>
          </a:prstGeom>
          <a:solidFill>
            <a:srgbClr val="24BDAD"/>
          </a:solidFill>
          <a:ln/>
        </p:spPr>
        <p:txBody>
          <a:bodyPr/>
          <a:lstStyle/>
          <a:p>
            <a:endParaRPr lang="en-US" sz="1500" b="1">
              <a:latin typeface="Indosat Regular" pitchFamily="2" charset="77"/>
            </a:endParaRPr>
          </a:p>
        </p:txBody>
      </p:sp>
      <p:sp>
        <p:nvSpPr>
          <p:cNvPr id="41" name="Text 16">
            <a:extLst>
              <a:ext uri="{FF2B5EF4-FFF2-40B4-BE49-F238E27FC236}">
                <a16:creationId xmlns:a16="http://schemas.microsoft.com/office/drawing/2014/main" id="{068F1F60-69B6-A319-CC7C-FF96822B9B98}"/>
              </a:ext>
            </a:extLst>
          </p:cNvPr>
          <p:cNvSpPr/>
          <p:nvPr/>
        </p:nvSpPr>
        <p:spPr>
          <a:xfrm>
            <a:off x="619218" y="4198818"/>
            <a:ext cx="1375377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750" b="1" dirty="0">
                <a:solidFill>
                  <a:srgbClr val="2C3E50"/>
                </a:solidFill>
                <a:latin typeface="Indosat Regular" pitchFamily="2" charset="77"/>
                <a:ea typeface="Noto Sans" pitchFamily="34" charset="-122"/>
                <a:cs typeface="Noto Sans" pitchFamily="34" charset="-120"/>
              </a:rPr>
              <a:t> From 6 Hours to 50 Seconds </a:t>
            </a:r>
            <a:endParaRPr lang="en-US" sz="750" b="1" dirty="0">
              <a:latin typeface="Indosat Regular" pitchFamily="2" charset="77"/>
            </a:endParaRPr>
          </a:p>
        </p:txBody>
      </p:sp>
      <p:sp>
        <p:nvSpPr>
          <p:cNvPr id="42" name="Text 17">
            <a:extLst>
              <a:ext uri="{FF2B5EF4-FFF2-40B4-BE49-F238E27FC236}">
                <a16:creationId xmlns:a16="http://schemas.microsoft.com/office/drawing/2014/main" id="{711F3DBB-2D6E-8C12-C73D-24172D2AD49E}"/>
              </a:ext>
            </a:extLst>
          </p:cNvPr>
          <p:cNvSpPr/>
          <p:nvPr/>
        </p:nvSpPr>
        <p:spPr>
          <a:xfrm>
            <a:off x="619219" y="4416352"/>
            <a:ext cx="2392493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600" b="1" dirty="0">
                <a:solidFill>
                  <a:srgbClr val="34495E"/>
                </a:solidFill>
                <a:latin typeface="Indosat Regular" pitchFamily="2" charset="77"/>
                <a:ea typeface="Noto Sans" pitchFamily="34" charset="-122"/>
                <a:cs typeface="Noto Sans" pitchFamily="34" charset="-120"/>
              </a:rPr>
              <a:t>This 99.8% reduction in response time means threats are contained and mitigated before they can cause significant damage, fundamentally changing the security posture from reactive to proactive. </a:t>
            </a:r>
            <a:endParaRPr lang="en-US" sz="600" b="1" dirty="0">
              <a:latin typeface="Indosat Regular" pitchFamily="2" charset="77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7FF44-2A92-99F2-B44C-118ABAD7B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4C2EAADD-FECF-4D89-628C-78339B828073}"/>
              </a:ext>
            </a:extLst>
          </p:cNvPr>
          <p:cNvSpPr/>
          <p:nvPr/>
        </p:nvSpPr>
        <p:spPr>
          <a:xfrm>
            <a:off x="285750" y="75169"/>
            <a:ext cx="7102906" cy="31162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25" b="1" dirty="0">
                <a:solidFill>
                  <a:srgbClr val="0B3D91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Solution Development - Agent Performance Analytics</a:t>
            </a:r>
            <a:endParaRPr lang="en-US" sz="2025" dirty="0">
              <a:latin typeface="Indosat Bold Bold" pitchFamily="2" charset="77"/>
            </a:endParaRP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2C9BBA4E-012C-9096-AE1C-76CC6907568D}"/>
              </a:ext>
            </a:extLst>
          </p:cNvPr>
          <p:cNvSpPr/>
          <p:nvPr/>
        </p:nvSpPr>
        <p:spPr>
          <a:xfrm>
            <a:off x="285751" y="602933"/>
            <a:ext cx="257175" cy="257175"/>
          </a:xfrm>
          <a:prstGeom prst="ellipse">
            <a:avLst/>
          </a:prstGeom>
          <a:solidFill>
            <a:srgbClr val="24BDAD"/>
          </a:solidFill>
          <a:ln/>
        </p:spPr>
        <p:txBody>
          <a:bodyPr/>
          <a:lstStyle/>
          <a:p>
            <a:endParaRPr lang="en-US" dirty="0">
              <a:latin typeface="Indosat Bold Bold" pitchFamily="2" charset="77"/>
            </a:endParaRPr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FDDC93E5-B500-E87F-9C8F-300761FB0701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50044" y="667227"/>
            <a:ext cx="128588" cy="128588"/>
          </a:xfrm>
          <a:prstGeom prst="rect">
            <a:avLst/>
          </a:prstGeom>
        </p:spPr>
      </p:pic>
      <p:sp>
        <p:nvSpPr>
          <p:cNvPr id="29" name="Text 2">
            <a:extLst>
              <a:ext uri="{FF2B5EF4-FFF2-40B4-BE49-F238E27FC236}">
                <a16:creationId xmlns:a16="http://schemas.microsoft.com/office/drawing/2014/main" id="{42D04816-7826-109F-DA9D-1319D1DD171D}"/>
              </a:ext>
            </a:extLst>
          </p:cNvPr>
          <p:cNvSpPr/>
          <p:nvPr/>
        </p:nvSpPr>
        <p:spPr>
          <a:xfrm>
            <a:off x="614364" y="627647"/>
            <a:ext cx="2946319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350" b="1" dirty="0">
                <a:solidFill>
                  <a:srgbClr val="0B3D91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ADA (Anomaly Detection Agent) 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30" name="Text 3">
            <a:extLst>
              <a:ext uri="{FF2B5EF4-FFF2-40B4-BE49-F238E27FC236}">
                <a16:creationId xmlns:a16="http://schemas.microsoft.com/office/drawing/2014/main" id="{C5AF9B29-E7C9-AEBB-C2FE-FEA8BC43DB22}"/>
              </a:ext>
            </a:extLst>
          </p:cNvPr>
          <p:cNvSpPr/>
          <p:nvPr/>
        </p:nvSpPr>
        <p:spPr>
          <a:xfrm>
            <a:off x="614363" y="991978"/>
            <a:ext cx="92974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350" dirty="0">
                <a:solidFill>
                  <a:srgbClr val="24BDA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•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31" name="Text 4">
            <a:extLst>
              <a:ext uri="{FF2B5EF4-FFF2-40B4-BE49-F238E27FC236}">
                <a16:creationId xmlns:a16="http://schemas.microsoft.com/office/drawing/2014/main" id="{54C007B4-12C0-11DE-0FD7-92D9D0007F9C}"/>
              </a:ext>
            </a:extLst>
          </p:cNvPr>
          <p:cNvSpPr/>
          <p:nvPr/>
        </p:nvSpPr>
        <p:spPr>
          <a:xfrm>
            <a:off x="750289" y="991978"/>
            <a:ext cx="1080424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350" dirty="0">
                <a:solidFill>
                  <a:srgbClr val="1A1A1A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Confidence: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32" name="Text 5">
            <a:extLst>
              <a:ext uri="{FF2B5EF4-FFF2-40B4-BE49-F238E27FC236}">
                <a16:creationId xmlns:a16="http://schemas.microsoft.com/office/drawing/2014/main" id="{F08DEC82-D8E5-C76A-114C-2DFA7FADEF05}"/>
              </a:ext>
            </a:extLst>
          </p:cNvPr>
          <p:cNvSpPr/>
          <p:nvPr/>
        </p:nvSpPr>
        <p:spPr>
          <a:xfrm>
            <a:off x="1852232" y="991978"/>
            <a:ext cx="514564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350" b="1" dirty="0">
                <a:solidFill>
                  <a:srgbClr val="0B3D91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92.8%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33" name="Text 6">
            <a:extLst>
              <a:ext uri="{FF2B5EF4-FFF2-40B4-BE49-F238E27FC236}">
                <a16:creationId xmlns:a16="http://schemas.microsoft.com/office/drawing/2014/main" id="{37C59155-0A72-9829-C78F-2B78F92E259A}"/>
              </a:ext>
            </a:extLst>
          </p:cNvPr>
          <p:cNvSpPr/>
          <p:nvPr/>
        </p:nvSpPr>
        <p:spPr>
          <a:xfrm>
            <a:off x="2421220" y="1023363"/>
            <a:ext cx="663643" cy="144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942" dirty="0">
                <a:solidFill>
                  <a:srgbClr val="24BDA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(Excellent)</a:t>
            </a:r>
            <a:endParaRPr lang="en-US" sz="942" dirty="0">
              <a:latin typeface="Indosat Bold Bold" pitchFamily="2" charset="77"/>
            </a:endParaRPr>
          </a:p>
        </p:txBody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0AF007CC-A63A-1CB7-5298-00FAA9E04BAA}"/>
              </a:ext>
            </a:extLst>
          </p:cNvPr>
          <p:cNvSpPr/>
          <p:nvPr/>
        </p:nvSpPr>
        <p:spPr>
          <a:xfrm>
            <a:off x="614363" y="1334878"/>
            <a:ext cx="92974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350" dirty="0">
                <a:solidFill>
                  <a:srgbClr val="24BDA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•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80B63A11-AB65-8063-BBD0-09C9A1D26D7F}"/>
              </a:ext>
            </a:extLst>
          </p:cNvPr>
          <p:cNvSpPr/>
          <p:nvPr/>
        </p:nvSpPr>
        <p:spPr>
          <a:xfrm>
            <a:off x="750290" y="1334878"/>
            <a:ext cx="597921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350" dirty="0">
                <a:solidFill>
                  <a:srgbClr val="1A1A1A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Recall: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B9E5FF6D-8916-D449-D89D-362896F7E441}"/>
              </a:ext>
            </a:extLst>
          </p:cNvPr>
          <p:cNvSpPr/>
          <p:nvPr/>
        </p:nvSpPr>
        <p:spPr>
          <a:xfrm>
            <a:off x="1414175" y="1334878"/>
            <a:ext cx="509755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350" b="1" dirty="0">
                <a:solidFill>
                  <a:srgbClr val="0B3D91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99.6%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2D4F7878-43E2-80BE-F91C-4E5D2D8D72EE}"/>
              </a:ext>
            </a:extLst>
          </p:cNvPr>
          <p:cNvSpPr/>
          <p:nvPr/>
        </p:nvSpPr>
        <p:spPr>
          <a:xfrm>
            <a:off x="1983164" y="1366263"/>
            <a:ext cx="663643" cy="144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942" dirty="0">
                <a:solidFill>
                  <a:srgbClr val="24BDA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(Excellent)</a:t>
            </a:r>
            <a:endParaRPr lang="en-US" sz="942" dirty="0">
              <a:latin typeface="Indosat Bold Bold" pitchFamily="2" charset="77"/>
            </a:endParaRPr>
          </a:p>
        </p:txBody>
      </p:sp>
      <p:sp>
        <p:nvSpPr>
          <p:cNvPr id="38" name="Text 11">
            <a:extLst>
              <a:ext uri="{FF2B5EF4-FFF2-40B4-BE49-F238E27FC236}">
                <a16:creationId xmlns:a16="http://schemas.microsoft.com/office/drawing/2014/main" id="{85EA0DE3-B19D-5E47-A9D1-3269C1B14D4D}"/>
              </a:ext>
            </a:extLst>
          </p:cNvPr>
          <p:cNvSpPr/>
          <p:nvPr/>
        </p:nvSpPr>
        <p:spPr>
          <a:xfrm>
            <a:off x="614363" y="1677778"/>
            <a:ext cx="92974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350" dirty="0">
                <a:solidFill>
                  <a:srgbClr val="24BDA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•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39" name="Text 12">
            <a:extLst>
              <a:ext uri="{FF2B5EF4-FFF2-40B4-BE49-F238E27FC236}">
                <a16:creationId xmlns:a16="http://schemas.microsoft.com/office/drawing/2014/main" id="{28A71175-B7F1-D72E-E2A9-006433464015}"/>
              </a:ext>
            </a:extLst>
          </p:cNvPr>
          <p:cNvSpPr/>
          <p:nvPr/>
        </p:nvSpPr>
        <p:spPr>
          <a:xfrm>
            <a:off x="750289" y="1677778"/>
            <a:ext cx="1008289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350" dirty="0">
                <a:solidFill>
                  <a:srgbClr val="1A1A1A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Detections: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40" name="Text 13">
            <a:extLst>
              <a:ext uri="{FF2B5EF4-FFF2-40B4-BE49-F238E27FC236}">
                <a16:creationId xmlns:a16="http://schemas.microsoft.com/office/drawing/2014/main" id="{B4FBD7A0-0ECF-CE3D-95B8-0D6A11526BEF}"/>
              </a:ext>
            </a:extLst>
          </p:cNvPr>
          <p:cNvSpPr/>
          <p:nvPr/>
        </p:nvSpPr>
        <p:spPr>
          <a:xfrm>
            <a:off x="1804570" y="1677778"/>
            <a:ext cx="567463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sz="1350" b="1" dirty="0">
                <a:latin typeface="Indosat Bold Bold" pitchFamily="2" charset="77"/>
              </a:rPr>
              <a:t>59,848</a:t>
            </a:r>
            <a:endParaRPr lang="en-US" sz="1350" b="1" dirty="0">
              <a:latin typeface="Indosat Bold Bold" pitchFamily="2" charset="77"/>
            </a:endParaRPr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9E9215C6-0F6E-B402-E22B-993632E24A1B}"/>
              </a:ext>
            </a:extLst>
          </p:cNvPr>
          <p:cNvSpPr/>
          <p:nvPr/>
        </p:nvSpPr>
        <p:spPr>
          <a:xfrm>
            <a:off x="614363" y="2020678"/>
            <a:ext cx="92974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350" dirty="0">
                <a:solidFill>
                  <a:srgbClr val="24BDA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•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44" name="Text 15">
            <a:extLst>
              <a:ext uri="{FF2B5EF4-FFF2-40B4-BE49-F238E27FC236}">
                <a16:creationId xmlns:a16="http://schemas.microsoft.com/office/drawing/2014/main" id="{2163966C-6618-CA30-CEC1-3119CD748CC1}"/>
              </a:ext>
            </a:extLst>
          </p:cNvPr>
          <p:cNvSpPr/>
          <p:nvPr/>
        </p:nvSpPr>
        <p:spPr>
          <a:xfrm>
            <a:off x="750290" y="2020678"/>
            <a:ext cx="1197444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350" dirty="0">
                <a:solidFill>
                  <a:srgbClr val="1A1A1A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Avg Runtime: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45" name="Text 16">
            <a:extLst>
              <a:ext uri="{FF2B5EF4-FFF2-40B4-BE49-F238E27FC236}">
                <a16:creationId xmlns:a16="http://schemas.microsoft.com/office/drawing/2014/main" id="{D31E6782-5EF2-3240-1F15-7AA25971E245}"/>
              </a:ext>
            </a:extLst>
          </p:cNvPr>
          <p:cNvSpPr/>
          <p:nvPr/>
        </p:nvSpPr>
        <p:spPr>
          <a:xfrm>
            <a:off x="1972253" y="2020678"/>
            <a:ext cx="418384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350" b="1" dirty="0">
                <a:solidFill>
                  <a:srgbClr val="0B3D91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15.2s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46" name="Shape 17">
            <a:extLst>
              <a:ext uri="{FF2B5EF4-FFF2-40B4-BE49-F238E27FC236}">
                <a16:creationId xmlns:a16="http://schemas.microsoft.com/office/drawing/2014/main" id="{4B542A48-4929-D0AB-47A7-8C328D2C5E87}"/>
              </a:ext>
            </a:extLst>
          </p:cNvPr>
          <p:cNvSpPr/>
          <p:nvPr/>
        </p:nvSpPr>
        <p:spPr>
          <a:xfrm>
            <a:off x="4679156" y="602933"/>
            <a:ext cx="257175" cy="257175"/>
          </a:xfrm>
          <a:prstGeom prst="ellipse">
            <a:avLst/>
          </a:prstGeom>
          <a:solidFill>
            <a:srgbClr val="24BDAD"/>
          </a:solidFill>
          <a:ln/>
        </p:spPr>
        <p:txBody>
          <a:bodyPr/>
          <a:lstStyle/>
          <a:p>
            <a:endParaRPr lang="en-US" dirty="0">
              <a:latin typeface="Indosat Bold Bold" pitchFamily="2" charset="77"/>
            </a:endParaRPr>
          </a:p>
        </p:txBody>
      </p:sp>
      <p:pic>
        <p:nvPicPr>
          <p:cNvPr id="47" name="Image 2" descr="preencoded.png">
            <a:extLst>
              <a:ext uri="{FF2B5EF4-FFF2-40B4-BE49-F238E27FC236}">
                <a16:creationId xmlns:a16="http://schemas.microsoft.com/office/drawing/2014/main" id="{6C13D980-C977-2ACD-7D59-EF98560612C2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743451" y="667227"/>
            <a:ext cx="128588" cy="128588"/>
          </a:xfrm>
          <a:prstGeom prst="rect">
            <a:avLst/>
          </a:prstGeom>
        </p:spPr>
      </p:pic>
      <p:sp>
        <p:nvSpPr>
          <p:cNvPr id="48" name="Text 18">
            <a:extLst>
              <a:ext uri="{FF2B5EF4-FFF2-40B4-BE49-F238E27FC236}">
                <a16:creationId xmlns:a16="http://schemas.microsoft.com/office/drawing/2014/main" id="{C0753224-2B65-EB32-9986-298A9D5EFD47}"/>
              </a:ext>
            </a:extLst>
          </p:cNvPr>
          <p:cNvSpPr/>
          <p:nvPr/>
        </p:nvSpPr>
        <p:spPr>
          <a:xfrm>
            <a:off x="5007769" y="627647"/>
            <a:ext cx="2710678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350" b="1" dirty="0">
                <a:solidFill>
                  <a:srgbClr val="0B3D91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TAA (Triage &amp; Analysis Agent) 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49" name="Text 19">
            <a:extLst>
              <a:ext uri="{FF2B5EF4-FFF2-40B4-BE49-F238E27FC236}">
                <a16:creationId xmlns:a16="http://schemas.microsoft.com/office/drawing/2014/main" id="{A0CF5A44-64E6-AD3C-CEEF-BC5C3131D1BF}"/>
              </a:ext>
            </a:extLst>
          </p:cNvPr>
          <p:cNvSpPr/>
          <p:nvPr/>
        </p:nvSpPr>
        <p:spPr>
          <a:xfrm>
            <a:off x="5007769" y="991978"/>
            <a:ext cx="92974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350" dirty="0">
                <a:solidFill>
                  <a:srgbClr val="24BDA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•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50" name="Text 20">
            <a:extLst>
              <a:ext uri="{FF2B5EF4-FFF2-40B4-BE49-F238E27FC236}">
                <a16:creationId xmlns:a16="http://schemas.microsoft.com/office/drawing/2014/main" id="{B18BBF9E-DFD7-20DA-149B-A50BB159F521}"/>
              </a:ext>
            </a:extLst>
          </p:cNvPr>
          <p:cNvSpPr/>
          <p:nvPr/>
        </p:nvSpPr>
        <p:spPr>
          <a:xfrm>
            <a:off x="5143696" y="991978"/>
            <a:ext cx="851195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350" dirty="0">
                <a:solidFill>
                  <a:srgbClr val="1A1A1A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Precision: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51" name="Text 21">
            <a:extLst>
              <a:ext uri="{FF2B5EF4-FFF2-40B4-BE49-F238E27FC236}">
                <a16:creationId xmlns:a16="http://schemas.microsoft.com/office/drawing/2014/main" id="{C8698E37-B923-B56E-C6C2-47719B134B56}"/>
              </a:ext>
            </a:extLst>
          </p:cNvPr>
          <p:cNvSpPr/>
          <p:nvPr/>
        </p:nvSpPr>
        <p:spPr>
          <a:xfrm>
            <a:off x="6030674" y="991978"/>
            <a:ext cx="357470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350" b="1" dirty="0">
                <a:solidFill>
                  <a:srgbClr val="0B3D91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65%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52" name="Text 22">
            <a:extLst>
              <a:ext uri="{FF2B5EF4-FFF2-40B4-BE49-F238E27FC236}">
                <a16:creationId xmlns:a16="http://schemas.microsoft.com/office/drawing/2014/main" id="{C1221B07-672A-A12D-2DD1-DE24FEF0B2CD}"/>
              </a:ext>
            </a:extLst>
          </p:cNvPr>
          <p:cNvSpPr/>
          <p:nvPr/>
        </p:nvSpPr>
        <p:spPr>
          <a:xfrm>
            <a:off x="6472337" y="1023363"/>
            <a:ext cx="599523" cy="144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942" dirty="0">
                <a:solidFill>
                  <a:srgbClr val="FFC000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(Medium)</a:t>
            </a:r>
            <a:endParaRPr lang="en-US" sz="942" dirty="0">
              <a:solidFill>
                <a:srgbClr val="FFC000"/>
              </a:solidFill>
              <a:latin typeface="Indosat Bold Bold" pitchFamily="2" charset="77"/>
            </a:endParaRPr>
          </a:p>
        </p:txBody>
      </p:sp>
      <p:sp>
        <p:nvSpPr>
          <p:cNvPr id="53" name="Text 23">
            <a:extLst>
              <a:ext uri="{FF2B5EF4-FFF2-40B4-BE49-F238E27FC236}">
                <a16:creationId xmlns:a16="http://schemas.microsoft.com/office/drawing/2014/main" id="{A2678628-E8B6-6683-1FD4-BA2C018BE288}"/>
              </a:ext>
            </a:extLst>
          </p:cNvPr>
          <p:cNvSpPr/>
          <p:nvPr/>
        </p:nvSpPr>
        <p:spPr>
          <a:xfrm>
            <a:off x="5007769" y="1334878"/>
            <a:ext cx="92974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350" dirty="0">
                <a:solidFill>
                  <a:srgbClr val="24BDA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•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54" name="Text 24">
            <a:extLst>
              <a:ext uri="{FF2B5EF4-FFF2-40B4-BE49-F238E27FC236}">
                <a16:creationId xmlns:a16="http://schemas.microsoft.com/office/drawing/2014/main" id="{6630BB0D-B87C-3984-0E40-35D8852BDE6A}"/>
              </a:ext>
            </a:extLst>
          </p:cNvPr>
          <p:cNvSpPr/>
          <p:nvPr/>
        </p:nvSpPr>
        <p:spPr>
          <a:xfrm>
            <a:off x="5143695" y="1334878"/>
            <a:ext cx="1702389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350" dirty="0">
                <a:solidFill>
                  <a:srgbClr val="1A1A1A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False Positive Rate: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55" name="Text 25">
            <a:extLst>
              <a:ext uri="{FF2B5EF4-FFF2-40B4-BE49-F238E27FC236}">
                <a16:creationId xmlns:a16="http://schemas.microsoft.com/office/drawing/2014/main" id="{02B2B917-50D6-E79A-236A-76AC0F4A0BC4}"/>
              </a:ext>
            </a:extLst>
          </p:cNvPr>
          <p:cNvSpPr/>
          <p:nvPr/>
        </p:nvSpPr>
        <p:spPr>
          <a:xfrm>
            <a:off x="6829341" y="1334878"/>
            <a:ext cx="474489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350" b="1" dirty="0">
                <a:solidFill>
                  <a:srgbClr val="0B3D91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&lt;30%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56" name="Text 26">
            <a:extLst>
              <a:ext uri="{FF2B5EF4-FFF2-40B4-BE49-F238E27FC236}">
                <a16:creationId xmlns:a16="http://schemas.microsoft.com/office/drawing/2014/main" id="{71F8C9C7-832D-C6E6-6715-18700E1F8272}"/>
              </a:ext>
            </a:extLst>
          </p:cNvPr>
          <p:cNvSpPr/>
          <p:nvPr/>
        </p:nvSpPr>
        <p:spPr>
          <a:xfrm>
            <a:off x="7363409" y="1366263"/>
            <a:ext cx="482504" cy="144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942" dirty="0">
                <a:solidFill>
                  <a:srgbClr val="24BDA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(Stable)</a:t>
            </a:r>
            <a:endParaRPr lang="en-US" sz="942" dirty="0">
              <a:latin typeface="Indosat Bold Bold" pitchFamily="2" charset="77"/>
            </a:endParaRPr>
          </a:p>
        </p:txBody>
      </p:sp>
      <p:sp>
        <p:nvSpPr>
          <p:cNvPr id="57" name="Text 27">
            <a:extLst>
              <a:ext uri="{FF2B5EF4-FFF2-40B4-BE49-F238E27FC236}">
                <a16:creationId xmlns:a16="http://schemas.microsoft.com/office/drawing/2014/main" id="{3AC61544-527D-D539-469F-1601DE92C2DB}"/>
              </a:ext>
            </a:extLst>
          </p:cNvPr>
          <p:cNvSpPr/>
          <p:nvPr/>
        </p:nvSpPr>
        <p:spPr>
          <a:xfrm>
            <a:off x="5007769" y="1677778"/>
            <a:ext cx="92974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350" dirty="0">
                <a:solidFill>
                  <a:srgbClr val="24BDA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•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58" name="Text 28">
            <a:extLst>
              <a:ext uri="{FF2B5EF4-FFF2-40B4-BE49-F238E27FC236}">
                <a16:creationId xmlns:a16="http://schemas.microsoft.com/office/drawing/2014/main" id="{25AD7866-1952-B4E1-1CF8-FFEA7A50E536}"/>
              </a:ext>
            </a:extLst>
          </p:cNvPr>
          <p:cNvSpPr/>
          <p:nvPr/>
        </p:nvSpPr>
        <p:spPr>
          <a:xfrm>
            <a:off x="5143696" y="1677778"/>
            <a:ext cx="570669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350" dirty="0">
                <a:solidFill>
                  <a:srgbClr val="1A1A1A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Alerts: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59" name="Text 29">
            <a:extLst>
              <a:ext uri="{FF2B5EF4-FFF2-40B4-BE49-F238E27FC236}">
                <a16:creationId xmlns:a16="http://schemas.microsoft.com/office/drawing/2014/main" id="{6C1C3F83-9377-A7C9-FB11-B374E4D6E275}"/>
              </a:ext>
            </a:extLst>
          </p:cNvPr>
          <p:cNvSpPr/>
          <p:nvPr/>
        </p:nvSpPr>
        <p:spPr>
          <a:xfrm>
            <a:off x="5726414" y="1677778"/>
            <a:ext cx="480901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sz="1350" b="1" dirty="0">
                <a:latin typeface="Indosat Bold Bold" pitchFamily="2" charset="77"/>
              </a:rPr>
              <a:t>51,</a:t>
            </a:r>
            <a:r>
              <a:rPr lang="en-US" sz="1350" b="1" dirty="0">
                <a:latin typeface="Indosat Bold Bold" pitchFamily="2" charset="77"/>
              </a:rPr>
              <a:t>714</a:t>
            </a:r>
          </a:p>
        </p:txBody>
      </p:sp>
      <p:sp>
        <p:nvSpPr>
          <p:cNvPr id="60" name="Text 30">
            <a:extLst>
              <a:ext uri="{FF2B5EF4-FFF2-40B4-BE49-F238E27FC236}">
                <a16:creationId xmlns:a16="http://schemas.microsoft.com/office/drawing/2014/main" id="{04AF0E78-A010-3260-0756-CA408D8FB3AE}"/>
              </a:ext>
            </a:extLst>
          </p:cNvPr>
          <p:cNvSpPr/>
          <p:nvPr/>
        </p:nvSpPr>
        <p:spPr>
          <a:xfrm>
            <a:off x="5007769" y="2020678"/>
            <a:ext cx="92974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350" dirty="0">
                <a:solidFill>
                  <a:srgbClr val="24BDA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•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61" name="Text 31">
            <a:extLst>
              <a:ext uri="{FF2B5EF4-FFF2-40B4-BE49-F238E27FC236}">
                <a16:creationId xmlns:a16="http://schemas.microsoft.com/office/drawing/2014/main" id="{FCB59E4A-BE9A-49BF-63CB-A0610E276C1B}"/>
              </a:ext>
            </a:extLst>
          </p:cNvPr>
          <p:cNvSpPr/>
          <p:nvPr/>
        </p:nvSpPr>
        <p:spPr>
          <a:xfrm>
            <a:off x="5143695" y="2020678"/>
            <a:ext cx="1080424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350" dirty="0">
                <a:solidFill>
                  <a:srgbClr val="1A1A1A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Confidence: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62" name="Text 32">
            <a:extLst>
              <a:ext uri="{FF2B5EF4-FFF2-40B4-BE49-F238E27FC236}">
                <a16:creationId xmlns:a16="http://schemas.microsoft.com/office/drawing/2014/main" id="{DB4E2751-45AB-A615-9710-EF2F17A0908D}"/>
              </a:ext>
            </a:extLst>
          </p:cNvPr>
          <p:cNvSpPr/>
          <p:nvPr/>
        </p:nvSpPr>
        <p:spPr>
          <a:xfrm>
            <a:off x="6255163" y="2020678"/>
            <a:ext cx="522579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350" b="1" dirty="0">
                <a:solidFill>
                  <a:srgbClr val="0B3D91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84.2%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63" name="Text 33">
            <a:extLst>
              <a:ext uri="{FF2B5EF4-FFF2-40B4-BE49-F238E27FC236}">
                <a16:creationId xmlns:a16="http://schemas.microsoft.com/office/drawing/2014/main" id="{FF43BB2C-C1F5-5A4D-B87D-A2E63BC0C1EF}"/>
              </a:ext>
            </a:extLst>
          </p:cNvPr>
          <p:cNvSpPr/>
          <p:nvPr/>
        </p:nvSpPr>
        <p:spPr>
          <a:xfrm>
            <a:off x="6824151" y="2052063"/>
            <a:ext cx="367088" cy="144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942" dirty="0">
                <a:solidFill>
                  <a:srgbClr val="24BDA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(High)</a:t>
            </a:r>
            <a:endParaRPr lang="en-US" sz="942" dirty="0">
              <a:latin typeface="Indosat Bold Bold" pitchFamily="2" charset="77"/>
            </a:endParaRPr>
          </a:p>
        </p:txBody>
      </p:sp>
      <p:sp>
        <p:nvSpPr>
          <p:cNvPr id="64" name="Text 34">
            <a:extLst>
              <a:ext uri="{FF2B5EF4-FFF2-40B4-BE49-F238E27FC236}">
                <a16:creationId xmlns:a16="http://schemas.microsoft.com/office/drawing/2014/main" id="{D7856D5D-C84D-7788-2E9B-CBDE29AD3BFF}"/>
              </a:ext>
            </a:extLst>
          </p:cNvPr>
          <p:cNvSpPr/>
          <p:nvPr/>
        </p:nvSpPr>
        <p:spPr>
          <a:xfrm>
            <a:off x="5007769" y="2363578"/>
            <a:ext cx="92974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350" dirty="0">
                <a:solidFill>
                  <a:srgbClr val="24BDA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•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65" name="Text 35">
            <a:extLst>
              <a:ext uri="{FF2B5EF4-FFF2-40B4-BE49-F238E27FC236}">
                <a16:creationId xmlns:a16="http://schemas.microsoft.com/office/drawing/2014/main" id="{91D1CEBF-CF8F-F011-E3E1-B3F4C004A140}"/>
              </a:ext>
            </a:extLst>
          </p:cNvPr>
          <p:cNvSpPr/>
          <p:nvPr/>
        </p:nvSpPr>
        <p:spPr>
          <a:xfrm>
            <a:off x="5143696" y="2363578"/>
            <a:ext cx="1197444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350" dirty="0">
                <a:solidFill>
                  <a:srgbClr val="1A1A1A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Avg Runtime: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66" name="Text 36">
            <a:extLst>
              <a:ext uri="{FF2B5EF4-FFF2-40B4-BE49-F238E27FC236}">
                <a16:creationId xmlns:a16="http://schemas.microsoft.com/office/drawing/2014/main" id="{23456FDB-4A06-F814-EC7D-F18547194C97}"/>
              </a:ext>
            </a:extLst>
          </p:cNvPr>
          <p:cNvSpPr/>
          <p:nvPr/>
        </p:nvSpPr>
        <p:spPr>
          <a:xfrm>
            <a:off x="6375184" y="2363578"/>
            <a:ext cx="436017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350" b="1" dirty="0">
                <a:solidFill>
                  <a:srgbClr val="0B3D91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8.76s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69" name="Text 22">
            <a:extLst>
              <a:ext uri="{FF2B5EF4-FFF2-40B4-BE49-F238E27FC236}">
                <a16:creationId xmlns:a16="http://schemas.microsoft.com/office/drawing/2014/main" id="{569F8847-EC56-2F39-8B00-1F0AE6E1DCCA}"/>
              </a:ext>
            </a:extLst>
          </p:cNvPr>
          <p:cNvSpPr/>
          <p:nvPr/>
        </p:nvSpPr>
        <p:spPr>
          <a:xfrm>
            <a:off x="6974193" y="4793087"/>
            <a:ext cx="1942841" cy="1126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r"/>
            <a:r>
              <a:rPr lang="en-US" sz="732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GATRA Analytics Platform | Confidential </a:t>
            </a:r>
            <a:endParaRPr lang="en-US" sz="732" dirty="0">
              <a:latin typeface="Indosat Bold Bold" pitchFamily="2" charset="77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717D662-F1E2-BC29-BFF7-7DE0FF4B387A}"/>
              </a:ext>
            </a:extLst>
          </p:cNvPr>
          <p:cNvCxnSpPr>
            <a:cxnSpLocks/>
          </p:cNvCxnSpPr>
          <p:nvPr/>
        </p:nvCxnSpPr>
        <p:spPr>
          <a:xfrm>
            <a:off x="4310744" y="2799023"/>
            <a:ext cx="0" cy="226930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 1">
            <a:extLst>
              <a:ext uri="{FF2B5EF4-FFF2-40B4-BE49-F238E27FC236}">
                <a16:creationId xmlns:a16="http://schemas.microsoft.com/office/drawing/2014/main" id="{E8933EEF-264C-DB6F-ED46-85C202C15F57}"/>
              </a:ext>
            </a:extLst>
          </p:cNvPr>
          <p:cNvSpPr/>
          <p:nvPr/>
        </p:nvSpPr>
        <p:spPr>
          <a:xfrm>
            <a:off x="279004" y="373782"/>
            <a:ext cx="5318764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ID" sz="1350" dirty="0">
                <a:latin typeface="Indosat Bold Bold" pitchFamily="2" charset="77"/>
              </a:rPr>
              <a:t>From Detection to Cognition: The SOC That Learns from Itself</a:t>
            </a:r>
            <a:endParaRPr lang="en-US" sz="1238" dirty="0">
              <a:latin typeface="Indosat Bold Bold" pitchFamily="2" charset="77"/>
            </a:endParaRPr>
          </a:p>
        </p:txBody>
      </p:sp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6A0189A-F337-24F4-5FB0-4BC01B44C2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5" y="2597575"/>
            <a:ext cx="4227679" cy="2303117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glow rad="73474">
              <a:schemeClr val="tx1"/>
            </a:glow>
            <a:outerShdw blurRad="184150" dist="241300" dir="11520000" sx="110000" sy="110000" algn="ctr">
              <a:srgbClr val="000000">
                <a:alpha val="18000"/>
              </a:srgbClr>
            </a:outerShdw>
            <a:softEdge rad="71374"/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</p:pic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0D334D4-6C13-1BE2-7DFD-8EE8863EFA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1052" y="2597575"/>
            <a:ext cx="4743002" cy="2303117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glow rad="73474">
              <a:schemeClr val="tx1"/>
            </a:glow>
            <a:outerShdw blurRad="225425" dist="50800" dir="5220000" algn="ctr">
              <a:srgbClr val="000000">
                <a:alpha val="33000"/>
              </a:srgbClr>
            </a:outerShdw>
            <a:softEdge rad="71374"/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0374369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6F793-64F6-B4DB-3895-50FA337C3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FDD448A4-1238-20F1-4143-9BBFC2C3ABF9}"/>
              </a:ext>
            </a:extLst>
          </p:cNvPr>
          <p:cNvSpPr/>
          <p:nvPr/>
        </p:nvSpPr>
        <p:spPr>
          <a:xfrm>
            <a:off x="285751" y="503030"/>
            <a:ext cx="3127459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ID" sz="1350" dirty="0">
                <a:latin typeface="Indosat Bold Bold" pitchFamily="2" charset="77"/>
              </a:rPr>
              <a:t>The industry-leading performance! </a:t>
            </a:r>
            <a:endParaRPr lang="en-US" sz="2025" dirty="0">
              <a:latin typeface="Indosat Bold Bold" pitchFamily="2" charset="77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F14DB114-2812-808D-B3E3-D93D97EFB051}"/>
              </a:ext>
            </a:extLst>
          </p:cNvPr>
          <p:cNvSpPr/>
          <p:nvPr/>
        </p:nvSpPr>
        <p:spPr>
          <a:xfrm>
            <a:off x="285751" y="1104219"/>
            <a:ext cx="257175" cy="257175"/>
          </a:xfrm>
          <a:prstGeom prst="ellipse">
            <a:avLst/>
          </a:prstGeom>
          <a:solidFill>
            <a:srgbClr val="24BDAD"/>
          </a:solidFill>
          <a:ln/>
        </p:spPr>
        <p:txBody>
          <a:bodyPr/>
          <a:lstStyle/>
          <a:p>
            <a:endParaRPr lang="en-US" dirty="0">
              <a:latin typeface="Indosat Bold Bold" pitchFamily="2" charset="77"/>
            </a:endParaRPr>
          </a:p>
        </p:txBody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204F6002-0451-764A-6857-87BC6650468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50044" y="1168513"/>
            <a:ext cx="128588" cy="128588"/>
          </a:xfrm>
          <a:prstGeom prst="rect">
            <a:avLst/>
          </a:prstGeom>
        </p:spPr>
      </p:pic>
      <p:sp>
        <p:nvSpPr>
          <p:cNvPr id="10" name="Text 2">
            <a:extLst>
              <a:ext uri="{FF2B5EF4-FFF2-40B4-BE49-F238E27FC236}">
                <a16:creationId xmlns:a16="http://schemas.microsoft.com/office/drawing/2014/main" id="{66AE03C4-D856-E6F2-BDA0-74F7E6514C41}"/>
              </a:ext>
            </a:extLst>
          </p:cNvPr>
          <p:cNvSpPr/>
          <p:nvPr/>
        </p:nvSpPr>
        <p:spPr>
          <a:xfrm>
            <a:off x="614363" y="1128933"/>
            <a:ext cx="3460884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350" b="1" dirty="0">
                <a:solidFill>
                  <a:srgbClr val="0B3D91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CRA (Containment &amp; Response Agent) 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20D32619-023A-8AA5-38E2-28E010D77680}"/>
              </a:ext>
            </a:extLst>
          </p:cNvPr>
          <p:cNvSpPr/>
          <p:nvPr/>
        </p:nvSpPr>
        <p:spPr>
          <a:xfrm>
            <a:off x="614363" y="1493264"/>
            <a:ext cx="92974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350" dirty="0">
                <a:solidFill>
                  <a:srgbClr val="24BDA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•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2379C7A7-8AE7-3592-4D7D-7DA4FDB93B1B}"/>
              </a:ext>
            </a:extLst>
          </p:cNvPr>
          <p:cNvSpPr/>
          <p:nvPr/>
        </p:nvSpPr>
        <p:spPr>
          <a:xfrm>
            <a:off x="750289" y="1493264"/>
            <a:ext cx="1237518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350" dirty="0">
                <a:solidFill>
                  <a:srgbClr val="1A1A1A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Success Rate: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1B7B3B8C-1A19-736F-F6B8-201F162A89C1}"/>
              </a:ext>
            </a:extLst>
          </p:cNvPr>
          <p:cNvSpPr/>
          <p:nvPr/>
        </p:nvSpPr>
        <p:spPr>
          <a:xfrm>
            <a:off x="2118392" y="1493264"/>
            <a:ext cx="511358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350" b="1" dirty="0">
                <a:solidFill>
                  <a:srgbClr val="0B3D91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96.3%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6B2F03C6-4189-5FA0-BC2D-A7CB487C3F79}"/>
              </a:ext>
            </a:extLst>
          </p:cNvPr>
          <p:cNvSpPr/>
          <p:nvPr/>
        </p:nvSpPr>
        <p:spPr>
          <a:xfrm>
            <a:off x="2687381" y="1524648"/>
            <a:ext cx="663643" cy="144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942" dirty="0">
                <a:solidFill>
                  <a:srgbClr val="24BDA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(Excellent)</a:t>
            </a:r>
            <a:endParaRPr lang="en-US" sz="942" dirty="0">
              <a:latin typeface="Indosat Bold Bold" pitchFamily="2" charset="77"/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BF36EBA8-0D6F-EEFA-817F-E82CE2144AAD}"/>
              </a:ext>
            </a:extLst>
          </p:cNvPr>
          <p:cNvSpPr/>
          <p:nvPr/>
        </p:nvSpPr>
        <p:spPr>
          <a:xfrm>
            <a:off x="614363" y="1836164"/>
            <a:ext cx="92974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350" dirty="0">
                <a:solidFill>
                  <a:srgbClr val="24BDA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•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4F105286-B8F3-85EF-97BB-5FB827CD00AD}"/>
              </a:ext>
            </a:extLst>
          </p:cNvPr>
          <p:cNvSpPr/>
          <p:nvPr/>
        </p:nvSpPr>
        <p:spPr>
          <a:xfrm>
            <a:off x="750289" y="1836164"/>
            <a:ext cx="1099660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350" dirty="0">
                <a:solidFill>
                  <a:srgbClr val="1A1A1A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Failure Rate: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461CF727-A809-F395-1908-18615C7A9BC1}"/>
              </a:ext>
            </a:extLst>
          </p:cNvPr>
          <p:cNvSpPr/>
          <p:nvPr/>
        </p:nvSpPr>
        <p:spPr>
          <a:xfrm>
            <a:off x="2131685" y="1836164"/>
            <a:ext cx="416781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350" b="1" dirty="0">
                <a:solidFill>
                  <a:srgbClr val="0B3D91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2.5%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F9A23AE6-026A-ECB4-93A3-F79238499E14}"/>
              </a:ext>
            </a:extLst>
          </p:cNvPr>
          <p:cNvSpPr/>
          <p:nvPr/>
        </p:nvSpPr>
        <p:spPr>
          <a:xfrm>
            <a:off x="2605423" y="1867548"/>
            <a:ext cx="663643" cy="144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942" dirty="0">
                <a:solidFill>
                  <a:srgbClr val="24BDA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(Excellent)</a:t>
            </a:r>
            <a:endParaRPr lang="en-US" sz="942" dirty="0">
              <a:latin typeface="Indosat Bold Bold" pitchFamily="2" charset="77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8540BCC2-4E86-C17A-AA65-637F58DD1FFF}"/>
              </a:ext>
            </a:extLst>
          </p:cNvPr>
          <p:cNvSpPr/>
          <p:nvPr/>
        </p:nvSpPr>
        <p:spPr>
          <a:xfrm>
            <a:off x="614363" y="2179064"/>
            <a:ext cx="92974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350" dirty="0">
                <a:solidFill>
                  <a:srgbClr val="24BDA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•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243AB81C-D4F2-854C-FA93-2E7EB1BB0FDC}"/>
              </a:ext>
            </a:extLst>
          </p:cNvPr>
          <p:cNvSpPr/>
          <p:nvPr/>
        </p:nvSpPr>
        <p:spPr>
          <a:xfrm>
            <a:off x="750289" y="2179064"/>
            <a:ext cx="1205458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350" dirty="0">
                <a:solidFill>
                  <a:srgbClr val="1A1A1A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Total Actions: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2F7514B1-2FFF-F019-51A4-5BC2A3C6AB8C}"/>
              </a:ext>
            </a:extLst>
          </p:cNvPr>
          <p:cNvSpPr/>
          <p:nvPr/>
        </p:nvSpPr>
        <p:spPr>
          <a:xfrm>
            <a:off x="2158392" y="2179064"/>
            <a:ext cx="512961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sz="1350" b="1" dirty="0">
                <a:latin typeface="Indosat Bold Bold" pitchFamily="2" charset="77"/>
              </a:rPr>
              <a:t>18,</a:t>
            </a:r>
            <a:r>
              <a:rPr lang="en-US" sz="1350" b="1" dirty="0">
                <a:latin typeface="Indosat Bold Bold" pitchFamily="2" charset="77"/>
              </a:rPr>
              <a:t>100</a:t>
            </a:r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915BB2C4-8A23-AADB-5B81-D519C22A6B0D}"/>
              </a:ext>
            </a:extLst>
          </p:cNvPr>
          <p:cNvSpPr/>
          <p:nvPr/>
        </p:nvSpPr>
        <p:spPr>
          <a:xfrm>
            <a:off x="614363" y="2521964"/>
            <a:ext cx="92974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350" dirty="0">
                <a:solidFill>
                  <a:srgbClr val="24BDA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•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5D9D8737-6B0E-D66E-030E-6EDE68418E45}"/>
              </a:ext>
            </a:extLst>
          </p:cNvPr>
          <p:cNvSpPr/>
          <p:nvPr/>
        </p:nvSpPr>
        <p:spPr>
          <a:xfrm>
            <a:off x="750290" y="2521964"/>
            <a:ext cx="1197444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350" dirty="0">
                <a:solidFill>
                  <a:srgbClr val="1A1A1A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Avg Runtime: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B7625C8A-2BF4-C004-6552-2AD6BB993444}"/>
              </a:ext>
            </a:extLst>
          </p:cNvPr>
          <p:cNvSpPr/>
          <p:nvPr/>
        </p:nvSpPr>
        <p:spPr>
          <a:xfrm>
            <a:off x="2172278" y="2521964"/>
            <a:ext cx="450444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350" b="1" dirty="0">
                <a:solidFill>
                  <a:srgbClr val="0B3D91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26.9s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28" name="Shape 20">
            <a:extLst>
              <a:ext uri="{FF2B5EF4-FFF2-40B4-BE49-F238E27FC236}">
                <a16:creationId xmlns:a16="http://schemas.microsoft.com/office/drawing/2014/main" id="{3C04B520-A884-7A6E-32E0-EAFBFD7393E7}"/>
              </a:ext>
            </a:extLst>
          </p:cNvPr>
          <p:cNvSpPr/>
          <p:nvPr/>
        </p:nvSpPr>
        <p:spPr>
          <a:xfrm>
            <a:off x="4679156" y="1257301"/>
            <a:ext cx="257175" cy="257175"/>
          </a:xfrm>
          <a:prstGeom prst="ellipse">
            <a:avLst/>
          </a:prstGeom>
          <a:solidFill>
            <a:srgbClr val="24BDAD"/>
          </a:solidFill>
          <a:ln/>
        </p:spPr>
        <p:txBody>
          <a:bodyPr/>
          <a:lstStyle/>
          <a:p>
            <a:endParaRPr lang="en-US" dirty="0">
              <a:latin typeface="Indosat Bold Bold" pitchFamily="2" charset="77"/>
            </a:endParaRPr>
          </a:p>
        </p:txBody>
      </p:sp>
      <p:pic>
        <p:nvPicPr>
          <p:cNvPr id="41" name="Image 2" descr="preencoded.png">
            <a:extLst>
              <a:ext uri="{FF2B5EF4-FFF2-40B4-BE49-F238E27FC236}">
                <a16:creationId xmlns:a16="http://schemas.microsoft.com/office/drawing/2014/main" id="{15FB4A39-738B-77F4-D086-BD84EEA50C3B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743451" y="1321594"/>
            <a:ext cx="128588" cy="128588"/>
          </a:xfrm>
          <a:prstGeom prst="rect">
            <a:avLst/>
          </a:prstGeom>
        </p:spPr>
      </p:pic>
      <p:sp>
        <p:nvSpPr>
          <p:cNvPr id="42" name="Text 21">
            <a:extLst>
              <a:ext uri="{FF2B5EF4-FFF2-40B4-BE49-F238E27FC236}">
                <a16:creationId xmlns:a16="http://schemas.microsoft.com/office/drawing/2014/main" id="{6DF99149-7E4F-CCBA-642B-221820CD5559}"/>
              </a:ext>
            </a:extLst>
          </p:cNvPr>
          <p:cNvSpPr/>
          <p:nvPr/>
        </p:nvSpPr>
        <p:spPr>
          <a:xfrm>
            <a:off x="5007770" y="1282014"/>
            <a:ext cx="2596865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350" b="1" dirty="0">
                <a:solidFill>
                  <a:srgbClr val="0B3D91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Threat Landscape (All-Time) </a:t>
            </a:r>
            <a:endParaRPr lang="en-US" sz="1350" dirty="0">
              <a:latin typeface="Indosat Bold Bold" pitchFamily="2" charset="77"/>
            </a:endParaRPr>
          </a:p>
        </p:txBody>
      </p:sp>
      <p:pic>
        <p:nvPicPr>
          <p:cNvPr id="69" name="Image 3" descr="preencoded.png">
            <a:extLst>
              <a:ext uri="{FF2B5EF4-FFF2-40B4-BE49-F238E27FC236}">
                <a16:creationId xmlns:a16="http://schemas.microsoft.com/office/drawing/2014/main" id="{890A3AC5-F5B1-ED68-1622-80AAA6AB6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9157" y="1764507"/>
            <a:ext cx="4179094" cy="2500313"/>
          </a:xfrm>
          <a:prstGeom prst="rect">
            <a:avLst/>
          </a:prstGeom>
        </p:spPr>
      </p:pic>
      <p:sp>
        <p:nvSpPr>
          <p:cNvPr id="70" name="Text 22">
            <a:extLst>
              <a:ext uri="{FF2B5EF4-FFF2-40B4-BE49-F238E27FC236}">
                <a16:creationId xmlns:a16="http://schemas.microsoft.com/office/drawing/2014/main" id="{A0FF891E-1508-6934-9B44-CDA09F593B10}"/>
              </a:ext>
            </a:extLst>
          </p:cNvPr>
          <p:cNvSpPr/>
          <p:nvPr/>
        </p:nvSpPr>
        <p:spPr>
          <a:xfrm>
            <a:off x="6915409" y="4726412"/>
            <a:ext cx="1942841" cy="1126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r"/>
            <a:r>
              <a:rPr lang="en-US" sz="732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GATRA Analytics Platform | Confidential </a:t>
            </a:r>
            <a:endParaRPr lang="en-US" sz="732" dirty="0">
              <a:latin typeface="Indosat Bold Bold" pitchFamily="2" charset="77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520C9F6-F652-5F5B-53B7-D6788A146E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2354" y="1119340"/>
            <a:ext cx="4895228" cy="3145480"/>
          </a:xfrm>
          <a:prstGeom prst="rect">
            <a:avLst/>
          </a:prstGeom>
        </p:spPr>
      </p:pic>
      <p:sp>
        <p:nvSpPr>
          <p:cNvPr id="5" name="Text 6">
            <a:extLst>
              <a:ext uri="{FF2B5EF4-FFF2-40B4-BE49-F238E27FC236}">
                <a16:creationId xmlns:a16="http://schemas.microsoft.com/office/drawing/2014/main" id="{39E2F4A1-1B1C-0025-E95C-CDB44861FDA5}"/>
              </a:ext>
            </a:extLst>
          </p:cNvPr>
          <p:cNvSpPr/>
          <p:nvPr/>
        </p:nvSpPr>
        <p:spPr>
          <a:xfrm>
            <a:off x="2765824" y="2137962"/>
            <a:ext cx="1315272" cy="2899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942" dirty="0">
                <a:solidFill>
                  <a:srgbClr val="24BDA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(Primary Function:</a:t>
            </a:r>
          </a:p>
          <a:p>
            <a:r>
              <a:rPr lang="en-US" sz="942" dirty="0">
                <a:solidFill>
                  <a:srgbClr val="24BDAD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Email Notification)</a:t>
            </a:r>
            <a:endParaRPr lang="en-US" sz="942" dirty="0">
              <a:latin typeface="Indosat Bold Bold" pitchFamily="2" charset="77"/>
            </a:endParaRP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56801A4C-558C-19E0-91B1-3119BDE6ADDF}"/>
              </a:ext>
            </a:extLst>
          </p:cNvPr>
          <p:cNvSpPr/>
          <p:nvPr/>
        </p:nvSpPr>
        <p:spPr>
          <a:xfrm>
            <a:off x="285750" y="75169"/>
            <a:ext cx="7102906" cy="31162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25" b="1" dirty="0">
                <a:solidFill>
                  <a:srgbClr val="0B3D91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Solution Development - Agent Performance Analytics</a:t>
            </a:r>
            <a:endParaRPr lang="en-US" sz="2025" dirty="0">
              <a:latin typeface="Indosat Bold Bold" pitchFamily="2" charset="77"/>
            </a:endParaRPr>
          </a:p>
        </p:txBody>
      </p:sp>
      <p:sp>
        <p:nvSpPr>
          <p:cNvPr id="7" name="Text 22">
            <a:extLst>
              <a:ext uri="{FF2B5EF4-FFF2-40B4-BE49-F238E27FC236}">
                <a16:creationId xmlns:a16="http://schemas.microsoft.com/office/drawing/2014/main" id="{127B66AB-40DE-32F1-53C1-12902BCC3A28}"/>
              </a:ext>
            </a:extLst>
          </p:cNvPr>
          <p:cNvSpPr/>
          <p:nvPr/>
        </p:nvSpPr>
        <p:spPr>
          <a:xfrm>
            <a:off x="2827143" y="2530332"/>
            <a:ext cx="809517" cy="144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942" dirty="0">
                <a:solidFill>
                  <a:srgbClr val="FFC000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(Acceptable)</a:t>
            </a:r>
            <a:endParaRPr lang="en-US" sz="942" dirty="0">
              <a:solidFill>
                <a:srgbClr val="FFC000"/>
              </a:solidFill>
              <a:latin typeface="Indosat Bold Bold" pitchFamily="2" charset="77"/>
            </a:endParaRPr>
          </a:p>
        </p:txBody>
      </p:sp>
      <p:pic>
        <p:nvPicPr>
          <p:cNvPr id="30" name="Picture 2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06C0B44-8326-66D4-273B-7F89F2B40B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5942" y="1119340"/>
            <a:ext cx="4895228" cy="3220795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glow rad="230083">
              <a:schemeClr val="tx1"/>
            </a:glow>
            <a:outerShdw blurRad="44450" dist="27940" dir="5400000" algn="ctr">
              <a:srgbClr val="000000">
                <a:alpha val="32000"/>
              </a:srgbClr>
            </a:outerShdw>
            <a:softEdge rad="0"/>
          </a:effectLst>
          <a:scene3d>
            <a:camera prst="orthographicFront">
              <a:rot lat="0" lon="0" rev="0"/>
            </a:camera>
            <a:lightRig rig="balanced" dir="t">
              <a:rot lat="0" lon="0" rev="16800000"/>
            </a:lightRig>
          </a:scene3d>
          <a:sp3d extrusionH="63500" contourW="50800">
            <a:bevelT w="190500" h="38100" prst="slope"/>
            <a:bevelB prst="relaxedInset"/>
          </a:sp3d>
        </p:spPr>
      </p:pic>
    </p:spTree>
    <p:extLst>
      <p:ext uri="{BB962C8B-B14F-4D97-AF65-F5344CB8AC3E}">
        <p14:creationId xmlns:p14="http://schemas.microsoft.com/office/powerpoint/2010/main" val="28744974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C41BB-E260-00C6-83D5-836ACB2CD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38B9712C-2F04-7269-AC2D-19CF5FE6B4FA}"/>
              </a:ext>
            </a:extLst>
          </p:cNvPr>
          <p:cNvSpPr/>
          <p:nvPr/>
        </p:nvSpPr>
        <p:spPr>
          <a:xfrm>
            <a:off x="285750" y="94219"/>
            <a:ext cx="4930837" cy="31162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25" b="1" dirty="0">
                <a:solidFill>
                  <a:srgbClr val="0B3D91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Solution Development - Key Features</a:t>
            </a:r>
            <a:endParaRPr lang="en-US" sz="2025" dirty="0">
              <a:latin typeface="Indosat Bold Bold" pitchFamily="2" charset="77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51A2833E-B298-4ECE-095D-CFE8BA264511}"/>
              </a:ext>
            </a:extLst>
          </p:cNvPr>
          <p:cNvSpPr/>
          <p:nvPr/>
        </p:nvSpPr>
        <p:spPr>
          <a:xfrm>
            <a:off x="357189" y="666758"/>
            <a:ext cx="4042773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350" b="1" dirty="0">
                <a:solidFill>
                  <a:srgbClr val="1A1A1A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Multi-agent SOC framework (ADA, TAA, CRA, 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A0089C1C-9173-56D5-9F92-7FB6C46CF178}"/>
              </a:ext>
            </a:extLst>
          </p:cNvPr>
          <p:cNvSpPr/>
          <p:nvPr/>
        </p:nvSpPr>
        <p:spPr>
          <a:xfrm>
            <a:off x="357189" y="923933"/>
            <a:ext cx="913712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350" b="1" dirty="0">
                <a:solidFill>
                  <a:srgbClr val="1A1A1A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RVA, CLA)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ED5D298E-6E38-EA93-013E-E6D4AF20E197}"/>
              </a:ext>
            </a:extLst>
          </p:cNvPr>
          <p:cNvSpPr/>
          <p:nvPr/>
        </p:nvSpPr>
        <p:spPr>
          <a:xfrm>
            <a:off x="285750" y="1360595"/>
            <a:ext cx="2207336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350" b="1" dirty="0">
                <a:solidFill>
                  <a:srgbClr val="0B3D91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Key Features Built So Far:</a:t>
            </a:r>
            <a:endParaRPr lang="en-US" sz="1350" dirty="0">
              <a:latin typeface="Indosat Bold Bold" pitchFamily="2" charset="77"/>
            </a:endParaRPr>
          </a:p>
        </p:txBody>
      </p:sp>
      <p:pic>
        <p:nvPicPr>
          <p:cNvPr id="29" name="Image 1" descr="preencoded.png">
            <a:extLst>
              <a:ext uri="{FF2B5EF4-FFF2-40B4-BE49-F238E27FC236}">
                <a16:creationId xmlns:a16="http://schemas.microsoft.com/office/drawing/2014/main" id="{63491326-AC49-321F-64CB-1A1B57232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1" y="1757363"/>
            <a:ext cx="142875" cy="142875"/>
          </a:xfrm>
          <a:prstGeom prst="rect">
            <a:avLst/>
          </a:prstGeom>
        </p:spPr>
      </p:pic>
      <p:sp>
        <p:nvSpPr>
          <p:cNvPr id="30" name="Text 4">
            <a:extLst>
              <a:ext uri="{FF2B5EF4-FFF2-40B4-BE49-F238E27FC236}">
                <a16:creationId xmlns:a16="http://schemas.microsoft.com/office/drawing/2014/main" id="{B16C46FD-2EF9-E753-5BAB-175B7566976A}"/>
              </a:ext>
            </a:extLst>
          </p:cNvPr>
          <p:cNvSpPr/>
          <p:nvPr/>
        </p:nvSpPr>
        <p:spPr>
          <a:xfrm>
            <a:off x="535782" y="1724927"/>
            <a:ext cx="2824491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350" dirty="0">
                <a:solidFill>
                  <a:srgbClr val="1A1A1A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Automated anomaly detection </a:t>
            </a:r>
            <a:endParaRPr lang="en-US" sz="1350" dirty="0">
              <a:latin typeface="Indosat Bold Bold" pitchFamily="2" charset="77"/>
            </a:endParaRPr>
          </a:p>
        </p:txBody>
      </p:sp>
      <p:pic>
        <p:nvPicPr>
          <p:cNvPr id="31" name="Image 2" descr="preencoded.png">
            <a:extLst>
              <a:ext uri="{FF2B5EF4-FFF2-40B4-BE49-F238E27FC236}">
                <a16:creationId xmlns:a16="http://schemas.microsoft.com/office/drawing/2014/main" id="{0FA7ECF6-0207-B782-DFB9-9ACE30ED68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1" y="2121695"/>
            <a:ext cx="142875" cy="142875"/>
          </a:xfrm>
          <a:prstGeom prst="rect">
            <a:avLst/>
          </a:prstGeom>
        </p:spPr>
      </p:pic>
      <p:sp>
        <p:nvSpPr>
          <p:cNvPr id="32" name="Text 5">
            <a:extLst>
              <a:ext uri="{FF2B5EF4-FFF2-40B4-BE49-F238E27FC236}">
                <a16:creationId xmlns:a16="http://schemas.microsoft.com/office/drawing/2014/main" id="{ED5A6308-E12A-9AF1-F479-EB0746B175FF}"/>
              </a:ext>
            </a:extLst>
          </p:cNvPr>
          <p:cNvSpPr/>
          <p:nvPr/>
        </p:nvSpPr>
        <p:spPr>
          <a:xfrm>
            <a:off x="535782" y="2089258"/>
            <a:ext cx="2829301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350" dirty="0">
                <a:solidFill>
                  <a:srgbClr val="1A1A1A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Intelligent triage &amp; prioritization </a:t>
            </a:r>
            <a:endParaRPr lang="en-US" sz="1350" dirty="0">
              <a:latin typeface="Indosat Bold Bold" pitchFamily="2" charset="77"/>
            </a:endParaRPr>
          </a:p>
        </p:txBody>
      </p:sp>
      <p:pic>
        <p:nvPicPr>
          <p:cNvPr id="33" name="Image 3" descr="preencoded.png">
            <a:extLst>
              <a:ext uri="{FF2B5EF4-FFF2-40B4-BE49-F238E27FC236}">
                <a16:creationId xmlns:a16="http://schemas.microsoft.com/office/drawing/2014/main" id="{42B2075E-5E00-D056-8435-4CB4B3F6B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1" y="2486026"/>
            <a:ext cx="142875" cy="142875"/>
          </a:xfrm>
          <a:prstGeom prst="rect">
            <a:avLst/>
          </a:prstGeom>
        </p:spPr>
      </p:pic>
      <p:sp>
        <p:nvSpPr>
          <p:cNvPr id="34" name="Text 6">
            <a:extLst>
              <a:ext uri="{FF2B5EF4-FFF2-40B4-BE49-F238E27FC236}">
                <a16:creationId xmlns:a16="http://schemas.microsoft.com/office/drawing/2014/main" id="{537ED2A3-AE7F-EB97-3FC9-CC75D6FDF109}"/>
              </a:ext>
            </a:extLst>
          </p:cNvPr>
          <p:cNvSpPr/>
          <p:nvPr/>
        </p:nvSpPr>
        <p:spPr>
          <a:xfrm>
            <a:off x="535781" y="2453589"/>
            <a:ext cx="3295774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350" dirty="0">
                <a:solidFill>
                  <a:srgbClr val="1A1A1A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Automated containment &amp; response </a:t>
            </a:r>
            <a:endParaRPr lang="en-US" sz="1350" dirty="0">
              <a:latin typeface="Indosat Bold Bold" pitchFamily="2" charset="77"/>
            </a:endParaRPr>
          </a:p>
        </p:txBody>
      </p:sp>
      <p:pic>
        <p:nvPicPr>
          <p:cNvPr id="35" name="Image 4" descr="preencoded.png">
            <a:extLst>
              <a:ext uri="{FF2B5EF4-FFF2-40B4-BE49-F238E27FC236}">
                <a16:creationId xmlns:a16="http://schemas.microsoft.com/office/drawing/2014/main" id="{BF62B4CF-9E9F-B04C-30BE-2678C3F59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1" y="2850356"/>
            <a:ext cx="142875" cy="142875"/>
          </a:xfrm>
          <a:prstGeom prst="rect">
            <a:avLst/>
          </a:prstGeom>
        </p:spPr>
      </p:pic>
      <p:sp>
        <p:nvSpPr>
          <p:cNvPr id="36" name="Text 7">
            <a:extLst>
              <a:ext uri="{FF2B5EF4-FFF2-40B4-BE49-F238E27FC236}">
                <a16:creationId xmlns:a16="http://schemas.microsoft.com/office/drawing/2014/main" id="{60E6F020-1C07-F85B-C430-D157800039FE}"/>
              </a:ext>
            </a:extLst>
          </p:cNvPr>
          <p:cNvSpPr/>
          <p:nvPr/>
        </p:nvSpPr>
        <p:spPr>
          <a:xfrm>
            <a:off x="535781" y="2817920"/>
            <a:ext cx="3061736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350" dirty="0">
                <a:solidFill>
                  <a:srgbClr val="1A1A1A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Real-time reporting &amp; dashboards 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37" name="Text 8">
            <a:extLst>
              <a:ext uri="{FF2B5EF4-FFF2-40B4-BE49-F238E27FC236}">
                <a16:creationId xmlns:a16="http://schemas.microsoft.com/office/drawing/2014/main" id="{F3657B08-36AB-7462-DB96-54D1A2CB0738}"/>
              </a:ext>
            </a:extLst>
          </p:cNvPr>
          <p:cNvSpPr/>
          <p:nvPr/>
        </p:nvSpPr>
        <p:spPr>
          <a:xfrm>
            <a:off x="285751" y="3253689"/>
            <a:ext cx="1822615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350" b="1" dirty="0">
                <a:solidFill>
                  <a:srgbClr val="0B3D91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AI-Specific Progress:</a:t>
            </a:r>
            <a:endParaRPr lang="en-US" sz="1350" dirty="0">
              <a:latin typeface="Indosat Bold Bold" pitchFamily="2" charset="77"/>
            </a:endParaRPr>
          </a:p>
        </p:txBody>
      </p:sp>
      <p:pic>
        <p:nvPicPr>
          <p:cNvPr id="38" name="Image 5" descr="preencoded.png">
            <a:extLst>
              <a:ext uri="{FF2B5EF4-FFF2-40B4-BE49-F238E27FC236}">
                <a16:creationId xmlns:a16="http://schemas.microsoft.com/office/drawing/2014/main" id="{74552C89-2486-7D6A-1747-5517E73E95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1" y="3650456"/>
            <a:ext cx="142875" cy="142875"/>
          </a:xfrm>
          <a:prstGeom prst="rect">
            <a:avLst/>
          </a:prstGeom>
        </p:spPr>
      </p:pic>
      <p:sp>
        <p:nvSpPr>
          <p:cNvPr id="39" name="Text 9">
            <a:extLst>
              <a:ext uri="{FF2B5EF4-FFF2-40B4-BE49-F238E27FC236}">
                <a16:creationId xmlns:a16="http://schemas.microsoft.com/office/drawing/2014/main" id="{38D65447-DBB0-3437-2B5D-D170F659C4EF}"/>
              </a:ext>
            </a:extLst>
          </p:cNvPr>
          <p:cNvSpPr/>
          <p:nvPr/>
        </p:nvSpPr>
        <p:spPr>
          <a:xfrm>
            <a:off x="535782" y="3618020"/>
            <a:ext cx="3696525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350" dirty="0">
                <a:solidFill>
                  <a:srgbClr val="1A1A1A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Pilot validated: false positives reduced to 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40" name="Text 10">
            <a:extLst>
              <a:ext uri="{FF2B5EF4-FFF2-40B4-BE49-F238E27FC236}">
                <a16:creationId xmlns:a16="http://schemas.microsoft.com/office/drawing/2014/main" id="{60F34F13-9043-BA74-2C74-90E3330BAE1F}"/>
              </a:ext>
            </a:extLst>
          </p:cNvPr>
          <p:cNvSpPr/>
          <p:nvPr/>
        </p:nvSpPr>
        <p:spPr>
          <a:xfrm>
            <a:off x="4201690" y="3618020"/>
            <a:ext cx="343043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350" b="1" dirty="0">
                <a:solidFill>
                  <a:srgbClr val="EC008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78%</a:t>
            </a:r>
            <a:endParaRPr lang="en-US" sz="1350" dirty="0">
              <a:latin typeface="Indosat Bold Bold" pitchFamily="2" charset="77"/>
            </a:endParaRPr>
          </a:p>
        </p:txBody>
      </p:sp>
      <p:pic>
        <p:nvPicPr>
          <p:cNvPr id="43" name="Image 6" descr="preencoded.png">
            <a:extLst>
              <a:ext uri="{FF2B5EF4-FFF2-40B4-BE49-F238E27FC236}">
                <a16:creationId xmlns:a16="http://schemas.microsoft.com/office/drawing/2014/main" id="{C2F75B51-CEEC-0079-D725-B2906D7AAB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1" y="4014788"/>
            <a:ext cx="142875" cy="142875"/>
          </a:xfrm>
          <a:prstGeom prst="rect">
            <a:avLst/>
          </a:prstGeom>
        </p:spPr>
      </p:pic>
      <p:sp>
        <p:nvSpPr>
          <p:cNvPr id="44" name="Text 11">
            <a:extLst>
              <a:ext uri="{FF2B5EF4-FFF2-40B4-BE49-F238E27FC236}">
                <a16:creationId xmlns:a16="http://schemas.microsoft.com/office/drawing/2014/main" id="{4F438A9A-3B59-33DD-6C0D-7B8D5D8C39E1}"/>
              </a:ext>
            </a:extLst>
          </p:cNvPr>
          <p:cNvSpPr/>
          <p:nvPr/>
        </p:nvSpPr>
        <p:spPr>
          <a:xfrm>
            <a:off x="535782" y="3982352"/>
            <a:ext cx="1657505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350" dirty="0">
                <a:solidFill>
                  <a:srgbClr val="1A1A1A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MTTR improved to 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45" name="Text 12">
            <a:extLst>
              <a:ext uri="{FF2B5EF4-FFF2-40B4-BE49-F238E27FC236}">
                <a16:creationId xmlns:a16="http://schemas.microsoft.com/office/drawing/2014/main" id="{241E3FFD-0D81-F49D-B55D-FE2BE2A97411}"/>
              </a:ext>
            </a:extLst>
          </p:cNvPr>
          <p:cNvSpPr/>
          <p:nvPr/>
        </p:nvSpPr>
        <p:spPr>
          <a:xfrm>
            <a:off x="2185150" y="3982352"/>
            <a:ext cx="1000274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350" b="1" dirty="0">
                <a:solidFill>
                  <a:srgbClr val="EC008C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50 seconds</a:t>
            </a:r>
            <a:endParaRPr lang="en-US" sz="1350" dirty="0">
              <a:latin typeface="Indosat Bold Bold" pitchFamily="2" charset="77"/>
            </a:endParaRPr>
          </a:p>
        </p:txBody>
      </p:sp>
      <p:pic>
        <p:nvPicPr>
          <p:cNvPr id="47" name="Image 8" descr="preencoded.png">
            <a:extLst>
              <a:ext uri="{FF2B5EF4-FFF2-40B4-BE49-F238E27FC236}">
                <a16:creationId xmlns:a16="http://schemas.microsoft.com/office/drawing/2014/main" id="{ECCE7785-C2E1-CC36-C806-FE8F875DDD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9157" y="1308736"/>
            <a:ext cx="4179094" cy="2143125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600000"/>
            </a:lightRig>
          </a:scene3d>
          <a:sp3d extrusionH="254000" contourW="19050">
            <a:bevelT w="82550" h="44450" prst="divot"/>
            <a:bevelB w="82550" h="44450" prst="angle"/>
            <a:contourClr>
              <a:srgbClr val="FFFFFF"/>
            </a:contourClr>
          </a:sp3d>
        </p:spPr>
      </p:pic>
      <p:sp>
        <p:nvSpPr>
          <p:cNvPr id="48" name="Text 13">
            <a:extLst>
              <a:ext uri="{FF2B5EF4-FFF2-40B4-BE49-F238E27FC236}">
                <a16:creationId xmlns:a16="http://schemas.microsoft.com/office/drawing/2014/main" id="{77885D76-3278-4453-E8D3-306C87F8F9D9}"/>
              </a:ext>
            </a:extLst>
          </p:cNvPr>
          <p:cNvSpPr/>
          <p:nvPr/>
        </p:nvSpPr>
        <p:spPr>
          <a:xfrm>
            <a:off x="6915409" y="5590805"/>
            <a:ext cx="1942841" cy="1126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r"/>
            <a:r>
              <a:rPr lang="en-US" sz="732" dirty="0">
                <a:solidFill>
                  <a:srgbClr val="666666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GATRA Analytics Platform | Confidential </a:t>
            </a:r>
            <a:endParaRPr lang="en-US" sz="732" dirty="0">
              <a:latin typeface="Indosat Bold Bol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15075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1271</TotalTime>
  <Words>3235</Words>
  <Application>Microsoft Macintosh PowerPoint</Application>
  <PresentationFormat>On-screen Show (16:9)</PresentationFormat>
  <Paragraphs>754</Paragraphs>
  <Slides>36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Aptos</vt:lpstr>
      <vt:lpstr>Arial</vt:lpstr>
      <vt:lpstr>Calibri</vt:lpstr>
      <vt:lpstr>Indosat Bold Bold</vt:lpstr>
      <vt:lpstr>Indosat Regular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Market Sizing: TAM, SAM, and SOM</vt:lpstr>
      <vt:lpstr>Revenue Growth Sensitivity Scenarios (5-Year Outlook)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Raditio Ghifiardi</cp:lastModifiedBy>
  <cp:revision>17</cp:revision>
  <dcterms:created xsi:type="dcterms:W3CDTF">2025-10-25T04:23:54Z</dcterms:created>
  <dcterms:modified xsi:type="dcterms:W3CDTF">2025-10-26T01:37:03Z</dcterms:modified>
</cp:coreProperties>
</file>