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856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047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0493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6112" y="452758"/>
            <a:ext cx="7551747" cy="6232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4050" b="1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Continuous Learning Agent </a:t>
            </a:r>
            <a:endParaRPr lang="en-US" sz="4050" dirty="0">
              <a:latin typeface="Indosat Bold Bold" pitchFamily="2" charset="77"/>
            </a:endParaRPr>
          </a:p>
        </p:txBody>
      </p:sp>
      <p:sp>
        <p:nvSpPr>
          <p:cNvPr id="4" name="Text 1"/>
          <p:cNvSpPr/>
          <p:nvPr/>
        </p:nvSpPr>
        <p:spPr>
          <a:xfrm>
            <a:off x="3794530" y="1069966"/>
            <a:ext cx="1554914" cy="6232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4050" b="1" dirty="0">
                <a:solidFill>
                  <a:srgbClr val="80CBCB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(CLA)</a:t>
            </a:r>
            <a:endParaRPr lang="en-US" sz="4050" dirty="0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1543258" y="1842987"/>
            <a:ext cx="3416000" cy="3116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 Core Component of the </a:t>
            </a:r>
            <a:endParaRPr lang="en-US" sz="2025" dirty="0">
              <a:latin typeface="Indosat Bold Bold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4656758" y="1842987"/>
            <a:ext cx="2962349" cy="3116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dirty="0">
                <a:solidFill>
                  <a:srgbClr val="FF5A9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AI-Driven SOC System</a:t>
            </a:r>
            <a:endParaRPr lang="en-US" sz="2025" dirty="0">
              <a:latin typeface="Indosat Bold Bold" pitchFamily="2" charset="77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1805" y="2648880"/>
            <a:ext cx="2140362" cy="21431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23334" y="5373930"/>
            <a:ext cx="4430700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Enabling ML Models to Improve Through Feedback</a:t>
            </a:r>
            <a:endParaRPr lang="en-US" sz="1350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0293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94269"/>
            <a:ext cx="4467570" cy="3116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80CBCB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System Overview &amp; Architecture</a:t>
            </a:r>
            <a:endParaRPr lang="en-US" sz="2025" dirty="0">
              <a:latin typeface="Indosat Bold Bold" pitchFamily="2" charset="77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1096276"/>
            <a:ext cx="1660711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5A9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Core Components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8650" y="1468830"/>
            <a:ext cx="1426673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FFC60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Feedback Ingestion: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628650" y="1575986"/>
            <a:ext cx="3715336" cy="16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Collects analyst feedback on alert classifications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628650" y="1983180"/>
            <a:ext cx="1582164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FFC60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Accuracy Calculation: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8" name="Text 5"/>
          <p:cNvSpPr/>
          <p:nvPr/>
        </p:nvSpPr>
        <p:spPr>
          <a:xfrm>
            <a:off x="628650" y="2090336"/>
            <a:ext cx="3822213" cy="16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Compares model predictions with analyst feedback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9" name="Text 6"/>
          <p:cNvSpPr/>
          <p:nvPr/>
        </p:nvSpPr>
        <p:spPr>
          <a:xfrm>
            <a:off x="628650" y="2497530"/>
            <a:ext cx="1229504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FFC60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Model Retraining: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28650" y="2604686"/>
            <a:ext cx="3298431" cy="16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Updates ML models based on accuracy metrics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28650" y="3011880"/>
            <a:ext cx="1744067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FFC60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Performance Monitoring: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28650" y="3119036"/>
            <a:ext cx="2887247" cy="16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Tracks accuracy improvements over time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57200" y="3668026"/>
            <a:ext cx="1599797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5A9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Integration Points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28650" y="4040580"/>
            <a:ext cx="359073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FFC60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ADA: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69429" y="4040580"/>
            <a:ext cx="2555187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Shares alert data via BigQuery tables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28650" y="4340618"/>
            <a:ext cx="335028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FFC60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TAA: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939264" y="4340618"/>
            <a:ext cx="3135474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Exchanges feedback via Pub/Sub messaging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28650" y="4640655"/>
            <a:ext cx="815929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FFC60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Dashboard: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443903" y="4640655"/>
            <a:ext cx="2742739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Provides metrics via REST API endpoints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686300" y="1071563"/>
            <a:ext cx="4000500" cy="2257425"/>
          </a:xfrm>
          <a:prstGeom prst="rect">
            <a:avLst/>
          </a:prstGeom>
          <a:solidFill>
            <a:srgbClr val="0D1F2D"/>
          </a:solidFill>
          <a:ln w="198">
            <a:solidFill>
              <a:srgbClr val="80CBCB"/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800600" y="1228386"/>
            <a:ext cx="3771900" cy="19152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Indosat Bold Bold" pitchFamily="2" charset="77"/>
                <a:ea typeface="ui-monospace" pitchFamily="34" charset="-122"/>
                <a:cs typeface="ui-monospace" pitchFamily="34" charset="-120"/>
              </a:rPr>
              <a:t>┌─────────────────┐    ┌──────────────────┐    ┌─────────────────┐</a:t>
            </a:r>
            <a:endParaRPr lang="en-US" sz="732" dirty="0">
              <a:latin typeface="Indosat Bold Bold" pitchFamily="2" charset="77"/>
            </a:endParaRPr>
          </a:p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Indosat Bold Bold" pitchFamily="2" charset="77"/>
                <a:ea typeface="ui-monospace" pitchFamily="34" charset="-122"/>
                <a:cs typeface="ui-monospace" pitchFamily="34" charset="-120"/>
              </a:rPr>
              <a:t>│   Processed     │    │  CLA Service     │    │   Feedback      │</a:t>
            </a:r>
            <a:endParaRPr lang="en-US" sz="732" dirty="0">
              <a:latin typeface="Indosat Bold Bold" pitchFamily="2" charset="77"/>
            </a:endParaRPr>
          </a:p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Indosat Bold Bold" pitchFamily="2" charset="77"/>
                <a:ea typeface="ui-monospace" pitchFamily="34" charset="-122"/>
                <a:cs typeface="ui-monospace" pitchFamily="34" charset="-120"/>
              </a:rPr>
              <a:t>│   Alerts        │───▶│  (Accuracy       │───▶│   Processing    │</a:t>
            </a:r>
            <a:endParaRPr lang="en-US" sz="732" dirty="0">
              <a:latin typeface="Indosat Bold Bold" pitchFamily="2" charset="77"/>
            </a:endParaRPr>
          </a:p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Indosat Bold Bold" pitchFamily="2" charset="77"/>
                <a:ea typeface="ui-monospace" pitchFamily="34" charset="-122"/>
                <a:cs typeface="ui-monospace" pitchFamily="34" charset="-120"/>
              </a:rPr>
              <a:t>│   (BigQuery)    │    │   Calculation)   │    │   (BigQuery)    │</a:t>
            </a:r>
            <a:endParaRPr lang="en-US" sz="732" dirty="0">
              <a:latin typeface="Indosat Bold Bold" pitchFamily="2" charset="77"/>
            </a:endParaRPr>
          </a:p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Indosat Bold Bold" pitchFamily="2" charset="77"/>
                <a:ea typeface="ui-monospace" pitchFamily="34" charset="-122"/>
                <a:cs typeface="ui-monospace" pitchFamily="34" charset="-120"/>
              </a:rPr>
              <a:t>└─────────────────┘    └──────────────────┘    └─────────────────┘</a:t>
            </a:r>
            <a:endParaRPr lang="en-US" sz="732" dirty="0">
              <a:latin typeface="Indosat Bold Bold" pitchFamily="2" charset="77"/>
            </a:endParaRPr>
          </a:p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Indosat Bold Bold" pitchFamily="2" charset="77"/>
                <a:ea typeface="ui-monospace" pitchFamily="34" charset="-122"/>
                <a:cs typeface="ui-monospace" pitchFamily="34" charset="-120"/>
              </a:rPr>
              <a:t>         │                       │                       │</a:t>
            </a:r>
            <a:endParaRPr lang="en-US" sz="732" dirty="0">
              <a:latin typeface="Indosat Bold Bold" pitchFamily="2" charset="77"/>
            </a:endParaRPr>
          </a:p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Indosat Bold Bold" pitchFamily="2" charset="77"/>
                <a:ea typeface="ui-monospace" pitchFamily="34" charset="-122"/>
                <a:cs typeface="ui-monospace" pitchFamily="34" charset="-120"/>
              </a:rPr>
              <a:t>         ▼                       ▼                       ▼</a:t>
            </a:r>
            <a:endParaRPr lang="en-US" sz="732" dirty="0">
              <a:latin typeface="Indosat Bold Bold" pitchFamily="2" charset="77"/>
            </a:endParaRPr>
          </a:p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Indosat Bold Bold" pitchFamily="2" charset="77"/>
                <a:ea typeface="ui-monospace" pitchFamily="34" charset="-122"/>
                <a:cs typeface="ui-monospace" pitchFamily="34" charset="-120"/>
              </a:rPr>
              <a:t>┌─────────────────┐    ┌──────────────────┐    ┌─────────────────┐</a:t>
            </a:r>
            <a:endParaRPr lang="en-US" sz="732" dirty="0">
              <a:latin typeface="Indosat Bold Bold" pitchFamily="2" charset="77"/>
            </a:endParaRPr>
          </a:p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Indosat Bold Bold" pitchFamily="2" charset="77"/>
                <a:ea typeface="ui-monospace" pitchFamily="34" charset="-122"/>
                <a:cs typeface="ui-monospace" pitchFamily="34" charset="-120"/>
              </a:rPr>
              <a:t>│   TAA Agent     │    │  Model           │    │   Dashboard     │</a:t>
            </a:r>
            <a:endParaRPr lang="en-US" sz="732" dirty="0">
              <a:latin typeface="Indosat Bold Bold" pitchFamily="2" charset="77"/>
            </a:endParaRPr>
          </a:p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Indosat Bold Bold" pitchFamily="2" charset="77"/>
                <a:ea typeface="ui-monospace" pitchFamily="34" charset="-122"/>
                <a:cs typeface="ui-monospace" pitchFamily="34" charset="-120"/>
              </a:rPr>
              <a:t>│   (Provides     │◀───│  Retraining      │◀───│   (Displays     │</a:t>
            </a:r>
            <a:endParaRPr lang="en-US" sz="732" dirty="0">
              <a:latin typeface="Indosat Bold Bold" pitchFamily="2" charset="77"/>
            </a:endParaRPr>
          </a:p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Indosat Bold Bold" pitchFamily="2" charset="77"/>
                <a:ea typeface="ui-monospace" pitchFamily="34" charset="-122"/>
                <a:cs typeface="ui-monospace" pitchFamily="34" charset="-120"/>
              </a:rPr>
              <a:t>│    Feedback)    │    │  (Enhanced       │    │    Accuracy)    │</a:t>
            </a:r>
            <a:endParaRPr lang="en-US" sz="732" dirty="0">
              <a:latin typeface="Indosat Bold Bold" pitchFamily="2" charset="77"/>
            </a:endParaRPr>
          </a:p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Indosat Bold Bold" pitchFamily="2" charset="77"/>
                <a:ea typeface="ui-monospace" pitchFamily="34" charset="-122"/>
                <a:cs typeface="ui-monospace" pitchFamily="34" charset="-120"/>
              </a:rPr>
              <a:t>└─────────────────┘    │   Models)        │    └─────────────────┘</a:t>
            </a:r>
            <a:endParaRPr lang="en-US" sz="732" dirty="0">
              <a:latin typeface="Indosat Bold Bold" pitchFamily="2" charset="77"/>
            </a:endParaRPr>
          </a:p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Indosat Bold Bold" pitchFamily="2" charset="77"/>
                <a:ea typeface="ui-monospace" pitchFamily="34" charset="-122"/>
                <a:cs typeface="ui-monospace" pitchFamily="34" charset="-120"/>
              </a:rPr>
              <a:t>                       └──────────────────┘</a:t>
            </a:r>
            <a:endParaRPr lang="en-US" sz="732" dirty="0">
              <a:latin typeface="Indosat Bold Bold" pitchFamily="2" charset="77"/>
            </a:endParaRPr>
          </a:p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Indosat Bold Bold" pitchFamily="2" charset="77"/>
                <a:ea typeface="ui-monospace" pitchFamily="34" charset="-122"/>
                <a:cs typeface="ui-monospace" pitchFamily="34" charset="-120"/>
              </a:rPr>
              <a:t>            </a:t>
            </a:r>
            <a:endParaRPr lang="en-US" sz="732" dirty="0">
              <a:latin typeface="Indosat Bold Bold" pitchFamily="2" charset="77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686300" y="3529013"/>
            <a:ext cx="4000500" cy="2014538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9047" y="3643313"/>
            <a:ext cx="3174978" cy="17859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2722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94269"/>
            <a:ext cx="3223639" cy="3116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80CBCB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Key Features &amp; Benefits</a:t>
            </a:r>
            <a:endParaRPr lang="en-US" sz="2025" dirty="0">
              <a:latin typeface="Indosat Bold Bold" pitchFamily="2" charset="77"/>
            </a:endParaRPr>
          </a:p>
        </p:txBody>
      </p:sp>
      <p:sp>
        <p:nvSpPr>
          <p:cNvPr id="4" name="Text 1"/>
          <p:cNvSpPr/>
          <p:nvPr/>
        </p:nvSpPr>
        <p:spPr>
          <a:xfrm>
            <a:off x="600075" y="1096276"/>
            <a:ext cx="1603003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5A9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Accuracy Metrics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771525" y="1411680"/>
            <a:ext cx="1274388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FFC60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Overall Accuracy: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771525" y="1518836"/>
            <a:ext cx="3325583" cy="16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Total correct predictions / total predictions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771525" y="1897455"/>
            <a:ext cx="682879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FFC60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Precision: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8" name="Text 5"/>
          <p:cNvSpPr/>
          <p:nvPr/>
        </p:nvSpPr>
        <p:spPr>
          <a:xfrm>
            <a:off x="771525" y="1924140"/>
            <a:ext cx="3202716" cy="321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True positives / (true positives + false positives)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9" name="Text 6"/>
          <p:cNvSpPr/>
          <p:nvPr/>
        </p:nvSpPr>
        <p:spPr>
          <a:xfrm>
            <a:off x="771525" y="2383230"/>
            <a:ext cx="479298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FFC60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Recall: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71525" y="2409915"/>
            <a:ext cx="2978246" cy="321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True positives / (true positives + false negatives)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71525" y="2869005"/>
            <a:ext cx="607539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FFC60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F1 Score: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396603" y="2869005"/>
            <a:ext cx="2651367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Harmonic mean of precision and recall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00075" y="3253688"/>
            <a:ext cx="2005357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5A9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Future Enhancements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71525" y="3569093"/>
            <a:ext cx="1603003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FFC60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Automated Retraining: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410178" y="3569093"/>
            <a:ext cx="2093522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Based on accuracy thresholds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71525" y="3840555"/>
            <a:ext cx="1492396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FFC60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Multi-model Support: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71525" y="3947711"/>
            <a:ext cx="3309286" cy="16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Ensemble models and A/B testing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71525" y="4326330"/>
            <a:ext cx="1393010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FFC60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Real-time Learning: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2172426" y="4326330"/>
            <a:ext cx="1846659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Immediate model updates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71525" y="4597793"/>
            <a:ext cx="1053173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FFC60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Explainable AI: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828660" y="4597793"/>
            <a:ext cx="2322752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 Detailed reasoning for predictions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686300" y="1071563"/>
            <a:ext cx="4000500" cy="2957513"/>
          </a:xfrm>
          <a:prstGeom prst="rect">
            <a:avLst/>
          </a:prstGeom>
          <a:solidFill>
            <a:srgbClr val="0D1F2D"/>
          </a:solidFill>
          <a:ln w="99">
            <a:solidFill>
              <a:srgbClr val="0D1F2D"/>
            </a:solidFill>
            <a:prstDash val="solid"/>
          </a:ln>
        </p:spPr>
        <p:txBody>
          <a:bodyPr/>
          <a:lstStyle/>
          <a:p>
            <a:endParaRPr lang="en-US">
              <a:latin typeface="Indosat Bold Bold" pitchFamily="2" charset="77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586890" y="1210576"/>
            <a:ext cx="2199320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5A9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Performance Monitoring</a:t>
            </a:r>
            <a:endParaRPr lang="en-US" sz="1350" dirty="0">
              <a:latin typeface="Indosat Bold Bold" pitchFamily="2" charset="77"/>
            </a:endParaRPr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557338"/>
            <a:ext cx="3757613" cy="214312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466665" y="3772720"/>
            <a:ext cx="2439770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Sample visualization of accuracy metrics over time</a:t>
            </a:r>
            <a:endParaRPr lang="en-US" sz="732" dirty="0">
              <a:latin typeface="Indosat Bold Bold" pitchFamily="2" charset="77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4686300" y="4268101"/>
            <a:ext cx="1497205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5A90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Business Impact</a:t>
            </a:r>
            <a:endParaRPr lang="en-US" sz="1350" dirty="0">
              <a:latin typeface="Indosat Bold Bold" pitchFamily="2" charset="77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4857750" y="4611084"/>
            <a:ext cx="3829050" cy="321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Reduced false positives through continuous improvement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4857750" y="5070174"/>
            <a:ext cx="2644955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Enhanced threat detection capabilities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4857750" y="5341636"/>
            <a:ext cx="3079369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Improved analyst efficiency and productivity</a:t>
            </a:r>
            <a:endParaRPr lang="en-US" sz="1046" dirty="0">
              <a:latin typeface="Indosat Bold Bold" pitchFamily="2" charset="77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4857750" y="5613099"/>
            <a:ext cx="3072957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FFFFFF"/>
                </a:solidFill>
                <a:latin typeface="Indosat Bold Bold" pitchFamily="2" charset="77"/>
                <a:ea typeface="Noto Sans" pitchFamily="34" charset="-122"/>
                <a:cs typeface="Noto Sans" pitchFamily="34" charset="-120"/>
              </a:rPr>
              <a:t>Measurable ROI through adaptive AI systems</a:t>
            </a:r>
            <a:endParaRPr lang="en-US" sz="1046" dirty="0">
              <a:latin typeface="Indosat Bold Bold" pitchFamily="2" charset="7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309</Words>
  <Application>Microsoft Macintosh PowerPoint</Application>
  <PresentationFormat>On-screen Show (16:9)</PresentationFormat>
  <Paragraphs>65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Indosat Bold Bold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Raditio Ghifiardi</cp:lastModifiedBy>
  <cp:revision>2</cp:revision>
  <dcterms:created xsi:type="dcterms:W3CDTF">2025-09-28T02:55:32Z</dcterms:created>
  <dcterms:modified xsi:type="dcterms:W3CDTF">2025-09-28T02:58:02Z</dcterms:modified>
</cp:coreProperties>
</file>